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91" r:id="rId3"/>
    <p:sldId id="292" r:id="rId4"/>
    <p:sldId id="293" r:id="rId5"/>
    <p:sldId id="294" r:id="rId6"/>
    <p:sldId id="261" r:id="rId7"/>
    <p:sldId id="262" r:id="rId8"/>
    <p:sldId id="263" r:id="rId9"/>
    <p:sldId id="271" r:id="rId10"/>
    <p:sldId id="273" r:id="rId11"/>
    <p:sldId id="274" r:id="rId12"/>
    <p:sldId id="275" r:id="rId13"/>
    <p:sldId id="276" r:id="rId14"/>
    <p:sldId id="277" r:id="rId15"/>
    <p:sldId id="278" r:id="rId16"/>
    <p:sldId id="279" r:id="rId17"/>
    <p:sldId id="257" r:id="rId18"/>
    <p:sldId id="258" r:id="rId19"/>
    <p:sldId id="259" r:id="rId20"/>
    <p:sldId id="260" r:id="rId21"/>
    <p:sldId id="280" r:id="rId22"/>
    <p:sldId id="282" r:id="rId23"/>
    <p:sldId id="283" r:id="rId24"/>
    <p:sldId id="284" r:id="rId25"/>
    <p:sldId id="285" r:id="rId26"/>
    <p:sldId id="286" r:id="rId27"/>
    <p:sldId id="287" r:id="rId28"/>
    <p:sldId id="268" r:id="rId29"/>
  </p:sldIdLst>
  <p:sldSz cx="18288000" cy="10287000"/>
  <p:notesSz cx="6858000" cy="9144000"/>
  <p:embeddedFontLst>
    <p:embeddedFont>
      <p:font typeface="Open Sauce" panose="020B0604020202020204" charset="0"/>
      <p:regular r:id="rId31"/>
    </p:embeddedFont>
    <p:embeddedFont>
      <p:font typeface="Open Sauce Bold" panose="020B0604020202020204" charset="0"/>
      <p:regular r:id="rId32"/>
    </p:embeddedFont>
    <p:embeddedFont>
      <p:font typeface="Open Sauce Italics"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7652"/>
    <a:srgbClr val="91B359"/>
    <a:srgbClr val="F9FCFE"/>
    <a:srgbClr val="C6D9F1"/>
    <a:srgbClr val="A4C9C2"/>
    <a:srgbClr val="D6A3A3"/>
    <a:srgbClr val="B7DEE8"/>
    <a:srgbClr val="BFBFBF"/>
    <a:srgbClr val="80B1A9"/>
    <a:srgbClr val="D0E7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A7D463-0FD3-64D7-CE20-8465CF7EF5C7}" v="1" dt="2026-04-25T19:27:03.697"/>
    <p1510:client id="{33B01A62-3FFE-268C-B5F7-207EB9AFC2DA}" v="43" dt="2026-04-26T18:49:13.452"/>
    <p1510:client id="{679DD86F-EE9F-0B81-04DB-96CE3C0EA1DC}" v="731" dt="2026-04-27T16:03:51.310"/>
    <p1510:client id="{D6005835-933D-6F64-F419-CD4175F39026}" v="1" dt="2026-04-25T21:45:47.756"/>
    <p1510:client id="{FE3C1C9A-CA81-9D22-1428-4BFE5197B921}" v="590" dt="2026-04-25T19:21:22.6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B7CDD9-9BE8-424D-A3DE-CA51F2369107}" type="doc">
      <dgm:prSet loTypeId="urn:microsoft.com/office/officeart/2005/8/layout/process1" loCatId="process" qsTypeId="urn:microsoft.com/office/officeart/2005/8/quickstyle/simple5" qsCatId="simple" csTypeId="urn:microsoft.com/office/officeart/2005/8/colors/accent6_2" csCatId="accent6" phldr="1"/>
      <dgm:spPr/>
    </dgm:pt>
    <dgm:pt modelId="{204826D3-B9C2-4BA2-A0BE-2BA42E663211}">
      <dgm:prSet phldrT="[Text]" phldr="0"/>
      <dgm:spPr/>
      <dgm:t>
        <a:bodyPr/>
        <a:lstStyle/>
        <a:p>
          <a:pPr rtl="0"/>
          <a:r>
            <a:rPr lang="en-US">
              <a:latin typeface="Calibri"/>
            </a:rPr>
            <a:t> Java + Spring</a:t>
          </a:r>
          <a:endParaRPr lang="en-US"/>
        </a:p>
      </dgm:t>
    </dgm:pt>
    <dgm:pt modelId="{4CFCA653-FF40-4A0F-A875-0535E7F48EE3}" type="parTrans" cxnId="{9E5F404B-029A-44FB-9B7E-E394664657F8}">
      <dgm:prSet/>
      <dgm:spPr/>
    </dgm:pt>
    <dgm:pt modelId="{ED11D3BB-8C59-4FC6-A913-9AADDB7D7DA0}" type="sibTrans" cxnId="{9E5F404B-029A-44FB-9B7E-E394664657F8}">
      <dgm:prSet/>
      <dgm:spPr/>
      <dgm:t>
        <a:bodyPr/>
        <a:lstStyle/>
        <a:p>
          <a:endParaRPr lang="en-US"/>
        </a:p>
      </dgm:t>
    </dgm:pt>
    <dgm:pt modelId="{7AFC6CA6-4F5D-43DF-9DDA-19D34E868E53}">
      <dgm:prSet phldrT="[Text]" phldr="0"/>
      <dgm:spPr/>
      <dgm:t>
        <a:bodyPr/>
        <a:lstStyle/>
        <a:p>
          <a:pPr rtl="0"/>
          <a:r>
            <a:rPr lang="en-US">
              <a:latin typeface="Calibri"/>
            </a:rPr>
            <a:t> JSP Templates</a:t>
          </a:r>
          <a:endParaRPr lang="en-US"/>
        </a:p>
      </dgm:t>
    </dgm:pt>
    <dgm:pt modelId="{5550EC09-E620-41A1-A99F-1BDB72781FF5}" type="parTrans" cxnId="{4824CD47-2C01-4C34-B9E1-A4FE1F4EB9A9}">
      <dgm:prSet/>
      <dgm:spPr/>
    </dgm:pt>
    <dgm:pt modelId="{DEE7C2A7-A642-4054-AE87-C0C51329C620}" type="sibTrans" cxnId="{4824CD47-2C01-4C34-B9E1-A4FE1F4EB9A9}">
      <dgm:prSet/>
      <dgm:spPr/>
      <dgm:t>
        <a:bodyPr/>
        <a:lstStyle/>
        <a:p>
          <a:endParaRPr lang="en-US"/>
        </a:p>
      </dgm:t>
    </dgm:pt>
    <dgm:pt modelId="{2EA7A99D-7DE7-4559-884A-B2DADF1B28BB}">
      <dgm:prSet phldrT="[Text]" phldr="0"/>
      <dgm:spPr/>
      <dgm:t>
        <a:bodyPr/>
        <a:lstStyle/>
        <a:p>
          <a:pPr rtl="0"/>
          <a:r>
            <a:rPr lang="en-US">
              <a:latin typeface="Calibri"/>
            </a:rPr>
            <a:t>HTML/CSS (Browser)</a:t>
          </a:r>
          <a:endParaRPr lang="en-US"/>
        </a:p>
      </dgm:t>
    </dgm:pt>
    <dgm:pt modelId="{84C8DB9F-FAF5-4945-BCF8-666185A99204}" type="parTrans" cxnId="{E644A345-9333-42D2-BC84-F9B54AB12A55}">
      <dgm:prSet/>
      <dgm:spPr/>
    </dgm:pt>
    <dgm:pt modelId="{FABFC48F-FC7D-4D08-9ADD-2D2C4539C266}" type="sibTrans" cxnId="{E644A345-9333-42D2-BC84-F9B54AB12A55}">
      <dgm:prSet/>
      <dgm:spPr/>
    </dgm:pt>
    <dgm:pt modelId="{97D007EA-FF86-4AB1-AE6D-4637198A8DA7}" type="pres">
      <dgm:prSet presAssocID="{63B7CDD9-9BE8-424D-A3DE-CA51F2369107}" presName="Name0" presStyleCnt="0">
        <dgm:presLayoutVars>
          <dgm:dir/>
          <dgm:resizeHandles val="exact"/>
        </dgm:presLayoutVars>
      </dgm:prSet>
      <dgm:spPr/>
    </dgm:pt>
    <dgm:pt modelId="{057C2907-C580-4143-BE93-1CFD6319F587}" type="pres">
      <dgm:prSet presAssocID="{204826D3-B9C2-4BA2-A0BE-2BA42E663211}" presName="node" presStyleLbl="node1" presStyleIdx="0" presStyleCnt="3">
        <dgm:presLayoutVars>
          <dgm:bulletEnabled val="1"/>
        </dgm:presLayoutVars>
      </dgm:prSet>
      <dgm:spPr/>
    </dgm:pt>
    <dgm:pt modelId="{6F0A5DB1-78F2-422A-98E1-8D80B32F69B0}" type="pres">
      <dgm:prSet presAssocID="{ED11D3BB-8C59-4FC6-A913-9AADDB7D7DA0}" presName="sibTrans" presStyleLbl="sibTrans2D1" presStyleIdx="0" presStyleCnt="2"/>
      <dgm:spPr/>
    </dgm:pt>
    <dgm:pt modelId="{A8F8F899-0FF6-49C6-AF60-301F2D0BBC45}" type="pres">
      <dgm:prSet presAssocID="{ED11D3BB-8C59-4FC6-A913-9AADDB7D7DA0}" presName="connectorText" presStyleLbl="sibTrans2D1" presStyleIdx="0" presStyleCnt="2"/>
      <dgm:spPr/>
    </dgm:pt>
    <dgm:pt modelId="{FCC18B91-FAE4-4459-A48A-192685493672}" type="pres">
      <dgm:prSet presAssocID="{7AFC6CA6-4F5D-43DF-9DDA-19D34E868E53}" presName="node" presStyleLbl="node1" presStyleIdx="1" presStyleCnt="3">
        <dgm:presLayoutVars>
          <dgm:bulletEnabled val="1"/>
        </dgm:presLayoutVars>
      </dgm:prSet>
      <dgm:spPr/>
    </dgm:pt>
    <dgm:pt modelId="{B51B02B3-B03C-4A04-A1B8-ECD4F4DB42DF}" type="pres">
      <dgm:prSet presAssocID="{DEE7C2A7-A642-4054-AE87-C0C51329C620}" presName="sibTrans" presStyleLbl="sibTrans2D1" presStyleIdx="1" presStyleCnt="2"/>
      <dgm:spPr/>
    </dgm:pt>
    <dgm:pt modelId="{12C18096-5B64-4FC2-8469-687286E814D1}" type="pres">
      <dgm:prSet presAssocID="{DEE7C2A7-A642-4054-AE87-C0C51329C620}" presName="connectorText" presStyleLbl="sibTrans2D1" presStyleIdx="1" presStyleCnt="2"/>
      <dgm:spPr/>
    </dgm:pt>
    <dgm:pt modelId="{27C2BAA6-23B5-48F5-988B-84A8C1EE7247}" type="pres">
      <dgm:prSet presAssocID="{2EA7A99D-7DE7-4559-884A-B2DADF1B28BB}" presName="node" presStyleLbl="node1" presStyleIdx="2" presStyleCnt="3">
        <dgm:presLayoutVars>
          <dgm:bulletEnabled val="1"/>
        </dgm:presLayoutVars>
      </dgm:prSet>
      <dgm:spPr/>
    </dgm:pt>
  </dgm:ptLst>
  <dgm:cxnLst>
    <dgm:cxn modelId="{EF8A3A35-9843-4C84-9595-A766064BE0D4}" type="presOf" srcId="{ED11D3BB-8C59-4FC6-A913-9AADDB7D7DA0}" destId="{A8F8F899-0FF6-49C6-AF60-301F2D0BBC45}" srcOrd="1" destOrd="0" presId="urn:microsoft.com/office/officeart/2005/8/layout/process1"/>
    <dgm:cxn modelId="{A50CA85F-379E-4036-A56D-FC7DCA22AF21}" type="presOf" srcId="{DEE7C2A7-A642-4054-AE87-C0C51329C620}" destId="{12C18096-5B64-4FC2-8469-687286E814D1}" srcOrd="1" destOrd="0" presId="urn:microsoft.com/office/officeart/2005/8/layout/process1"/>
    <dgm:cxn modelId="{E644A345-9333-42D2-BC84-F9B54AB12A55}" srcId="{63B7CDD9-9BE8-424D-A3DE-CA51F2369107}" destId="{2EA7A99D-7DE7-4559-884A-B2DADF1B28BB}" srcOrd="2" destOrd="0" parTransId="{84C8DB9F-FAF5-4945-BCF8-666185A99204}" sibTransId="{FABFC48F-FC7D-4D08-9ADD-2D2C4539C266}"/>
    <dgm:cxn modelId="{4824CD47-2C01-4C34-B9E1-A4FE1F4EB9A9}" srcId="{63B7CDD9-9BE8-424D-A3DE-CA51F2369107}" destId="{7AFC6CA6-4F5D-43DF-9DDA-19D34E868E53}" srcOrd="1" destOrd="0" parTransId="{5550EC09-E620-41A1-A99F-1BDB72781FF5}" sibTransId="{DEE7C2A7-A642-4054-AE87-C0C51329C620}"/>
    <dgm:cxn modelId="{CBE2E768-26DD-44D5-B497-A016FFCDDC45}" type="presOf" srcId="{ED11D3BB-8C59-4FC6-A913-9AADDB7D7DA0}" destId="{6F0A5DB1-78F2-422A-98E1-8D80B32F69B0}" srcOrd="0" destOrd="0" presId="urn:microsoft.com/office/officeart/2005/8/layout/process1"/>
    <dgm:cxn modelId="{9E5F404B-029A-44FB-9B7E-E394664657F8}" srcId="{63B7CDD9-9BE8-424D-A3DE-CA51F2369107}" destId="{204826D3-B9C2-4BA2-A0BE-2BA42E663211}" srcOrd="0" destOrd="0" parTransId="{4CFCA653-FF40-4A0F-A875-0535E7F48EE3}" sibTransId="{ED11D3BB-8C59-4FC6-A913-9AADDB7D7DA0}"/>
    <dgm:cxn modelId="{5C23769A-F1FC-4074-A923-72038545B81F}" type="presOf" srcId="{204826D3-B9C2-4BA2-A0BE-2BA42E663211}" destId="{057C2907-C580-4143-BE93-1CFD6319F587}" srcOrd="0" destOrd="0" presId="urn:microsoft.com/office/officeart/2005/8/layout/process1"/>
    <dgm:cxn modelId="{2FA9F4CB-3BD4-43A6-A777-28CF462F6451}" type="presOf" srcId="{DEE7C2A7-A642-4054-AE87-C0C51329C620}" destId="{B51B02B3-B03C-4A04-A1B8-ECD4F4DB42DF}" srcOrd="0" destOrd="0" presId="urn:microsoft.com/office/officeart/2005/8/layout/process1"/>
    <dgm:cxn modelId="{02A6EBD0-FD7D-448C-A39B-E7F65C100C87}" type="presOf" srcId="{2EA7A99D-7DE7-4559-884A-B2DADF1B28BB}" destId="{27C2BAA6-23B5-48F5-988B-84A8C1EE7247}" srcOrd="0" destOrd="0" presId="urn:microsoft.com/office/officeart/2005/8/layout/process1"/>
    <dgm:cxn modelId="{834C9DD9-6D0F-4AFE-AAB1-C903A6D23EE2}" type="presOf" srcId="{7AFC6CA6-4F5D-43DF-9DDA-19D34E868E53}" destId="{FCC18B91-FAE4-4459-A48A-192685493672}" srcOrd="0" destOrd="0" presId="urn:microsoft.com/office/officeart/2005/8/layout/process1"/>
    <dgm:cxn modelId="{F83D98FE-616C-403F-B1E0-413E6FBC0422}" type="presOf" srcId="{63B7CDD9-9BE8-424D-A3DE-CA51F2369107}" destId="{97D007EA-FF86-4AB1-AE6D-4637198A8DA7}" srcOrd="0" destOrd="0" presId="urn:microsoft.com/office/officeart/2005/8/layout/process1"/>
    <dgm:cxn modelId="{8246B6C5-E296-421D-AA8F-C0A439231804}" type="presParOf" srcId="{97D007EA-FF86-4AB1-AE6D-4637198A8DA7}" destId="{057C2907-C580-4143-BE93-1CFD6319F587}" srcOrd="0" destOrd="0" presId="urn:microsoft.com/office/officeart/2005/8/layout/process1"/>
    <dgm:cxn modelId="{6F4AF0F7-4AAA-400B-9BF6-5F6CE6A1D165}" type="presParOf" srcId="{97D007EA-FF86-4AB1-AE6D-4637198A8DA7}" destId="{6F0A5DB1-78F2-422A-98E1-8D80B32F69B0}" srcOrd="1" destOrd="0" presId="urn:microsoft.com/office/officeart/2005/8/layout/process1"/>
    <dgm:cxn modelId="{5A6E2ACD-C24C-4F79-893F-3AF8712331DE}" type="presParOf" srcId="{6F0A5DB1-78F2-422A-98E1-8D80B32F69B0}" destId="{A8F8F899-0FF6-49C6-AF60-301F2D0BBC45}" srcOrd="0" destOrd="0" presId="urn:microsoft.com/office/officeart/2005/8/layout/process1"/>
    <dgm:cxn modelId="{86BA82CF-3600-467E-8560-3CC5916C744F}" type="presParOf" srcId="{97D007EA-FF86-4AB1-AE6D-4637198A8DA7}" destId="{FCC18B91-FAE4-4459-A48A-192685493672}" srcOrd="2" destOrd="0" presId="urn:microsoft.com/office/officeart/2005/8/layout/process1"/>
    <dgm:cxn modelId="{5A34C85C-6EC2-4487-AABB-C826EC1F76EF}" type="presParOf" srcId="{97D007EA-FF86-4AB1-AE6D-4637198A8DA7}" destId="{B51B02B3-B03C-4A04-A1B8-ECD4F4DB42DF}" srcOrd="3" destOrd="0" presId="urn:microsoft.com/office/officeart/2005/8/layout/process1"/>
    <dgm:cxn modelId="{234C450C-C380-48EF-AE80-4FD2F4B29DB7}" type="presParOf" srcId="{B51B02B3-B03C-4A04-A1B8-ECD4F4DB42DF}" destId="{12C18096-5B64-4FC2-8469-687286E814D1}" srcOrd="0" destOrd="0" presId="urn:microsoft.com/office/officeart/2005/8/layout/process1"/>
    <dgm:cxn modelId="{37315556-D57C-4D66-AA51-9EA73F12C3CD}" type="presParOf" srcId="{97D007EA-FF86-4AB1-AE6D-4637198A8DA7}" destId="{27C2BAA6-23B5-48F5-988B-84A8C1EE7247}" srcOrd="4"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AC9DC1-0784-4E0C-AB16-3F4CC6590722}" type="doc">
      <dgm:prSet loTypeId="urn:microsoft.com/office/officeart/2005/8/layout/process1" loCatId="process" qsTypeId="urn:microsoft.com/office/officeart/2005/8/quickstyle/simple5" qsCatId="simple" csTypeId="urn:microsoft.com/office/officeart/2005/8/colors/accent6_2" csCatId="accent6" phldr="1"/>
      <dgm:spPr/>
    </dgm:pt>
    <dgm:pt modelId="{33DBEF20-6458-48A1-B31D-B9F83019D159}">
      <dgm:prSet phldrT="[Text]" phldr="0"/>
      <dgm:spPr/>
      <dgm:t>
        <a:bodyPr/>
        <a:lstStyle/>
        <a:p>
          <a:pPr rtl="0"/>
          <a:r>
            <a:rPr lang="en-US">
              <a:latin typeface="Calibri"/>
            </a:rPr>
            <a:t>Spring Controllers </a:t>
          </a:r>
          <a:br>
            <a:rPr lang="en-US">
              <a:latin typeface="Calibri"/>
            </a:rPr>
          </a:br>
          <a:r>
            <a:rPr lang="en-US">
              <a:latin typeface="Calibri"/>
            </a:rPr>
            <a:t>(back-end rendering )</a:t>
          </a:r>
        </a:p>
      </dgm:t>
    </dgm:pt>
    <dgm:pt modelId="{42D98B84-9C17-4487-A419-17935BC8AA16}" type="parTrans" cxnId="{8BD404D6-1DC7-46B1-A26A-1FA314AE588D}">
      <dgm:prSet/>
      <dgm:spPr/>
    </dgm:pt>
    <dgm:pt modelId="{A165CD35-8B64-4035-9F65-6B2728B97E72}" type="sibTrans" cxnId="{8BD404D6-1DC7-46B1-A26A-1FA314AE588D}">
      <dgm:prSet/>
      <dgm:spPr/>
      <dgm:t>
        <a:bodyPr/>
        <a:lstStyle/>
        <a:p>
          <a:endParaRPr lang="en-US"/>
        </a:p>
      </dgm:t>
    </dgm:pt>
    <dgm:pt modelId="{D7E26304-7E78-46A7-A0D1-5B232A4E499A}">
      <dgm:prSet phldrT="[Text]" phldr="0"/>
      <dgm:spPr/>
      <dgm:t>
        <a:bodyPr/>
        <a:lstStyle/>
        <a:p>
          <a:pPr rtl="0"/>
          <a:r>
            <a:rPr lang="en-US">
              <a:latin typeface="Calibri"/>
            </a:rPr>
            <a:t> JSP/</a:t>
          </a:r>
          <a:r>
            <a:rPr lang="en-US" err="1">
              <a:latin typeface="Calibri"/>
            </a:rPr>
            <a:t>Thymeleaf</a:t>
          </a:r>
          <a:r>
            <a:rPr lang="en-US">
              <a:latin typeface="Calibri"/>
            </a:rPr>
            <a:t> Template</a:t>
          </a:r>
          <a:br>
            <a:rPr lang="en-US">
              <a:latin typeface="Calibri"/>
            </a:rPr>
          </a:br>
          <a:r>
            <a:rPr lang="en-US">
              <a:latin typeface="Calibri"/>
            </a:rPr>
            <a:t> (Server Side)</a:t>
          </a:r>
          <a:endParaRPr lang="en-US"/>
        </a:p>
      </dgm:t>
    </dgm:pt>
    <dgm:pt modelId="{F73D5160-CD07-4029-B66A-24C79180A9E1}" type="parTrans" cxnId="{77E64016-2AD2-4F8D-8C6E-94281AE1973F}">
      <dgm:prSet/>
      <dgm:spPr/>
    </dgm:pt>
    <dgm:pt modelId="{C47B800F-A436-4DC3-ABB5-F4EFC8F51516}" type="sibTrans" cxnId="{77E64016-2AD2-4F8D-8C6E-94281AE1973F}">
      <dgm:prSet/>
      <dgm:spPr/>
      <dgm:t>
        <a:bodyPr/>
        <a:lstStyle/>
        <a:p>
          <a:endParaRPr lang="en-US"/>
        </a:p>
      </dgm:t>
    </dgm:pt>
    <dgm:pt modelId="{A710A3B7-09DF-46EA-BAB9-01E2A13B9CE9}">
      <dgm:prSet phldrT="[Text]" phldr="0"/>
      <dgm:spPr/>
      <dgm:t>
        <a:bodyPr/>
        <a:lstStyle/>
        <a:p>
          <a:pPr rtl="0"/>
          <a:r>
            <a:rPr lang="en-US">
              <a:latin typeface="Calibri"/>
            </a:rPr>
            <a:t>The browser; HTML/CSS</a:t>
          </a:r>
          <a:br>
            <a:rPr lang="en-US">
              <a:solidFill>
                <a:srgbClr val="000000"/>
              </a:solidFill>
              <a:latin typeface="Calibri"/>
            </a:rPr>
          </a:br>
          <a:r>
            <a:rPr lang="en-US" sz="1100">
              <a:latin typeface="Calibri"/>
            </a:rPr>
            <a:t>(Client-side view - Gamified UI)</a:t>
          </a:r>
          <a:r>
            <a:rPr lang="en-US">
              <a:latin typeface="Calibri"/>
            </a:rPr>
            <a:t> </a:t>
          </a:r>
          <a:endParaRPr lang="en-US"/>
        </a:p>
      </dgm:t>
    </dgm:pt>
    <dgm:pt modelId="{512566E1-896C-4E95-92E7-9C8AB8DC6D4D}" type="parTrans" cxnId="{F2EB6ABF-AADE-47CE-9261-8AA4AE7A3941}">
      <dgm:prSet/>
      <dgm:spPr/>
    </dgm:pt>
    <dgm:pt modelId="{D8C076D3-2DB7-48A9-9A9C-4548296C1D2A}" type="sibTrans" cxnId="{F2EB6ABF-AADE-47CE-9261-8AA4AE7A3941}">
      <dgm:prSet/>
      <dgm:spPr/>
      <dgm:t>
        <a:bodyPr/>
        <a:lstStyle/>
        <a:p>
          <a:endParaRPr lang="en-US"/>
        </a:p>
      </dgm:t>
    </dgm:pt>
    <dgm:pt modelId="{A24130C9-4B0A-4A09-A500-4C2744B2DD90}" type="pres">
      <dgm:prSet presAssocID="{1BAC9DC1-0784-4E0C-AB16-3F4CC6590722}" presName="Name0" presStyleCnt="0">
        <dgm:presLayoutVars>
          <dgm:dir/>
          <dgm:resizeHandles val="exact"/>
        </dgm:presLayoutVars>
      </dgm:prSet>
      <dgm:spPr/>
    </dgm:pt>
    <dgm:pt modelId="{CB86FB40-8E3D-432E-BDF6-692B16EF0A56}" type="pres">
      <dgm:prSet presAssocID="{33DBEF20-6458-48A1-B31D-B9F83019D159}" presName="node" presStyleLbl="node1" presStyleIdx="0" presStyleCnt="3">
        <dgm:presLayoutVars>
          <dgm:bulletEnabled val="1"/>
        </dgm:presLayoutVars>
      </dgm:prSet>
      <dgm:spPr/>
    </dgm:pt>
    <dgm:pt modelId="{60764F58-6F10-4B50-9E94-8A4999A3057A}" type="pres">
      <dgm:prSet presAssocID="{A165CD35-8B64-4035-9F65-6B2728B97E72}" presName="sibTrans" presStyleLbl="sibTrans2D1" presStyleIdx="0" presStyleCnt="2"/>
      <dgm:spPr/>
    </dgm:pt>
    <dgm:pt modelId="{1A14F4AB-954A-44E3-84E0-F416362F64BB}" type="pres">
      <dgm:prSet presAssocID="{A165CD35-8B64-4035-9F65-6B2728B97E72}" presName="connectorText" presStyleLbl="sibTrans2D1" presStyleIdx="0" presStyleCnt="2"/>
      <dgm:spPr/>
    </dgm:pt>
    <dgm:pt modelId="{6E324ABB-96A5-4CC5-92AC-CFFE81898F0C}" type="pres">
      <dgm:prSet presAssocID="{D7E26304-7E78-46A7-A0D1-5B232A4E499A}" presName="node" presStyleLbl="node1" presStyleIdx="1" presStyleCnt="3">
        <dgm:presLayoutVars>
          <dgm:bulletEnabled val="1"/>
        </dgm:presLayoutVars>
      </dgm:prSet>
      <dgm:spPr/>
    </dgm:pt>
    <dgm:pt modelId="{FA546CDD-2D59-40F5-8B7E-AC12B0DBEECA}" type="pres">
      <dgm:prSet presAssocID="{C47B800F-A436-4DC3-ABB5-F4EFC8F51516}" presName="sibTrans" presStyleLbl="sibTrans2D1" presStyleIdx="1" presStyleCnt="2"/>
      <dgm:spPr/>
    </dgm:pt>
    <dgm:pt modelId="{3226BEE1-2DF7-490F-848C-1A61EFF7BDEB}" type="pres">
      <dgm:prSet presAssocID="{C47B800F-A436-4DC3-ABB5-F4EFC8F51516}" presName="connectorText" presStyleLbl="sibTrans2D1" presStyleIdx="1" presStyleCnt="2"/>
      <dgm:spPr/>
    </dgm:pt>
    <dgm:pt modelId="{2D7958D1-1777-48DA-80F5-9914F11E0ADF}" type="pres">
      <dgm:prSet presAssocID="{A710A3B7-09DF-46EA-BAB9-01E2A13B9CE9}" presName="node" presStyleLbl="node1" presStyleIdx="2" presStyleCnt="3">
        <dgm:presLayoutVars>
          <dgm:bulletEnabled val="1"/>
        </dgm:presLayoutVars>
      </dgm:prSet>
      <dgm:spPr/>
    </dgm:pt>
  </dgm:ptLst>
  <dgm:cxnLst>
    <dgm:cxn modelId="{77E64016-2AD2-4F8D-8C6E-94281AE1973F}" srcId="{1BAC9DC1-0784-4E0C-AB16-3F4CC6590722}" destId="{D7E26304-7E78-46A7-A0D1-5B232A4E499A}" srcOrd="1" destOrd="0" parTransId="{F73D5160-CD07-4029-B66A-24C79180A9E1}" sibTransId="{C47B800F-A436-4DC3-ABB5-F4EFC8F51516}"/>
    <dgm:cxn modelId="{2EE1496C-FE19-4DDA-9C98-5116840B434F}" type="presOf" srcId="{D7E26304-7E78-46A7-A0D1-5B232A4E499A}" destId="{6E324ABB-96A5-4CC5-92AC-CFFE81898F0C}" srcOrd="0" destOrd="0" presId="urn:microsoft.com/office/officeart/2005/8/layout/process1"/>
    <dgm:cxn modelId="{81058D4D-D355-46AC-8C16-7B0F0DE51737}" type="presOf" srcId="{C47B800F-A436-4DC3-ABB5-F4EFC8F51516}" destId="{3226BEE1-2DF7-490F-848C-1A61EFF7BDEB}" srcOrd="1" destOrd="0" presId="urn:microsoft.com/office/officeart/2005/8/layout/process1"/>
    <dgm:cxn modelId="{1E70F35A-7DE1-4A4F-83F2-3F134AE46E5F}" type="presOf" srcId="{1BAC9DC1-0784-4E0C-AB16-3F4CC6590722}" destId="{A24130C9-4B0A-4A09-A500-4C2744B2DD90}" srcOrd="0" destOrd="0" presId="urn:microsoft.com/office/officeart/2005/8/layout/process1"/>
    <dgm:cxn modelId="{E1652780-BBBD-493F-8BF0-F017F21C9C7B}" type="presOf" srcId="{A165CD35-8B64-4035-9F65-6B2728B97E72}" destId="{1A14F4AB-954A-44E3-84E0-F416362F64BB}" srcOrd="1" destOrd="0" presId="urn:microsoft.com/office/officeart/2005/8/layout/process1"/>
    <dgm:cxn modelId="{E7587CB0-CC2D-4BBB-95D9-2AD589F4F887}" type="presOf" srcId="{33DBEF20-6458-48A1-B31D-B9F83019D159}" destId="{CB86FB40-8E3D-432E-BDF6-692B16EF0A56}" srcOrd="0" destOrd="0" presId="urn:microsoft.com/office/officeart/2005/8/layout/process1"/>
    <dgm:cxn modelId="{15878EB7-B037-4216-A3F2-0418901032E1}" type="presOf" srcId="{A710A3B7-09DF-46EA-BAB9-01E2A13B9CE9}" destId="{2D7958D1-1777-48DA-80F5-9914F11E0ADF}" srcOrd="0" destOrd="0" presId="urn:microsoft.com/office/officeart/2005/8/layout/process1"/>
    <dgm:cxn modelId="{F2EB6ABF-AADE-47CE-9261-8AA4AE7A3941}" srcId="{1BAC9DC1-0784-4E0C-AB16-3F4CC6590722}" destId="{A710A3B7-09DF-46EA-BAB9-01E2A13B9CE9}" srcOrd="2" destOrd="0" parTransId="{512566E1-896C-4E95-92E7-9C8AB8DC6D4D}" sibTransId="{D8C076D3-2DB7-48A9-9A9C-4548296C1D2A}"/>
    <dgm:cxn modelId="{8BD404D6-1DC7-46B1-A26A-1FA314AE588D}" srcId="{1BAC9DC1-0784-4E0C-AB16-3F4CC6590722}" destId="{33DBEF20-6458-48A1-B31D-B9F83019D159}" srcOrd="0" destOrd="0" parTransId="{42D98B84-9C17-4487-A419-17935BC8AA16}" sibTransId="{A165CD35-8B64-4035-9F65-6B2728B97E72}"/>
    <dgm:cxn modelId="{5312FEE7-A1E8-4B12-BA3F-0B4977ABC8A3}" type="presOf" srcId="{C47B800F-A436-4DC3-ABB5-F4EFC8F51516}" destId="{FA546CDD-2D59-40F5-8B7E-AC12B0DBEECA}" srcOrd="0" destOrd="0" presId="urn:microsoft.com/office/officeart/2005/8/layout/process1"/>
    <dgm:cxn modelId="{DB666EFF-C67D-4F50-8F22-50BDC65F8D73}" type="presOf" srcId="{A165CD35-8B64-4035-9F65-6B2728B97E72}" destId="{60764F58-6F10-4B50-9E94-8A4999A3057A}" srcOrd="0" destOrd="0" presId="urn:microsoft.com/office/officeart/2005/8/layout/process1"/>
    <dgm:cxn modelId="{12C8AF65-81C0-40FB-BCB8-8A7FBA715106}" type="presParOf" srcId="{A24130C9-4B0A-4A09-A500-4C2744B2DD90}" destId="{CB86FB40-8E3D-432E-BDF6-692B16EF0A56}" srcOrd="0" destOrd="0" presId="urn:microsoft.com/office/officeart/2005/8/layout/process1"/>
    <dgm:cxn modelId="{3259E087-0E75-4A22-B301-9F9A2C9976A5}" type="presParOf" srcId="{A24130C9-4B0A-4A09-A500-4C2744B2DD90}" destId="{60764F58-6F10-4B50-9E94-8A4999A3057A}" srcOrd="1" destOrd="0" presId="urn:microsoft.com/office/officeart/2005/8/layout/process1"/>
    <dgm:cxn modelId="{0A270A88-7A1C-4B5A-AD96-E2E774927C38}" type="presParOf" srcId="{60764F58-6F10-4B50-9E94-8A4999A3057A}" destId="{1A14F4AB-954A-44E3-84E0-F416362F64BB}" srcOrd="0" destOrd="0" presId="urn:microsoft.com/office/officeart/2005/8/layout/process1"/>
    <dgm:cxn modelId="{2DC7AE96-2AF8-4CB7-9F85-B1B34A3BF9E3}" type="presParOf" srcId="{A24130C9-4B0A-4A09-A500-4C2744B2DD90}" destId="{6E324ABB-96A5-4CC5-92AC-CFFE81898F0C}" srcOrd="2" destOrd="0" presId="urn:microsoft.com/office/officeart/2005/8/layout/process1"/>
    <dgm:cxn modelId="{B19DB736-78F7-44AF-8629-0A5C3C03E62B}" type="presParOf" srcId="{A24130C9-4B0A-4A09-A500-4C2744B2DD90}" destId="{FA546CDD-2D59-40F5-8B7E-AC12B0DBEECA}" srcOrd="3" destOrd="0" presId="urn:microsoft.com/office/officeart/2005/8/layout/process1"/>
    <dgm:cxn modelId="{4E9D5D7A-C32F-4AEA-B720-334EA845A2A9}" type="presParOf" srcId="{FA546CDD-2D59-40F5-8B7E-AC12B0DBEECA}" destId="{3226BEE1-2DF7-490F-848C-1A61EFF7BDEB}" srcOrd="0" destOrd="0" presId="urn:microsoft.com/office/officeart/2005/8/layout/process1"/>
    <dgm:cxn modelId="{797548B9-A338-4B4B-AF56-8C10413D775E}" type="presParOf" srcId="{A24130C9-4B0A-4A09-A500-4C2744B2DD90}" destId="{2D7958D1-1777-48DA-80F5-9914F11E0ADF}"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C2907-C580-4143-BE93-1CFD6319F587}">
      <dsp:nvSpPr>
        <dsp:cNvPr id="0" name=""/>
        <dsp:cNvSpPr/>
      </dsp:nvSpPr>
      <dsp:spPr>
        <a:xfrm>
          <a:off x="12627" y="0"/>
          <a:ext cx="3774277" cy="616903"/>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a:latin typeface="Calibri"/>
            </a:rPr>
            <a:t> Java + Spring</a:t>
          </a:r>
          <a:endParaRPr lang="en-US" sz="2600" kern="1200"/>
        </a:p>
      </dsp:txBody>
      <dsp:txXfrm>
        <a:off x="30695" y="18068"/>
        <a:ext cx="3738141" cy="580767"/>
      </dsp:txXfrm>
    </dsp:sp>
    <dsp:sp modelId="{6F0A5DB1-78F2-422A-98E1-8D80B32F69B0}">
      <dsp:nvSpPr>
        <dsp:cNvPr id="0" name=""/>
        <dsp:cNvSpPr/>
      </dsp:nvSpPr>
      <dsp:spPr>
        <a:xfrm>
          <a:off x="4164332" y="0"/>
          <a:ext cx="800146" cy="616903"/>
        </a:xfrm>
        <a:prstGeom prst="rightArrow">
          <a:avLst>
            <a:gd name="adj1" fmla="val 60000"/>
            <a:gd name="adj2" fmla="val 50000"/>
          </a:avLst>
        </a:prstGeom>
        <a:gradFill rotWithShape="0">
          <a:gsLst>
            <a:gs pos="0">
              <a:schemeClr val="accent6">
                <a:tint val="60000"/>
                <a:hueOff val="0"/>
                <a:satOff val="0"/>
                <a:lumOff val="0"/>
                <a:alphaOff val="0"/>
                <a:shade val="51000"/>
                <a:satMod val="130000"/>
              </a:schemeClr>
            </a:gs>
            <a:gs pos="80000">
              <a:schemeClr val="accent6">
                <a:tint val="60000"/>
                <a:hueOff val="0"/>
                <a:satOff val="0"/>
                <a:lumOff val="0"/>
                <a:alphaOff val="0"/>
                <a:shade val="93000"/>
                <a:satMod val="130000"/>
              </a:schemeClr>
            </a:gs>
            <a:gs pos="100000">
              <a:schemeClr val="accent6">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164332" y="123381"/>
        <a:ext cx="615075" cy="370141"/>
      </dsp:txXfrm>
    </dsp:sp>
    <dsp:sp modelId="{FCC18B91-FAE4-4459-A48A-192685493672}">
      <dsp:nvSpPr>
        <dsp:cNvPr id="0" name=""/>
        <dsp:cNvSpPr/>
      </dsp:nvSpPr>
      <dsp:spPr>
        <a:xfrm>
          <a:off x="5296616" y="0"/>
          <a:ext cx="3774277" cy="616903"/>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a:latin typeface="Calibri"/>
            </a:rPr>
            <a:t> JSP Templates</a:t>
          </a:r>
          <a:endParaRPr lang="en-US" sz="2600" kern="1200"/>
        </a:p>
      </dsp:txBody>
      <dsp:txXfrm>
        <a:off x="5314684" y="18068"/>
        <a:ext cx="3738141" cy="580767"/>
      </dsp:txXfrm>
    </dsp:sp>
    <dsp:sp modelId="{B51B02B3-B03C-4A04-A1B8-ECD4F4DB42DF}">
      <dsp:nvSpPr>
        <dsp:cNvPr id="0" name=""/>
        <dsp:cNvSpPr/>
      </dsp:nvSpPr>
      <dsp:spPr>
        <a:xfrm>
          <a:off x="9448321" y="0"/>
          <a:ext cx="800146" cy="616903"/>
        </a:xfrm>
        <a:prstGeom prst="rightArrow">
          <a:avLst>
            <a:gd name="adj1" fmla="val 60000"/>
            <a:gd name="adj2" fmla="val 50000"/>
          </a:avLst>
        </a:prstGeom>
        <a:gradFill rotWithShape="0">
          <a:gsLst>
            <a:gs pos="0">
              <a:schemeClr val="accent6">
                <a:tint val="60000"/>
                <a:hueOff val="0"/>
                <a:satOff val="0"/>
                <a:lumOff val="0"/>
                <a:alphaOff val="0"/>
                <a:shade val="51000"/>
                <a:satMod val="130000"/>
              </a:schemeClr>
            </a:gs>
            <a:gs pos="80000">
              <a:schemeClr val="accent6">
                <a:tint val="60000"/>
                <a:hueOff val="0"/>
                <a:satOff val="0"/>
                <a:lumOff val="0"/>
                <a:alphaOff val="0"/>
                <a:shade val="93000"/>
                <a:satMod val="130000"/>
              </a:schemeClr>
            </a:gs>
            <a:gs pos="100000">
              <a:schemeClr val="accent6">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9448321" y="123381"/>
        <a:ext cx="615075" cy="370141"/>
      </dsp:txXfrm>
    </dsp:sp>
    <dsp:sp modelId="{27C2BAA6-23B5-48F5-988B-84A8C1EE7247}">
      <dsp:nvSpPr>
        <dsp:cNvPr id="0" name=""/>
        <dsp:cNvSpPr/>
      </dsp:nvSpPr>
      <dsp:spPr>
        <a:xfrm>
          <a:off x="10580604" y="0"/>
          <a:ext cx="3774277" cy="616903"/>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kern="1200">
              <a:latin typeface="Calibri"/>
            </a:rPr>
            <a:t>HTML/CSS (Browser)</a:t>
          </a:r>
          <a:endParaRPr lang="en-US" sz="2600" kern="1200"/>
        </a:p>
      </dsp:txBody>
      <dsp:txXfrm>
        <a:off x="10598672" y="18068"/>
        <a:ext cx="3738141" cy="5807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FB40-8E3D-432E-BDF6-692B16EF0A56}">
      <dsp:nvSpPr>
        <dsp:cNvPr id="0" name=""/>
        <dsp:cNvSpPr/>
      </dsp:nvSpPr>
      <dsp:spPr>
        <a:xfrm>
          <a:off x="15144" y="0"/>
          <a:ext cx="4526430" cy="1468438"/>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kern="1200">
              <a:latin typeface="Calibri"/>
            </a:rPr>
            <a:t>Spring Controllers </a:t>
          </a:r>
          <a:br>
            <a:rPr lang="en-US" sz="2700" kern="1200">
              <a:latin typeface="Calibri"/>
            </a:rPr>
          </a:br>
          <a:r>
            <a:rPr lang="en-US" sz="2700" kern="1200">
              <a:latin typeface="Calibri"/>
            </a:rPr>
            <a:t>(back-end rendering )</a:t>
          </a:r>
        </a:p>
      </dsp:txBody>
      <dsp:txXfrm>
        <a:off x="58153" y="43009"/>
        <a:ext cx="4440412" cy="1382420"/>
      </dsp:txXfrm>
    </dsp:sp>
    <dsp:sp modelId="{60764F58-6F10-4B50-9E94-8A4999A3057A}">
      <dsp:nvSpPr>
        <dsp:cNvPr id="0" name=""/>
        <dsp:cNvSpPr/>
      </dsp:nvSpPr>
      <dsp:spPr>
        <a:xfrm>
          <a:off x="4994217" y="172941"/>
          <a:ext cx="959603" cy="1122554"/>
        </a:xfrm>
        <a:prstGeom prst="rightArrow">
          <a:avLst>
            <a:gd name="adj1" fmla="val 60000"/>
            <a:gd name="adj2" fmla="val 50000"/>
          </a:avLst>
        </a:prstGeom>
        <a:gradFill rotWithShape="0">
          <a:gsLst>
            <a:gs pos="0">
              <a:schemeClr val="accent6">
                <a:tint val="60000"/>
                <a:hueOff val="0"/>
                <a:satOff val="0"/>
                <a:lumOff val="0"/>
                <a:alphaOff val="0"/>
                <a:shade val="51000"/>
                <a:satMod val="130000"/>
              </a:schemeClr>
            </a:gs>
            <a:gs pos="80000">
              <a:schemeClr val="accent6">
                <a:tint val="60000"/>
                <a:hueOff val="0"/>
                <a:satOff val="0"/>
                <a:lumOff val="0"/>
                <a:alphaOff val="0"/>
                <a:shade val="93000"/>
                <a:satMod val="130000"/>
              </a:schemeClr>
            </a:gs>
            <a:gs pos="100000">
              <a:schemeClr val="accent6">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994217" y="397452"/>
        <a:ext cx="671722" cy="673532"/>
      </dsp:txXfrm>
    </dsp:sp>
    <dsp:sp modelId="{6E324ABB-96A5-4CC5-92AC-CFFE81898F0C}">
      <dsp:nvSpPr>
        <dsp:cNvPr id="0" name=""/>
        <dsp:cNvSpPr/>
      </dsp:nvSpPr>
      <dsp:spPr>
        <a:xfrm>
          <a:off x="6352147" y="0"/>
          <a:ext cx="4526430" cy="1468438"/>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kern="1200">
              <a:latin typeface="Calibri"/>
            </a:rPr>
            <a:t> JSP/</a:t>
          </a:r>
          <a:r>
            <a:rPr lang="en-US" sz="2700" kern="1200" err="1">
              <a:latin typeface="Calibri"/>
            </a:rPr>
            <a:t>Thymeleaf</a:t>
          </a:r>
          <a:r>
            <a:rPr lang="en-US" sz="2700" kern="1200">
              <a:latin typeface="Calibri"/>
            </a:rPr>
            <a:t> Template</a:t>
          </a:r>
          <a:br>
            <a:rPr lang="en-US" sz="2700" kern="1200">
              <a:latin typeface="Calibri"/>
            </a:rPr>
          </a:br>
          <a:r>
            <a:rPr lang="en-US" sz="2700" kern="1200">
              <a:latin typeface="Calibri"/>
            </a:rPr>
            <a:t> (Server Side)</a:t>
          </a:r>
          <a:endParaRPr lang="en-US" sz="2700" kern="1200"/>
        </a:p>
      </dsp:txBody>
      <dsp:txXfrm>
        <a:off x="6395156" y="43009"/>
        <a:ext cx="4440412" cy="1382420"/>
      </dsp:txXfrm>
    </dsp:sp>
    <dsp:sp modelId="{FA546CDD-2D59-40F5-8B7E-AC12B0DBEECA}">
      <dsp:nvSpPr>
        <dsp:cNvPr id="0" name=""/>
        <dsp:cNvSpPr/>
      </dsp:nvSpPr>
      <dsp:spPr>
        <a:xfrm>
          <a:off x="11331220" y="172941"/>
          <a:ext cx="959603" cy="1122554"/>
        </a:xfrm>
        <a:prstGeom prst="rightArrow">
          <a:avLst>
            <a:gd name="adj1" fmla="val 60000"/>
            <a:gd name="adj2" fmla="val 50000"/>
          </a:avLst>
        </a:prstGeom>
        <a:gradFill rotWithShape="0">
          <a:gsLst>
            <a:gs pos="0">
              <a:schemeClr val="accent6">
                <a:tint val="60000"/>
                <a:hueOff val="0"/>
                <a:satOff val="0"/>
                <a:lumOff val="0"/>
                <a:alphaOff val="0"/>
                <a:shade val="51000"/>
                <a:satMod val="130000"/>
              </a:schemeClr>
            </a:gs>
            <a:gs pos="80000">
              <a:schemeClr val="accent6">
                <a:tint val="60000"/>
                <a:hueOff val="0"/>
                <a:satOff val="0"/>
                <a:lumOff val="0"/>
                <a:alphaOff val="0"/>
                <a:shade val="93000"/>
                <a:satMod val="130000"/>
              </a:schemeClr>
            </a:gs>
            <a:gs pos="100000">
              <a:schemeClr val="accent6">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11331220" y="397452"/>
        <a:ext cx="671722" cy="673532"/>
      </dsp:txXfrm>
    </dsp:sp>
    <dsp:sp modelId="{2D7958D1-1777-48DA-80F5-9914F11E0ADF}">
      <dsp:nvSpPr>
        <dsp:cNvPr id="0" name=""/>
        <dsp:cNvSpPr/>
      </dsp:nvSpPr>
      <dsp:spPr>
        <a:xfrm>
          <a:off x="12689150" y="0"/>
          <a:ext cx="4526430" cy="1468438"/>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kern="1200">
              <a:latin typeface="Calibri"/>
            </a:rPr>
            <a:t>The browser; HTML/CSS</a:t>
          </a:r>
          <a:br>
            <a:rPr lang="en-US" sz="2700" kern="1200">
              <a:solidFill>
                <a:srgbClr val="000000"/>
              </a:solidFill>
              <a:latin typeface="Calibri"/>
            </a:rPr>
          </a:br>
          <a:r>
            <a:rPr lang="en-US" sz="2700" kern="1200">
              <a:latin typeface="Calibri"/>
            </a:rPr>
            <a:t>(Client-side view - Gamified UI) </a:t>
          </a:r>
          <a:endParaRPr lang="en-US" sz="2700" kern="1200"/>
        </a:p>
      </dsp:txBody>
      <dsp:txXfrm>
        <a:off x="12732159" y="43009"/>
        <a:ext cx="4440412" cy="138242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E251D9-5F39-4B49-8946-F946A44D010C}" type="datetimeFigureOut">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B8A0C-A8FD-4AD0-8718-68429408CD92}" type="slidenum">
              <a:t>‹#›</a:t>
            </a:fld>
            <a:endParaRPr lang="en-US"/>
          </a:p>
        </p:txBody>
      </p:sp>
    </p:spTree>
    <p:extLst>
      <p:ext uri="{BB962C8B-B14F-4D97-AF65-F5344CB8AC3E}">
        <p14:creationId xmlns:p14="http://schemas.microsoft.com/office/powerpoint/2010/main" val="781602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Goals, methods and Achievements, make up the main components of a development project. </a:t>
            </a:r>
            <a:endParaRPr lang="en-US"/>
          </a:p>
          <a:p>
            <a:r>
              <a:rPr lang="en-US">
                <a:ea typeface="Calibri"/>
                <a:cs typeface="Calibri"/>
              </a:rPr>
              <a:t>But What is the purpose of this project and was it achieved? Before starting we have personal expectations that are often overly optimistic. </a:t>
            </a:r>
          </a:p>
          <a:p>
            <a:r>
              <a:rPr lang="en-US">
                <a:ea typeface="Calibri"/>
                <a:cs typeface="Calibri"/>
              </a:rPr>
              <a:t>When a negative Reality strikes these expectations fade away and a clear direction must be adopted. </a:t>
            </a:r>
            <a:r>
              <a:rPr lang="en-US" err="1">
                <a:ea typeface="Calibri"/>
                <a:cs typeface="Calibri"/>
              </a:rPr>
              <a:t>Prioritising</a:t>
            </a:r>
            <a:r>
              <a:rPr lang="en-US">
                <a:ea typeface="Calibri"/>
                <a:cs typeface="Calibri"/>
              </a:rPr>
              <a:t> teamwork goes without  saying in a group setting, but when considering multiple priorities between multiple people how do we maintain an ordered approach, react to challenges appropriately and adapt as a unit, not just as individuals.</a:t>
            </a:r>
            <a:endParaRPr lang="en-US"/>
          </a:p>
        </p:txBody>
      </p:sp>
      <p:sp>
        <p:nvSpPr>
          <p:cNvPr id="4" name="Slide Number Placeholder 3"/>
          <p:cNvSpPr>
            <a:spLocks noGrp="1"/>
          </p:cNvSpPr>
          <p:nvPr>
            <p:ph type="sldNum" sz="quarter" idx="5"/>
          </p:nvPr>
        </p:nvSpPr>
        <p:spPr/>
        <p:txBody>
          <a:bodyPr/>
          <a:lstStyle/>
          <a:p>
            <a:fld id="{6ECB8A0C-A8FD-4AD0-8718-68429408CD92}" type="slidenum">
              <a:t>6</a:t>
            </a:fld>
            <a:endParaRPr lang="en-US"/>
          </a:p>
        </p:txBody>
      </p:sp>
    </p:spTree>
    <p:extLst>
      <p:ext uri="{BB962C8B-B14F-4D97-AF65-F5344CB8AC3E}">
        <p14:creationId xmlns:p14="http://schemas.microsoft.com/office/powerpoint/2010/main" val="2205289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Accountability starts with each person owning their piece of the project. We embedded this into our SCRUM process, reviewing user stories and updating the issue board at every sprint kept progress visible and </a:t>
            </a:r>
            <a:r>
              <a:rPr lang="en-US" err="1"/>
              <a:t>honest.Testing</a:t>
            </a:r>
            <a:r>
              <a:rPr lang="en-US"/>
              <a:t> our Definition of Done gave the team a shared standard, which made feedback productive rather than personal. That culture of continuous improvement carried through the whole project.</a:t>
            </a:r>
          </a:p>
        </p:txBody>
      </p:sp>
      <p:sp>
        <p:nvSpPr>
          <p:cNvPr id="4" name="Slide Number Placeholder 3"/>
          <p:cNvSpPr>
            <a:spLocks noGrp="1"/>
          </p:cNvSpPr>
          <p:nvPr>
            <p:ph type="sldNum" sz="quarter" idx="5"/>
          </p:nvPr>
        </p:nvSpPr>
        <p:spPr/>
        <p:txBody>
          <a:bodyPr/>
          <a:lstStyle/>
          <a:p>
            <a:fld id="{6ECB8A0C-A8FD-4AD0-8718-68429408CD92}" type="slidenum">
              <a:t>7</a:t>
            </a:fld>
            <a:endParaRPr lang="en-US"/>
          </a:p>
        </p:txBody>
      </p:sp>
    </p:spTree>
    <p:extLst>
      <p:ext uri="{BB962C8B-B14F-4D97-AF65-F5344CB8AC3E}">
        <p14:creationId xmlns:p14="http://schemas.microsoft.com/office/powerpoint/2010/main" val="2313142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Feedback is important but it needs to come from somewhere. If formatted correctly and focused on Action, impact and </a:t>
            </a:r>
            <a:r>
              <a:rPr lang="en-US" err="1">
                <a:ea typeface="Calibri"/>
                <a:cs typeface="Calibri"/>
              </a:rPr>
              <a:t>imporvement</a:t>
            </a:r>
            <a:r>
              <a:rPr lang="en-US">
                <a:ea typeface="Calibri"/>
                <a:cs typeface="Calibri"/>
              </a:rPr>
              <a:t> it can be extremely beneficial to team members and address issues directly and quickly to prevent future mistakes</a:t>
            </a:r>
          </a:p>
          <a:p>
            <a:r>
              <a:rPr lang="en-US">
                <a:ea typeface="Calibri"/>
                <a:cs typeface="Calibri"/>
              </a:rPr>
              <a:t>Everyone should feel engaged and included at this stage </a:t>
            </a:r>
          </a:p>
          <a:p>
            <a:r>
              <a:rPr lang="en-US">
                <a:ea typeface="Calibri"/>
                <a:cs typeface="Calibri"/>
              </a:rPr>
              <a:t>PERFORMANCE – clarifies expectations and goals </a:t>
            </a:r>
            <a:r>
              <a:rPr lang="en-US" err="1">
                <a:ea typeface="Calibri"/>
                <a:cs typeface="Calibri"/>
              </a:rPr>
              <a:t>heklps</a:t>
            </a:r>
            <a:r>
              <a:rPr lang="en-US">
                <a:ea typeface="Calibri"/>
                <a:cs typeface="Calibri"/>
              </a:rPr>
              <a:t> </a:t>
            </a:r>
            <a:r>
              <a:rPr lang="en-US" err="1">
                <a:ea typeface="Calibri"/>
                <a:cs typeface="Calibri"/>
              </a:rPr>
              <a:t>indentify</a:t>
            </a:r>
            <a:r>
              <a:rPr lang="en-US">
                <a:ea typeface="Calibri"/>
                <a:cs typeface="Calibri"/>
              </a:rPr>
              <a:t> actional </a:t>
            </a:r>
            <a:r>
              <a:rPr lang="en-US" err="1">
                <a:ea typeface="Calibri"/>
                <a:cs typeface="Calibri"/>
              </a:rPr>
              <a:t>stepss</a:t>
            </a:r>
            <a:r>
              <a:rPr lang="en-US">
                <a:ea typeface="Calibri"/>
                <a:cs typeface="Calibri"/>
              </a:rPr>
              <a:t> </a:t>
            </a:r>
          </a:p>
          <a:p>
            <a:r>
              <a:rPr lang="en-US">
                <a:ea typeface="Calibri"/>
                <a:cs typeface="Calibri"/>
              </a:rPr>
              <a:t>DEVELOPMENT – Insight into better approaches from new </a:t>
            </a:r>
            <a:r>
              <a:rPr lang="en-US" err="1">
                <a:ea typeface="Calibri"/>
                <a:cs typeface="Calibri"/>
              </a:rPr>
              <a:t>perpectives</a:t>
            </a:r>
            <a:r>
              <a:rPr lang="en-US">
                <a:ea typeface="Calibri"/>
                <a:cs typeface="Calibri"/>
              </a:rPr>
              <a:t> </a:t>
            </a:r>
          </a:p>
          <a:p>
            <a:r>
              <a:rPr lang="en-US">
                <a:ea typeface="Calibri"/>
                <a:cs typeface="Calibri"/>
              </a:rPr>
              <a:t>RELATIONSHIPS – focusing on growrth rather than who did it promotes open communication, </a:t>
            </a:r>
            <a:r>
              <a:rPr lang="en-US" err="1">
                <a:ea typeface="Calibri"/>
                <a:cs typeface="Calibri"/>
              </a:rPr>
              <a:t>collaboratiuon</a:t>
            </a:r>
            <a:r>
              <a:rPr lang="en-US">
                <a:ea typeface="Calibri"/>
                <a:cs typeface="Calibri"/>
              </a:rPr>
              <a:t> and mutual respect</a:t>
            </a:r>
          </a:p>
          <a:p>
            <a:r>
              <a:rPr lang="en-US">
                <a:ea typeface="Calibri"/>
                <a:cs typeface="Calibri"/>
              </a:rPr>
              <a:t>MOTIVATION – encourages and supports peers,  making </a:t>
            </a:r>
            <a:r>
              <a:rPr lang="en-US" err="1">
                <a:ea typeface="Calibri"/>
                <a:cs typeface="Calibri"/>
              </a:rPr>
              <a:t>their</a:t>
            </a:r>
            <a:r>
              <a:rPr lang="en-US">
                <a:ea typeface="Calibri"/>
                <a:cs typeface="Calibri"/>
              </a:rPr>
              <a:t> work feel valuable and increases engagement with tasks</a:t>
            </a:r>
          </a:p>
        </p:txBody>
      </p:sp>
      <p:sp>
        <p:nvSpPr>
          <p:cNvPr id="4" name="Slide Number Placeholder 3"/>
          <p:cNvSpPr>
            <a:spLocks noGrp="1"/>
          </p:cNvSpPr>
          <p:nvPr>
            <p:ph type="sldNum" sz="quarter" idx="5"/>
          </p:nvPr>
        </p:nvSpPr>
        <p:spPr/>
        <p:txBody>
          <a:bodyPr/>
          <a:lstStyle/>
          <a:p>
            <a:fld id="{6ECB8A0C-A8FD-4AD0-8718-68429408CD92}" type="slidenum">
              <a:t>8</a:t>
            </a:fld>
            <a:endParaRPr lang="en-US"/>
          </a:p>
        </p:txBody>
      </p:sp>
    </p:spTree>
    <p:extLst>
      <p:ext uri="{BB962C8B-B14F-4D97-AF65-F5344CB8AC3E}">
        <p14:creationId xmlns:p14="http://schemas.microsoft.com/office/powerpoint/2010/main" val="4107758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6ECB8A0C-A8FD-4AD0-8718-68429408CD92}" type="slidenum">
              <a:rPr lang="en-US"/>
              <a:t>13</a:t>
            </a:fld>
            <a:endParaRPr lang="en-US"/>
          </a:p>
        </p:txBody>
      </p:sp>
    </p:spTree>
    <p:extLst>
      <p:ext uri="{BB962C8B-B14F-4D97-AF65-F5344CB8AC3E}">
        <p14:creationId xmlns:p14="http://schemas.microsoft.com/office/powerpoint/2010/main" val="563785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264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7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elblogdepicodev.blogspot.com/2012/11/como-crear-y-usar-sprites-en-paginas.html" TargetMode="External"/><Relationship Id="rId13" Type="http://schemas.openxmlformats.org/officeDocument/2006/relationships/diagramData" Target="../diagrams/data1.xml"/><Relationship Id="rId3" Type="http://schemas.openxmlformats.org/officeDocument/2006/relationships/hyperlink" Target="https://blog.mossroy.fr/2019/09/14/bascule-sur-spring-boot-dune-application-java-legacy/" TargetMode="External"/><Relationship Id="rId7" Type="http://schemas.openxmlformats.org/officeDocument/2006/relationships/image" Target="../media/image36.png"/><Relationship Id="rId12" Type="http://schemas.openxmlformats.org/officeDocument/2006/relationships/hyperlink" Target="https://puntodeencuentroeconomia.blogspot.com/2020/09/herramientas-tics-necesarias-para.html" TargetMode="External"/><Relationship Id="rId17" Type="http://schemas.microsoft.com/office/2007/relationships/diagramDrawing" Target="../diagrams/drawing1.xml"/><Relationship Id="rId2" Type="http://schemas.openxmlformats.org/officeDocument/2006/relationships/image" Target="../media/image33.png"/><Relationship Id="rId16" Type="http://schemas.openxmlformats.org/officeDocument/2006/relationships/diagramColors" Target="../diagrams/colors1.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38.png"/><Relationship Id="rId5" Type="http://schemas.openxmlformats.org/officeDocument/2006/relationships/hyperlink" Target="https://editorconfig.org/" TargetMode="External"/><Relationship Id="rId15" Type="http://schemas.openxmlformats.org/officeDocument/2006/relationships/diagramQuickStyle" Target="../diagrams/quickStyle1.xml"/><Relationship Id="rId10" Type="http://schemas.openxmlformats.org/officeDocument/2006/relationships/hyperlink" Target="https://cases.tistory.com/entry/Spring-Thymeleaf" TargetMode="External"/><Relationship Id="rId4" Type="http://schemas.openxmlformats.org/officeDocument/2006/relationships/image" Target="../media/image34.png"/><Relationship Id="rId9" Type="http://schemas.openxmlformats.org/officeDocument/2006/relationships/image" Target="../media/image37.png"/><Relationship Id="rId1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www.pngall.com/database-png" TargetMode="External"/><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hyperlink" Target="https://newtfire.org/courses/tutorials/projectInit.html" TargetMode="External"/><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diagramLayout" Target="../diagrams/layout2.xml"/><Relationship Id="rId7" Type="http://schemas.openxmlformats.org/officeDocument/2006/relationships/image" Target="../media/image42.svg"/><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23.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svg"/><Relationship Id="rId1" Type="http://schemas.openxmlformats.org/officeDocument/2006/relationships/slideLayout" Target="../slideLayouts/slideLayout7.xml"/><Relationship Id="rId4" Type="http://schemas.openxmlformats.org/officeDocument/2006/relationships/image" Target="../media/image67.svg"/></Relationships>
</file>

<file path=ppt/slides/_rels/slide24.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70.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71.svg"/><Relationship Id="rId1" Type="http://schemas.openxmlformats.org/officeDocument/2006/relationships/slideLayout" Target="../slideLayouts/slideLayout7.xml"/><Relationship Id="rId4" Type="http://schemas.openxmlformats.org/officeDocument/2006/relationships/image" Target="../media/image67.svg"/></Relationships>
</file>

<file path=ppt/slides/_rels/slide27.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image" Target="../media/image43.svg"/><Relationship Id="rId1" Type="http://schemas.openxmlformats.org/officeDocument/2006/relationships/slideLayout" Target="../slideLayouts/slideLayout7.xml"/><Relationship Id="rId4" Type="http://schemas.openxmlformats.org/officeDocument/2006/relationships/image" Target="../media/image73.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33450" y="2696608"/>
            <a:ext cx="10910528" cy="3386490"/>
          </a:xfrm>
          <a:prstGeom prst="rect">
            <a:avLst/>
          </a:prstGeom>
        </p:spPr>
        <p:txBody>
          <a:bodyPr lIns="0" tIns="0" rIns="0" bIns="0" rtlCol="0" anchor="t">
            <a:spAutoFit/>
          </a:bodyPr>
          <a:lstStyle/>
          <a:p>
            <a:pPr algn="l">
              <a:lnSpc>
                <a:spcPts val="13040"/>
              </a:lnSpc>
            </a:pPr>
            <a:r>
              <a:rPr lang="en-US" sz="13040" spc="-782">
                <a:solidFill>
                  <a:srgbClr val="331B0D"/>
                </a:solidFill>
                <a:latin typeface="Open Sauce"/>
                <a:ea typeface="Open Sauce"/>
                <a:cs typeface="Open Sauce"/>
                <a:sym typeface="Open Sauce"/>
              </a:rPr>
              <a:t>Final Project</a:t>
            </a:r>
          </a:p>
          <a:p>
            <a:pPr algn="l">
              <a:lnSpc>
                <a:spcPts val="13040"/>
              </a:lnSpc>
            </a:pPr>
            <a:r>
              <a:rPr lang="en-US" sz="13040" spc="-782">
                <a:solidFill>
                  <a:srgbClr val="331B0D"/>
                </a:solidFill>
                <a:latin typeface="Open Sauce"/>
                <a:ea typeface="Open Sauce"/>
                <a:cs typeface="Open Sauce"/>
                <a:sym typeface="Open Sauce"/>
              </a:rPr>
              <a:t>Presentation</a:t>
            </a:r>
          </a:p>
        </p:txBody>
      </p:sp>
      <p:sp>
        <p:nvSpPr>
          <p:cNvPr id="3" name="TextBox 3"/>
          <p:cNvSpPr txBox="1"/>
          <p:nvPr/>
        </p:nvSpPr>
        <p:spPr>
          <a:xfrm>
            <a:off x="12698616" y="7369021"/>
            <a:ext cx="4560684" cy="327660"/>
          </a:xfrm>
          <a:prstGeom prst="rect">
            <a:avLst/>
          </a:prstGeom>
        </p:spPr>
        <p:txBody>
          <a:bodyPr lIns="0" tIns="0" rIns="0" bIns="0" rtlCol="0" anchor="t">
            <a:spAutoFit/>
          </a:bodyPr>
          <a:lstStyle/>
          <a:p>
            <a:pPr algn="r">
              <a:lnSpc>
                <a:spcPts val="2400"/>
              </a:lnSpc>
              <a:spcBef>
                <a:spcPct val="0"/>
              </a:spcBef>
            </a:pPr>
            <a:r>
              <a:rPr lang="en-US" sz="2400" b="1" spc="240">
                <a:solidFill>
                  <a:srgbClr val="8C7753"/>
                </a:solidFill>
                <a:latin typeface="Open Sauce Bold"/>
                <a:ea typeface="Open Sauce Bold"/>
                <a:cs typeface="Open Sauce Bold"/>
                <a:sym typeface="Open Sauce Bold"/>
              </a:rPr>
              <a:t>GROUP 05</a:t>
            </a:r>
          </a:p>
        </p:txBody>
      </p:sp>
      <p:sp>
        <p:nvSpPr>
          <p:cNvPr id="4" name="TextBox 4"/>
          <p:cNvSpPr txBox="1"/>
          <p:nvPr/>
        </p:nvSpPr>
        <p:spPr>
          <a:xfrm>
            <a:off x="12698616" y="7778115"/>
            <a:ext cx="4560684" cy="2200282"/>
          </a:xfrm>
          <a:prstGeom prst="rect">
            <a:avLst/>
          </a:prstGeom>
        </p:spPr>
        <p:txBody>
          <a:bodyPr lIns="0" tIns="0" rIns="0" bIns="0" rtlCol="0" anchor="t">
            <a:spAutoFit/>
          </a:bodyPr>
          <a:lstStyle/>
          <a:p>
            <a:pPr algn="r">
              <a:lnSpc>
                <a:spcPts val="2940"/>
              </a:lnSpc>
            </a:pPr>
            <a:r>
              <a:rPr lang="en-US" sz="2100">
                <a:solidFill>
                  <a:srgbClr val="331B0D"/>
                </a:solidFill>
                <a:latin typeface="Open Sauce"/>
                <a:ea typeface="Open Sauce"/>
                <a:cs typeface="Open Sauce"/>
                <a:sym typeface="Open Sauce"/>
              </a:rPr>
              <a:t>Destiny-Alliah Colombo</a:t>
            </a:r>
          </a:p>
          <a:p>
            <a:pPr algn="r">
              <a:lnSpc>
                <a:spcPts val="2940"/>
              </a:lnSpc>
            </a:pPr>
            <a:r>
              <a:rPr lang="en-US" sz="2100">
                <a:solidFill>
                  <a:srgbClr val="331B0D"/>
                </a:solidFill>
                <a:latin typeface="Open Sauce"/>
                <a:ea typeface="Open Sauce"/>
                <a:cs typeface="Open Sauce"/>
                <a:sym typeface="Open Sauce"/>
              </a:rPr>
              <a:t>Ousman Ndoye</a:t>
            </a:r>
            <a:endParaRPr lang="en-US" sz="2100">
              <a:solidFill>
                <a:srgbClr val="331B0D"/>
              </a:solidFill>
              <a:latin typeface="Open Sauce"/>
              <a:ea typeface="Open Sauce"/>
              <a:cs typeface="Open Sauce"/>
            </a:endParaRPr>
          </a:p>
          <a:p>
            <a:pPr algn="r">
              <a:lnSpc>
                <a:spcPts val="2940"/>
              </a:lnSpc>
            </a:pPr>
            <a:r>
              <a:rPr lang="en-US" sz="2100">
                <a:solidFill>
                  <a:srgbClr val="331B0D"/>
                </a:solidFill>
                <a:latin typeface="Open Sauce"/>
                <a:ea typeface="Open Sauce"/>
                <a:cs typeface="Open Sauce"/>
                <a:sym typeface="Open Sauce"/>
              </a:rPr>
              <a:t>Precious </a:t>
            </a:r>
            <a:r>
              <a:rPr lang="en-US" sz="2100" err="1">
                <a:solidFill>
                  <a:srgbClr val="331B0D"/>
                </a:solidFill>
                <a:latin typeface="Open Sauce"/>
                <a:ea typeface="Open Sauce"/>
                <a:cs typeface="Open Sauce"/>
                <a:sym typeface="Open Sauce"/>
              </a:rPr>
              <a:t>Aghamelu</a:t>
            </a:r>
            <a:endParaRPr lang="en-US" sz="2100">
              <a:solidFill>
                <a:srgbClr val="331B0D"/>
              </a:solidFill>
              <a:latin typeface="Open Sauce"/>
              <a:ea typeface="Open Sauce"/>
              <a:cs typeface="Open Sauce"/>
              <a:sym typeface="Open Sauce"/>
            </a:endParaRPr>
          </a:p>
          <a:p>
            <a:pPr algn="r">
              <a:lnSpc>
                <a:spcPts val="2940"/>
              </a:lnSpc>
            </a:pPr>
            <a:r>
              <a:rPr lang="en-US" sz="2100">
                <a:solidFill>
                  <a:srgbClr val="331B0D"/>
                </a:solidFill>
                <a:latin typeface="Open Sauce"/>
                <a:ea typeface="Open Sauce"/>
                <a:cs typeface="Open Sauce"/>
                <a:sym typeface="Open Sauce"/>
              </a:rPr>
              <a:t>Laide Olubunmi</a:t>
            </a:r>
          </a:p>
          <a:p>
            <a:pPr algn="r">
              <a:lnSpc>
                <a:spcPts val="2940"/>
              </a:lnSpc>
            </a:pPr>
            <a:r>
              <a:rPr lang="en-US" sz="2100">
                <a:solidFill>
                  <a:srgbClr val="331B0D"/>
                </a:solidFill>
                <a:latin typeface="Open Sauce"/>
                <a:ea typeface="Open Sauce"/>
                <a:cs typeface="Open Sauce"/>
                <a:sym typeface="Open Sauce"/>
              </a:rPr>
              <a:t>Raenah Swaby</a:t>
            </a:r>
            <a:endParaRPr lang="en-US" sz="2100">
              <a:solidFill>
                <a:srgbClr val="331B0D"/>
              </a:solidFill>
              <a:latin typeface="Open Sauce"/>
              <a:ea typeface="Open Sauce"/>
              <a:cs typeface="Open Sauce"/>
            </a:endParaRPr>
          </a:p>
          <a:p>
            <a:pPr algn="r">
              <a:lnSpc>
                <a:spcPts val="2940"/>
              </a:lnSpc>
            </a:pPr>
            <a:r>
              <a:rPr lang="en-US" sz="2100">
                <a:solidFill>
                  <a:srgbClr val="331B0D"/>
                </a:solidFill>
                <a:latin typeface="Open Sauce"/>
                <a:ea typeface="Open Sauce"/>
                <a:cs typeface="Open Sauce"/>
                <a:sym typeface="Open Sauce"/>
              </a:rPr>
              <a:t>Deborah Adekola</a:t>
            </a:r>
            <a:endParaRPr lang="en-US" sz="2100">
              <a:solidFill>
                <a:srgbClr val="331B0D"/>
              </a:solidFill>
              <a:latin typeface="Open Sauce"/>
              <a:ea typeface="Open Sauce"/>
              <a:cs typeface="Open Sauce"/>
            </a:endParaRPr>
          </a:p>
        </p:txBody>
      </p:sp>
      <p:sp>
        <p:nvSpPr>
          <p:cNvPr id="5" name="TextBox 5"/>
          <p:cNvSpPr txBox="1"/>
          <p:nvPr/>
        </p:nvSpPr>
        <p:spPr>
          <a:xfrm>
            <a:off x="1028700" y="1057275"/>
            <a:ext cx="4560684" cy="474345"/>
          </a:xfrm>
          <a:prstGeom prst="rect">
            <a:avLst/>
          </a:prstGeom>
        </p:spPr>
        <p:txBody>
          <a:bodyPr lIns="0" tIns="0" rIns="0" bIns="0" rtlCol="0" anchor="t">
            <a:spAutoFit/>
          </a:bodyPr>
          <a:lstStyle/>
          <a:p>
            <a:pPr algn="just">
              <a:lnSpc>
                <a:spcPts val="1800"/>
              </a:lnSpc>
              <a:spcBef>
                <a:spcPct val="0"/>
              </a:spcBef>
            </a:pPr>
            <a:r>
              <a:rPr lang="en-US" sz="1800" b="1" spc="179">
                <a:solidFill>
                  <a:srgbClr val="8C7753"/>
                </a:solidFill>
                <a:latin typeface="Open Sauce Bold"/>
                <a:ea typeface="Open Sauce Bold"/>
                <a:cs typeface="Open Sauce Bold"/>
                <a:sym typeface="Open Sauce Bold"/>
              </a:rPr>
              <a:t>SOFTWARE ENGINEERING GROUP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sp>
        <p:nvSpPr>
          <p:cNvPr id="2" name="Freeform 2"/>
          <p:cNvSpPr/>
          <p:nvPr/>
        </p:nvSpPr>
        <p:spPr>
          <a:xfrm>
            <a:off x="14353905" y="2172306"/>
            <a:ext cx="1481502" cy="1481502"/>
          </a:xfrm>
          <a:custGeom>
            <a:avLst/>
            <a:gdLst/>
            <a:ahLst/>
            <a:cxnLst/>
            <a:rect l="l" t="t" r="r" b="b"/>
            <a:pathLst>
              <a:path w="1481502" h="1481502">
                <a:moveTo>
                  <a:pt x="0" y="0"/>
                </a:moveTo>
                <a:lnTo>
                  <a:pt x="1481502" y="0"/>
                </a:lnTo>
                <a:lnTo>
                  <a:pt x="1481502" y="1481502"/>
                </a:lnTo>
                <a:lnTo>
                  <a:pt x="0" y="148150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1037887" y="7874527"/>
            <a:ext cx="523799" cy="663842"/>
          </a:xfrm>
          <a:custGeom>
            <a:avLst/>
            <a:gdLst/>
            <a:ahLst/>
            <a:cxnLst/>
            <a:rect l="l" t="t" r="r" b="b"/>
            <a:pathLst>
              <a:path w="523799" h="663842">
                <a:moveTo>
                  <a:pt x="0" y="0"/>
                </a:moveTo>
                <a:lnTo>
                  <a:pt x="523799" y="0"/>
                </a:lnTo>
                <a:lnTo>
                  <a:pt x="523799" y="663842"/>
                </a:lnTo>
                <a:lnTo>
                  <a:pt x="0" y="663842"/>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42797" y="9022715"/>
            <a:ext cx="16595773" cy="1049060"/>
            <a:chOff x="0" y="0"/>
            <a:chExt cx="4370903" cy="276296"/>
          </a:xfrm>
        </p:grpSpPr>
        <p:sp>
          <p:nvSpPr>
            <p:cNvPr id="5" name="Freeform 5"/>
            <p:cNvSpPr/>
            <p:nvPr/>
          </p:nvSpPr>
          <p:spPr>
            <a:xfrm>
              <a:off x="0" y="0"/>
              <a:ext cx="4370903" cy="276296"/>
            </a:xfrm>
            <a:custGeom>
              <a:avLst/>
              <a:gdLst/>
              <a:ahLst/>
              <a:cxnLst/>
              <a:rect l="l" t="t" r="r" b="b"/>
              <a:pathLst>
                <a:path w="4370903" h="276296">
                  <a:moveTo>
                    <a:pt x="23791" y="0"/>
                  </a:moveTo>
                  <a:lnTo>
                    <a:pt x="4347112" y="0"/>
                  </a:lnTo>
                  <a:cubicBezTo>
                    <a:pt x="4353422" y="0"/>
                    <a:pt x="4359473" y="2507"/>
                    <a:pt x="4363935" y="6968"/>
                  </a:cubicBezTo>
                  <a:cubicBezTo>
                    <a:pt x="4368397" y="11430"/>
                    <a:pt x="4370903" y="17482"/>
                    <a:pt x="4370903" y="23791"/>
                  </a:cubicBezTo>
                  <a:lnTo>
                    <a:pt x="4370903" y="252504"/>
                  </a:lnTo>
                  <a:cubicBezTo>
                    <a:pt x="4370903" y="265644"/>
                    <a:pt x="4360252" y="276296"/>
                    <a:pt x="4347112" y="276296"/>
                  </a:cubicBezTo>
                  <a:lnTo>
                    <a:pt x="23791" y="276296"/>
                  </a:lnTo>
                  <a:cubicBezTo>
                    <a:pt x="10652" y="276296"/>
                    <a:pt x="0" y="265644"/>
                    <a:pt x="0" y="252504"/>
                  </a:cubicBezTo>
                  <a:lnTo>
                    <a:pt x="0" y="23791"/>
                  </a:lnTo>
                  <a:cubicBezTo>
                    <a:pt x="0" y="10652"/>
                    <a:pt x="10652" y="0"/>
                    <a:pt x="23791" y="0"/>
                  </a:cubicBezTo>
                  <a:close/>
                </a:path>
              </a:pathLst>
            </a:custGeom>
            <a:solidFill>
              <a:srgbClr val="FAF7F0"/>
            </a:solidFill>
            <a:ln w="19050" cap="rnd">
              <a:solidFill>
                <a:srgbClr val="000000"/>
              </a:solidFill>
              <a:prstDash val="solid"/>
              <a:round/>
            </a:ln>
          </p:spPr>
        </p:sp>
        <p:sp>
          <p:nvSpPr>
            <p:cNvPr id="6" name="TextBox 6"/>
            <p:cNvSpPr txBox="1"/>
            <p:nvPr/>
          </p:nvSpPr>
          <p:spPr>
            <a:xfrm>
              <a:off x="0" y="-47625"/>
              <a:ext cx="4370903" cy="323921"/>
            </a:xfrm>
            <a:prstGeom prst="rect">
              <a:avLst/>
            </a:prstGeom>
          </p:spPr>
          <p:txBody>
            <a:bodyPr lIns="50800" tIns="50800" rIns="50800" bIns="50800" rtlCol="0" anchor="ctr"/>
            <a:lstStyle/>
            <a:p>
              <a:pPr algn="ctr">
                <a:lnSpc>
                  <a:spcPts val="3359"/>
                </a:lnSpc>
              </a:pPr>
              <a:endParaRPr/>
            </a:p>
          </p:txBody>
        </p:sp>
      </p:grpSp>
      <p:sp>
        <p:nvSpPr>
          <p:cNvPr id="7" name="Freeform 7"/>
          <p:cNvSpPr/>
          <p:nvPr/>
        </p:nvSpPr>
        <p:spPr>
          <a:xfrm>
            <a:off x="660611" y="9258300"/>
            <a:ext cx="736179" cy="602328"/>
          </a:xfrm>
          <a:custGeom>
            <a:avLst/>
            <a:gdLst/>
            <a:ahLst/>
            <a:cxnLst/>
            <a:rect l="l" t="t" r="r" b="b"/>
            <a:pathLst>
              <a:path w="736179" h="602328">
                <a:moveTo>
                  <a:pt x="0" y="0"/>
                </a:moveTo>
                <a:lnTo>
                  <a:pt x="736178" y="0"/>
                </a:lnTo>
                <a:lnTo>
                  <a:pt x="736178" y="602328"/>
                </a:lnTo>
                <a:lnTo>
                  <a:pt x="0" y="60232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2406067" y="2510496"/>
            <a:ext cx="919580" cy="1123931"/>
          </a:xfrm>
          <a:custGeom>
            <a:avLst/>
            <a:gdLst/>
            <a:ahLst/>
            <a:cxnLst/>
            <a:rect l="l" t="t" r="r" b="b"/>
            <a:pathLst>
              <a:path w="919580" h="1123931">
                <a:moveTo>
                  <a:pt x="0" y="0"/>
                </a:moveTo>
                <a:lnTo>
                  <a:pt x="919579" y="0"/>
                </a:lnTo>
                <a:lnTo>
                  <a:pt x="919579" y="1123930"/>
                </a:lnTo>
                <a:lnTo>
                  <a:pt x="0" y="112393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7730723" y="2409889"/>
            <a:ext cx="2021399" cy="1176447"/>
          </a:xfrm>
          <a:custGeom>
            <a:avLst/>
            <a:gdLst/>
            <a:ahLst/>
            <a:cxnLst/>
            <a:rect l="l" t="t" r="r" b="b"/>
            <a:pathLst>
              <a:path w="2021399" h="1176447">
                <a:moveTo>
                  <a:pt x="0" y="0"/>
                </a:moveTo>
                <a:lnTo>
                  <a:pt x="2021399" y="0"/>
                </a:lnTo>
                <a:lnTo>
                  <a:pt x="2021399" y="1176446"/>
                </a:lnTo>
                <a:lnTo>
                  <a:pt x="0" y="117644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a:off x="12698616" y="4428172"/>
            <a:ext cx="403137" cy="604157"/>
          </a:xfrm>
          <a:custGeom>
            <a:avLst/>
            <a:gdLst/>
            <a:ahLst/>
            <a:cxnLst/>
            <a:rect l="l" t="t" r="r" b="b"/>
            <a:pathLst>
              <a:path w="403137" h="604157">
                <a:moveTo>
                  <a:pt x="0" y="0"/>
                </a:moveTo>
                <a:lnTo>
                  <a:pt x="403137" y="0"/>
                </a:lnTo>
                <a:lnTo>
                  <a:pt x="403137" y="604158"/>
                </a:lnTo>
                <a:lnTo>
                  <a:pt x="0" y="60415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1" name="Freeform 11"/>
          <p:cNvSpPr/>
          <p:nvPr/>
        </p:nvSpPr>
        <p:spPr>
          <a:xfrm>
            <a:off x="12657198" y="5456261"/>
            <a:ext cx="481829" cy="561453"/>
          </a:xfrm>
          <a:custGeom>
            <a:avLst/>
            <a:gdLst/>
            <a:ahLst/>
            <a:cxnLst/>
            <a:rect l="l" t="t" r="r" b="b"/>
            <a:pathLst>
              <a:path w="481829" h="561453">
                <a:moveTo>
                  <a:pt x="0" y="0"/>
                </a:moveTo>
                <a:lnTo>
                  <a:pt x="481828" y="0"/>
                </a:lnTo>
                <a:lnTo>
                  <a:pt x="481828" y="561453"/>
                </a:lnTo>
                <a:lnTo>
                  <a:pt x="0" y="5614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2" name="Freeform 12"/>
          <p:cNvSpPr/>
          <p:nvPr/>
        </p:nvSpPr>
        <p:spPr>
          <a:xfrm>
            <a:off x="12657198" y="6259649"/>
            <a:ext cx="605167" cy="609600"/>
          </a:xfrm>
          <a:custGeom>
            <a:avLst/>
            <a:gdLst/>
            <a:ahLst/>
            <a:cxnLst/>
            <a:rect l="l" t="t" r="r" b="b"/>
            <a:pathLst>
              <a:path w="605167" h="609600">
                <a:moveTo>
                  <a:pt x="0" y="0"/>
                </a:moveTo>
                <a:lnTo>
                  <a:pt x="605166" y="0"/>
                </a:lnTo>
                <a:lnTo>
                  <a:pt x="605166" y="609600"/>
                </a:lnTo>
                <a:lnTo>
                  <a:pt x="0" y="609600"/>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3" name="Freeform 13"/>
          <p:cNvSpPr/>
          <p:nvPr/>
        </p:nvSpPr>
        <p:spPr>
          <a:xfrm>
            <a:off x="12698616" y="7069274"/>
            <a:ext cx="440411" cy="596615"/>
          </a:xfrm>
          <a:custGeom>
            <a:avLst/>
            <a:gdLst/>
            <a:ahLst/>
            <a:cxnLst/>
            <a:rect l="l" t="t" r="r" b="b"/>
            <a:pathLst>
              <a:path w="440411" h="596615">
                <a:moveTo>
                  <a:pt x="0" y="0"/>
                </a:moveTo>
                <a:lnTo>
                  <a:pt x="440410" y="0"/>
                </a:lnTo>
                <a:lnTo>
                  <a:pt x="440410" y="596615"/>
                </a:lnTo>
                <a:lnTo>
                  <a:pt x="0" y="596615"/>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4" name="AutoShape 14"/>
          <p:cNvSpPr/>
          <p:nvPr/>
        </p:nvSpPr>
        <p:spPr>
          <a:xfrm>
            <a:off x="12648408" y="5351201"/>
            <a:ext cx="6492240" cy="0"/>
          </a:xfrm>
          <a:prstGeom prst="line">
            <a:avLst/>
          </a:prstGeom>
          <a:ln w="38100" cap="flat">
            <a:solidFill>
              <a:srgbClr val="8C7753"/>
            </a:solidFill>
            <a:prstDash val="solid"/>
            <a:headEnd type="none" w="sm" len="sm"/>
            <a:tailEnd type="none" w="sm" len="sm"/>
          </a:ln>
        </p:spPr>
      </p:sp>
      <p:sp>
        <p:nvSpPr>
          <p:cNvPr id="15" name="AutoShape 15"/>
          <p:cNvSpPr/>
          <p:nvPr/>
        </p:nvSpPr>
        <p:spPr>
          <a:xfrm>
            <a:off x="12589287" y="6092190"/>
            <a:ext cx="6492240" cy="0"/>
          </a:xfrm>
          <a:prstGeom prst="line">
            <a:avLst/>
          </a:prstGeom>
          <a:ln w="38100" cap="flat">
            <a:solidFill>
              <a:srgbClr val="8C7753"/>
            </a:solidFill>
            <a:prstDash val="solid"/>
            <a:headEnd type="none" w="sm" len="sm"/>
            <a:tailEnd type="none" w="sm" len="sm"/>
          </a:ln>
        </p:spPr>
      </p:sp>
      <p:sp>
        <p:nvSpPr>
          <p:cNvPr id="16" name="AutoShape 16"/>
          <p:cNvSpPr/>
          <p:nvPr/>
        </p:nvSpPr>
        <p:spPr>
          <a:xfrm>
            <a:off x="12589287" y="6993074"/>
            <a:ext cx="6492240" cy="0"/>
          </a:xfrm>
          <a:prstGeom prst="line">
            <a:avLst/>
          </a:prstGeom>
          <a:ln w="38100" cap="flat">
            <a:solidFill>
              <a:srgbClr val="8C7753"/>
            </a:solidFill>
            <a:prstDash val="solid"/>
            <a:headEnd type="none" w="sm" len="sm"/>
            <a:tailEnd type="none" w="sm" len="sm"/>
          </a:ln>
        </p:spPr>
      </p:sp>
      <p:sp>
        <p:nvSpPr>
          <p:cNvPr id="17" name="Freeform 17"/>
          <p:cNvSpPr/>
          <p:nvPr/>
        </p:nvSpPr>
        <p:spPr>
          <a:xfrm>
            <a:off x="6505480" y="7874527"/>
            <a:ext cx="677042" cy="677042"/>
          </a:xfrm>
          <a:custGeom>
            <a:avLst/>
            <a:gdLst/>
            <a:ahLst/>
            <a:cxnLst/>
            <a:rect l="l" t="t" r="r" b="b"/>
            <a:pathLst>
              <a:path w="677042" h="677042">
                <a:moveTo>
                  <a:pt x="0" y="0"/>
                </a:moveTo>
                <a:lnTo>
                  <a:pt x="677042" y="0"/>
                </a:lnTo>
                <a:lnTo>
                  <a:pt x="677042" y="677042"/>
                </a:lnTo>
                <a:lnTo>
                  <a:pt x="0" y="677042"/>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8" name="Freeform 18"/>
          <p:cNvSpPr/>
          <p:nvPr/>
        </p:nvSpPr>
        <p:spPr>
          <a:xfrm>
            <a:off x="7822922" y="7944511"/>
            <a:ext cx="825591" cy="523875"/>
          </a:xfrm>
          <a:custGeom>
            <a:avLst/>
            <a:gdLst/>
            <a:ahLst/>
            <a:cxnLst/>
            <a:rect l="l" t="t" r="r" b="b"/>
            <a:pathLst>
              <a:path w="825591" h="523875">
                <a:moveTo>
                  <a:pt x="0" y="0"/>
                </a:moveTo>
                <a:lnTo>
                  <a:pt x="825591" y="0"/>
                </a:lnTo>
                <a:lnTo>
                  <a:pt x="825591" y="523875"/>
                </a:lnTo>
                <a:lnTo>
                  <a:pt x="0" y="523875"/>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19" name="Freeform 19"/>
          <p:cNvSpPr/>
          <p:nvPr/>
        </p:nvSpPr>
        <p:spPr>
          <a:xfrm>
            <a:off x="9344211" y="7735823"/>
            <a:ext cx="941251" cy="941251"/>
          </a:xfrm>
          <a:custGeom>
            <a:avLst/>
            <a:gdLst/>
            <a:ahLst/>
            <a:cxnLst/>
            <a:rect l="l" t="t" r="r" b="b"/>
            <a:pathLst>
              <a:path w="941251" h="941251">
                <a:moveTo>
                  <a:pt x="0" y="0"/>
                </a:moveTo>
                <a:lnTo>
                  <a:pt x="941251" y="0"/>
                </a:lnTo>
                <a:lnTo>
                  <a:pt x="941251" y="941251"/>
                </a:lnTo>
                <a:lnTo>
                  <a:pt x="0" y="941251"/>
                </a:lnTo>
                <a:lnTo>
                  <a:pt x="0" y="0"/>
                </a:lnTo>
                <a:close/>
              </a:path>
            </a:pathLst>
          </a:custGeom>
          <a:blipFill>
            <a:blip>
              <a:extLst>
                <a:ext uri="{96DAC541-7B7A-43D3-8B79-37D633B846F1}">
                  <asvg:svgBlip xmlns:asvg="http://schemas.microsoft.com/office/drawing/2016/SVG/main" r:embed="rId13"/>
                </a:ext>
              </a:extLst>
            </a:blip>
            <a:stretch>
              <a:fillRect/>
            </a:stretch>
          </a:blipFill>
        </p:spPr>
      </p:sp>
      <p:sp>
        <p:nvSpPr>
          <p:cNvPr id="20" name="TextBox 20"/>
          <p:cNvSpPr txBox="1"/>
          <p:nvPr/>
        </p:nvSpPr>
        <p:spPr>
          <a:xfrm>
            <a:off x="6844001" y="4380547"/>
            <a:ext cx="4862598" cy="2572179"/>
          </a:xfrm>
          <a:prstGeom prst="rect">
            <a:avLst/>
          </a:prstGeom>
        </p:spPr>
        <p:txBody>
          <a:bodyPr lIns="0" tIns="0" rIns="0" bIns="0" rtlCol="0" anchor="t">
            <a:spAutoFit/>
          </a:bodyPr>
          <a:lstStyle/>
          <a:p>
            <a:pPr>
              <a:lnSpc>
                <a:spcPts val="2940"/>
              </a:lnSpc>
              <a:spcBef>
                <a:spcPct val="0"/>
              </a:spcBef>
            </a:pPr>
            <a:r>
              <a:rPr lang="en-US" sz="2100">
                <a:solidFill>
                  <a:srgbClr val="331B0D"/>
                </a:solidFill>
                <a:latin typeface="Open Sauce"/>
                <a:ea typeface="Open Sauce"/>
                <a:cs typeface="Open Sauce"/>
                <a:sym typeface="Open Sauce"/>
              </a:rPr>
              <a:t> Personal data is collected during </a:t>
            </a:r>
            <a:r>
              <a:rPr lang="en-US" sz="2100" b="1">
                <a:solidFill>
                  <a:srgbClr val="331B0D"/>
                </a:solidFill>
                <a:latin typeface="Open Sauce Bold"/>
                <a:ea typeface="Open Sauce Bold"/>
                <a:cs typeface="Open Sauce Bold"/>
                <a:sym typeface="Open Sauce Bold"/>
              </a:rPr>
              <a:t>user registration</a:t>
            </a:r>
            <a:r>
              <a:rPr lang="en-US" sz="2100">
                <a:solidFill>
                  <a:srgbClr val="331B0D"/>
                </a:solidFill>
                <a:latin typeface="Open Sauce"/>
                <a:ea typeface="Open Sauce"/>
                <a:cs typeface="Open Sauce"/>
                <a:sym typeface="Open Sauce"/>
              </a:rPr>
              <a:t>, transmitted through API requests and </a:t>
            </a:r>
            <a:r>
              <a:rPr lang="en-US" sz="2100" b="1">
                <a:solidFill>
                  <a:srgbClr val="331B0D"/>
                </a:solidFill>
                <a:latin typeface="Open Sauce Bold"/>
                <a:ea typeface="Open Sauce Bold"/>
                <a:cs typeface="Open Sauce Bold"/>
                <a:sym typeface="Open Sauce Bold"/>
              </a:rPr>
              <a:t>stored within our backend database. </a:t>
            </a:r>
            <a:r>
              <a:rPr lang="en-US" sz="2100">
                <a:solidFill>
                  <a:srgbClr val="331B0D"/>
                </a:solidFill>
                <a:latin typeface="Open Sauce"/>
                <a:ea typeface="Open Sauce"/>
                <a:cs typeface="Open Sauce"/>
                <a:sym typeface="Open Sauce"/>
              </a:rPr>
              <a:t>This means personal data exists across multiple stages of the system lifecycle.</a:t>
            </a:r>
            <a:endParaRPr lang="en-US" sz="2100">
              <a:solidFill>
                <a:srgbClr val="331B0D"/>
              </a:solidFill>
              <a:latin typeface="Open Sauce"/>
              <a:ea typeface="Open Sauce"/>
              <a:cs typeface="Open Sauce"/>
            </a:endParaRPr>
          </a:p>
        </p:txBody>
      </p:sp>
      <p:sp>
        <p:nvSpPr>
          <p:cNvPr id="21" name="TextBox 21"/>
          <p:cNvSpPr txBox="1"/>
          <p:nvPr/>
        </p:nvSpPr>
        <p:spPr>
          <a:xfrm>
            <a:off x="1028700" y="1636101"/>
            <a:ext cx="10293286" cy="636270"/>
          </a:xfrm>
          <a:prstGeom prst="rect">
            <a:avLst/>
          </a:prstGeom>
        </p:spPr>
        <p:txBody>
          <a:bodyPr lIns="0" tIns="0" rIns="0" bIns="0" rtlCol="0" anchor="t">
            <a:spAutoFit/>
          </a:bodyPr>
          <a:lstStyle/>
          <a:p>
            <a:pPr algn="l">
              <a:lnSpc>
                <a:spcPts val="4800"/>
              </a:lnSpc>
            </a:pPr>
            <a:r>
              <a:rPr lang="en-US" sz="4800" b="1" spc="-288">
                <a:solidFill>
                  <a:srgbClr val="331B0D"/>
                </a:solidFill>
                <a:latin typeface="Open Sauce Bold"/>
                <a:ea typeface="Open Sauce Bold"/>
                <a:cs typeface="Open Sauce Bold"/>
                <a:sym typeface="Open Sauce Bold"/>
              </a:rPr>
              <a:t>The Legal Issue - GDPR Compliance</a:t>
            </a:r>
          </a:p>
        </p:txBody>
      </p:sp>
      <p:sp>
        <p:nvSpPr>
          <p:cNvPr id="22" name="TextBox 22"/>
          <p:cNvSpPr txBox="1"/>
          <p:nvPr/>
        </p:nvSpPr>
        <p:spPr>
          <a:xfrm>
            <a:off x="1535016" y="3917116"/>
            <a:ext cx="3674313" cy="405765"/>
          </a:xfrm>
          <a:prstGeom prst="rect">
            <a:avLst/>
          </a:prstGeom>
        </p:spPr>
        <p:txBody>
          <a:bodyPr lIns="0" tIns="0" rIns="0" bIns="0" rtlCol="0" anchor="t">
            <a:spAutoFit/>
          </a:bodyPr>
          <a:lstStyle/>
          <a:p>
            <a:pPr algn="l">
              <a:lnSpc>
                <a:spcPts val="3359"/>
              </a:lnSpc>
              <a:spcBef>
                <a:spcPct val="0"/>
              </a:spcBef>
            </a:pPr>
            <a:r>
              <a:rPr lang="en-US" sz="2400" b="1">
                <a:solidFill>
                  <a:srgbClr val="331B0D"/>
                </a:solidFill>
                <a:latin typeface="Open Sauce Bold"/>
                <a:ea typeface="Open Sauce Bold"/>
                <a:cs typeface="Open Sauce Bold"/>
                <a:sym typeface="Open Sauce Bold"/>
              </a:rPr>
              <a:t>The issue we faced</a:t>
            </a:r>
          </a:p>
        </p:txBody>
      </p:sp>
      <p:sp>
        <p:nvSpPr>
          <p:cNvPr id="23" name="TextBox 23"/>
          <p:cNvSpPr txBox="1"/>
          <p:nvPr/>
        </p:nvSpPr>
        <p:spPr>
          <a:xfrm>
            <a:off x="1028700" y="4566285"/>
            <a:ext cx="4686945" cy="1456489"/>
          </a:xfrm>
          <a:prstGeom prst="rect">
            <a:avLst/>
          </a:prstGeom>
        </p:spPr>
        <p:txBody>
          <a:bodyPr lIns="0" tIns="0" rIns="0" bIns="0" rtlCol="0" anchor="t">
            <a:spAutoFit/>
          </a:bodyPr>
          <a:lstStyle/>
          <a:p>
            <a:pPr algn="l">
              <a:lnSpc>
                <a:spcPts val="2940"/>
              </a:lnSpc>
              <a:spcBef>
                <a:spcPct val="0"/>
              </a:spcBef>
            </a:pPr>
            <a:r>
              <a:rPr lang="en-US" sz="2100">
                <a:solidFill>
                  <a:srgbClr val="331B0D"/>
                </a:solidFill>
                <a:latin typeface="Open Sauce"/>
                <a:ea typeface="Open Sauce"/>
                <a:cs typeface="Open Sauce"/>
                <a:sym typeface="Open Sauce"/>
              </a:rPr>
              <a:t>Our system processed </a:t>
            </a:r>
            <a:r>
              <a:rPr lang="en-US" sz="2100" b="1">
                <a:solidFill>
                  <a:srgbClr val="331B0D"/>
                </a:solidFill>
                <a:latin typeface="Open Sauce Bold"/>
                <a:ea typeface="Open Sauce Bold"/>
                <a:cs typeface="Open Sauce Bold"/>
                <a:sym typeface="Open Sauce Bold"/>
              </a:rPr>
              <a:t>personally identifiable information</a:t>
            </a:r>
            <a:r>
              <a:rPr lang="en-US" sz="2100">
                <a:solidFill>
                  <a:srgbClr val="331B0D"/>
                </a:solidFill>
                <a:latin typeface="Open Sauce"/>
                <a:ea typeface="Open Sauce"/>
                <a:cs typeface="Open Sauce"/>
                <a:sym typeface="Open Sauce"/>
              </a:rPr>
              <a:t> (PII) which is personal data under UK GDPR regulations</a:t>
            </a:r>
          </a:p>
        </p:txBody>
      </p:sp>
      <p:sp>
        <p:nvSpPr>
          <p:cNvPr id="24" name="TextBox 24"/>
          <p:cNvSpPr txBox="1"/>
          <p:nvPr/>
        </p:nvSpPr>
        <p:spPr>
          <a:xfrm>
            <a:off x="6988914" y="3917116"/>
            <a:ext cx="4572772" cy="405765"/>
          </a:xfrm>
          <a:prstGeom prst="rect">
            <a:avLst/>
          </a:prstGeom>
        </p:spPr>
        <p:txBody>
          <a:bodyPr lIns="0" tIns="0" rIns="0" bIns="0" rtlCol="0" anchor="t">
            <a:spAutoFit/>
          </a:bodyPr>
          <a:lstStyle/>
          <a:p>
            <a:pPr algn="l">
              <a:lnSpc>
                <a:spcPts val="3359"/>
              </a:lnSpc>
              <a:spcBef>
                <a:spcPct val="0"/>
              </a:spcBef>
            </a:pPr>
            <a:r>
              <a:rPr lang="en-US" sz="2400" b="1">
                <a:solidFill>
                  <a:srgbClr val="331B0D"/>
                </a:solidFill>
                <a:latin typeface="Open Sauce Bold"/>
                <a:ea typeface="Open Sauce Bold"/>
                <a:cs typeface="Open Sauce Bold"/>
                <a:sym typeface="Open Sauce Bold"/>
              </a:rPr>
              <a:t>Where the issue appears</a:t>
            </a:r>
          </a:p>
        </p:txBody>
      </p:sp>
      <p:sp>
        <p:nvSpPr>
          <p:cNvPr id="25" name="TextBox 25"/>
          <p:cNvSpPr txBox="1"/>
          <p:nvPr/>
        </p:nvSpPr>
        <p:spPr>
          <a:xfrm>
            <a:off x="13101753" y="3917116"/>
            <a:ext cx="4532597" cy="405765"/>
          </a:xfrm>
          <a:prstGeom prst="rect">
            <a:avLst/>
          </a:prstGeom>
        </p:spPr>
        <p:txBody>
          <a:bodyPr lIns="0" tIns="0" rIns="0" bIns="0" rtlCol="0" anchor="t">
            <a:spAutoFit/>
          </a:bodyPr>
          <a:lstStyle/>
          <a:p>
            <a:pPr algn="l">
              <a:lnSpc>
                <a:spcPts val="3359"/>
              </a:lnSpc>
              <a:spcBef>
                <a:spcPct val="0"/>
              </a:spcBef>
            </a:pPr>
            <a:r>
              <a:rPr lang="en-US" sz="2400" b="1">
                <a:solidFill>
                  <a:srgbClr val="331B0D"/>
                </a:solidFill>
                <a:latin typeface="Open Sauce Bold"/>
                <a:ea typeface="Open Sauce Bold"/>
                <a:cs typeface="Open Sauce Bold"/>
                <a:sym typeface="Open Sauce Bold"/>
              </a:rPr>
              <a:t>GDPR Obligations and Risks</a:t>
            </a:r>
          </a:p>
        </p:txBody>
      </p:sp>
      <p:sp>
        <p:nvSpPr>
          <p:cNvPr id="26" name="TextBox 26"/>
          <p:cNvSpPr txBox="1"/>
          <p:nvPr/>
        </p:nvSpPr>
        <p:spPr>
          <a:xfrm>
            <a:off x="12698616" y="8984615"/>
            <a:ext cx="4560684" cy="273685"/>
          </a:xfrm>
          <a:prstGeom prst="rect">
            <a:avLst/>
          </a:prstGeom>
        </p:spPr>
        <p:txBody>
          <a:bodyPr lIns="0" tIns="0" rIns="0" bIns="0" rtlCol="0" anchor="t">
            <a:spAutoFit/>
          </a:bodyPr>
          <a:lstStyle/>
          <a:p>
            <a:pPr algn="r">
              <a:lnSpc>
                <a:spcPts val="2239"/>
              </a:lnSpc>
            </a:pPr>
            <a:r>
              <a:rPr lang="en-US" sz="1599">
                <a:solidFill>
                  <a:srgbClr val="331B0D"/>
                </a:solidFill>
                <a:latin typeface="Open Sauce"/>
                <a:ea typeface="Open Sauce"/>
                <a:cs typeface="Open Sauce"/>
                <a:sym typeface="Open Sauce"/>
              </a:rPr>
              <a:t>2</a:t>
            </a:r>
          </a:p>
        </p:txBody>
      </p:sp>
      <p:sp>
        <p:nvSpPr>
          <p:cNvPr id="27" name="TextBox 27"/>
          <p:cNvSpPr txBox="1"/>
          <p:nvPr/>
        </p:nvSpPr>
        <p:spPr>
          <a:xfrm>
            <a:off x="1028700" y="1186671"/>
            <a:ext cx="5823899" cy="230832"/>
          </a:xfrm>
          <a:prstGeom prst="rect">
            <a:avLst/>
          </a:prstGeom>
        </p:spPr>
        <p:txBody>
          <a:bodyPr wrap="square" lIns="0" tIns="0" rIns="0" bIns="0" rtlCol="0" anchor="t">
            <a:spAutoFit/>
          </a:bodyPr>
          <a:lstStyle/>
          <a:p>
            <a:pPr algn="just">
              <a:lnSpc>
                <a:spcPts val="1800"/>
              </a:lnSpc>
              <a:spcBef>
                <a:spcPct val="0"/>
              </a:spcBef>
            </a:pPr>
            <a:r>
              <a:rPr lang="en-US" sz="1800" b="1" spc="179">
                <a:solidFill>
                  <a:srgbClr val="8C7753"/>
                </a:solidFill>
                <a:latin typeface="Open Sauce Bold"/>
                <a:ea typeface="Open Sauce Bold"/>
                <a:cs typeface="Open Sauce Bold"/>
                <a:sym typeface="Open Sauce Bold"/>
              </a:rPr>
              <a:t>Introduction</a:t>
            </a:r>
            <a:r>
              <a:rPr lang="en-US" b="1" spc="179">
                <a:solidFill>
                  <a:srgbClr val="8C7753"/>
                </a:solidFill>
                <a:latin typeface="Open Sauce Bold"/>
                <a:ea typeface="Open Sauce Bold"/>
                <a:cs typeface="Open Sauce Bold"/>
                <a:sym typeface="Open Sauce Bold"/>
              </a:rPr>
              <a:t> – dabhc1@student.le.ac.uk</a:t>
            </a:r>
            <a:endParaRPr lang="en-US" sz="1800" b="1" spc="179">
              <a:solidFill>
                <a:srgbClr val="8C7753"/>
              </a:solidFill>
              <a:latin typeface="Open Sauce Bold"/>
              <a:ea typeface="Open Sauce Bold"/>
              <a:cs typeface="Open Sauce Bold"/>
              <a:sym typeface="Open Sauce Bold"/>
            </a:endParaRPr>
          </a:p>
        </p:txBody>
      </p:sp>
      <p:sp>
        <p:nvSpPr>
          <p:cNvPr id="28" name="TextBox 28"/>
          <p:cNvSpPr txBox="1"/>
          <p:nvPr/>
        </p:nvSpPr>
        <p:spPr>
          <a:xfrm>
            <a:off x="14411514" y="1057275"/>
            <a:ext cx="2847786" cy="474345"/>
          </a:xfrm>
          <a:prstGeom prst="rect">
            <a:avLst/>
          </a:prstGeom>
        </p:spPr>
        <p:txBody>
          <a:bodyPr lIns="0" tIns="0" rIns="0" bIns="0" rtlCol="0" anchor="t">
            <a:spAutoFit/>
          </a:bodyPr>
          <a:lstStyle/>
          <a:p>
            <a:pPr algn="r">
              <a:lnSpc>
                <a:spcPts val="1800"/>
              </a:lnSpc>
              <a:spcBef>
                <a:spcPct val="0"/>
              </a:spcBef>
            </a:pPr>
            <a:r>
              <a:rPr lang="en-US" sz="1800" b="1" spc="179">
                <a:solidFill>
                  <a:srgbClr val="8C7753"/>
                </a:solidFill>
                <a:latin typeface="Open Sauce Bold"/>
                <a:ea typeface="Open Sauce Bold"/>
                <a:cs typeface="Open Sauce Bold"/>
                <a:sym typeface="Open Sauce Bold"/>
              </a:rPr>
              <a:t>DESTINY-ALLIAH COLOMBO</a:t>
            </a:r>
          </a:p>
        </p:txBody>
      </p:sp>
      <p:sp>
        <p:nvSpPr>
          <p:cNvPr id="29" name="TextBox 29"/>
          <p:cNvSpPr txBox="1"/>
          <p:nvPr/>
        </p:nvSpPr>
        <p:spPr>
          <a:xfrm>
            <a:off x="13096049" y="4681214"/>
            <a:ext cx="5143699" cy="340799"/>
          </a:xfrm>
          <a:prstGeom prst="rect">
            <a:avLst/>
          </a:prstGeom>
        </p:spPr>
        <p:txBody>
          <a:bodyPr wrap="square"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Lawfulness, fairness &amp; transparency</a:t>
            </a:r>
          </a:p>
        </p:txBody>
      </p:sp>
      <p:sp>
        <p:nvSpPr>
          <p:cNvPr id="30" name="TextBox 30"/>
          <p:cNvSpPr txBox="1"/>
          <p:nvPr/>
        </p:nvSpPr>
        <p:spPr>
          <a:xfrm>
            <a:off x="12381727" y="5558125"/>
            <a:ext cx="4340490" cy="340799"/>
          </a:xfrm>
          <a:prstGeom prst="rect">
            <a:avLst/>
          </a:prstGeom>
        </p:spPr>
        <p:txBody>
          <a:bodyPr wrap="square"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Data minimisation</a:t>
            </a:r>
          </a:p>
        </p:txBody>
      </p:sp>
      <p:sp>
        <p:nvSpPr>
          <p:cNvPr id="31" name="TextBox 31"/>
          <p:cNvSpPr txBox="1"/>
          <p:nvPr/>
        </p:nvSpPr>
        <p:spPr>
          <a:xfrm>
            <a:off x="12505327" y="6390093"/>
            <a:ext cx="4335132" cy="340799"/>
          </a:xfrm>
          <a:prstGeom prst="rect">
            <a:avLst/>
          </a:prstGeom>
        </p:spPr>
        <p:txBody>
          <a:bodyPr wrap="square"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Storage limitation</a:t>
            </a:r>
          </a:p>
        </p:txBody>
      </p:sp>
      <p:sp>
        <p:nvSpPr>
          <p:cNvPr id="32" name="TextBox 32"/>
          <p:cNvSpPr txBox="1"/>
          <p:nvPr/>
        </p:nvSpPr>
        <p:spPr>
          <a:xfrm>
            <a:off x="12504841" y="7192442"/>
            <a:ext cx="5219074" cy="340799"/>
          </a:xfrm>
          <a:prstGeom prst="rect">
            <a:avLst/>
          </a:prstGeom>
        </p:spPr>
        <p:txBody>
          <a:bodyPr wrap="square"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Integrity &amp; Confidentiality</a:t>
            </a:r>
          </a:p>
        </p:txBody>
      </p:sp>
      <p:sp>
        <p:nvSpPr>
          <p:cNvPr id="33" name="TextBox 33"/>
          <p:cNvSpPr txBox="1"/>
          <p:nvPr/>
        </p:nvSpPr>
        <p:spPr>
          <a:xfrm>
            <a:off x="1407806" y="9352772"/>
            <a:ext cx="10872390" cy="365760"/>
          </a:xfrm>
          <a:prstGeom prst="rect">
            <a:avLst/>
          </a:prstGeom>
        </p:spPr>
        <p:txBody>
          <a:bodyPr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Failure to comply would result in a personal data breach for users of our system</a:t>
            </a:r>
          </a:p>
        </p:txBody>
      </p:sp>
      <p:sp>
        <p:nvSpPr>
          <p:cNvPr id="34" name="AutoShape 34"/>
          <p:cNvSpPr/>
          <p:nvPr/>
        </p:nvSpPr>
        <p:spPr>
          <a:xfrm flipV="1">
            <a:off x="7127224" y="8187398"/>
            <a:ext cx="695698" cy="0"/>
          </a:xfrm>
          <a:prstGeom prst="line">
            <a:avLst/>
          </a:prstGeom>
          <a:ln w="38100" cap="flat">
            <a:solidFill>
              <a:srgbClr val="8C7753"/>
            </a:solidFill>
            <a:prstDash val="solid"/>
            <a:headEnd type="none" w="sm" len="sm"/>
            <a:tailEnd type="triangle" w="lg" len="med"/>
          </a:ln>
        </p:spPr>
      </p:sp>
      <p:sp>
        <p:nvSpPr>
          <p:cNvPr id="35" name="AutoShape 35"/>
          <p:cNvSpPr/>
          <p:nvPr/>
        </p:nvSpPr>
        <p:spPr>
          <a:xfrm flipV="1">
            <a:off x="8648513" y="8225498"/>
            <a:ext cx="695698" cy="0"/>
          </a:xfrm>
          <a:prstGeom prst="line">
            <a:avLst/>
          </a:prstGeom>
          <a:ln w="38100" cap="flat">
            <a:solidFill>
              <a:srgbClr val="8C7753"/>
            </a:solidFill>
            <a:prstDash val="solid"/>
            <a:headEnd type="none" w="sm" len="sm"/>
            <a:tailEnd type="triangle" w="lg" len="med"/>
          </a:ln>
        </p:spPr>
      </p:sp>
      <p:sp>
        <p:nvSpPr>
          <p:cNvPr id="36" name="AutoShape 36"/>
          <p:cNvSpPr/>
          <p:nvPr/>
        </p:nvSpPr>
        <p:spPr>
          <a:xfrm flipV="1">
            <a:off x="10342189" y="8225498"/>
            <a:ext cx="695698" cy="0"/>
          </a:xfrm>
          <a:prstGeom prst="line">
            <a:avLst/>
          </a:prstGeom>
          <a:ln w="38100" cap="flat">
            <a:solidFill>
              <a:srgbClr val="8C7753"/>
            </a:solidFill>
            <a:prstDash val="solid"/>
            <a:headEnd type="none" w="sm" len="sm"/>
            <a:tailEnd type="triangle" w="lg" len="med"/>
          </a:ln>
        </p:spPr>
      </p:sp>
      <p:sp>
        <p:nvSpPr>
          <p:cNvPr id="37" name="TextBox 37"/>
          <p:cNvSpPr txBox="1"/>
          <p:nvPr/>
        </p:nvSpPr>
        <p:spPr>
          <a:xfrm>
            <a:off x="6126510" y="8649156"/>
            <a:ext cx="1489563" cy="340799"/>
          </a:xfrm>
          <a:prstGeom prst="rect">
            <a:avLst/>
          </a:prstGeom>
        </p:spPr>
        <p:txBody>
          <a:bodyPr wrap="square"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User</a:t>
            </a:r>
          </a:p>
        </p:txBody>
      </p:sp>
      <p:sp>
        <p:nvSpPr>
          <p:cNvPr id="38" name="TextBox 38"/>
          <p:cNvSpPr txBox="1"/>
          <p:nvPr/>
        </p:nvSpPr>
        <p:spPr>
          <a:xfrm>
            <a:off x="6715292" y="8637248"/>
            <a:ext cx="3106032" cy="340799"/>
          </a:xfrm>
          <a:prstGeom prst="rect">
            <a:avLst/>
          </a:prstGeom>
        </p:spPr>
        <p:txBody>
          <a:bodyPr wrap="square"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API request</a:t>
            </a:r>
          </a:p>
        </p:txBody>
      </p:sp>
      <p:sp>
        <p:nvSpPr>
          <p:cNvPr id="39" name="TextBox 39"/>
          <p:cNvSpPr txBox="1"/>
          <p:nvPr/>
        </p:nvSpPr>
        <p:spPr>
          <a:xfrm>
            <a:off x="8654470" y="8637248"/>
            <a:ext cx="2487669" cy="346054"/>
          </a:xfrm>
          <a:prstGeom prst="rect">
            <a:avLst/>
          </a:prstGeom>
        </p:spPr>
        <p:txBody>
          <a:bodyPr wrap="square"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Backend</a:t>
            </a:r>
          </a:p>
        </p:txBody>
      </p:sp>
      <p:sp>
        <p:nvSpPr>
          <p:cNvPr id="40" name="TextBox 40"/>
          <p:cNvSpPr txBox="1"/>
          <p:nvPr/>
        </p:nvSpPr>
        <p:spPr>
          <a:xfrm>
            <a:off x="10339412" y="8643143"/>
            <a:ext cx="2223148" cy="346054"/>
          </a:xfrm>
          <a:prstGeom prst="rect">
            <a:avLst/>
          </a:prstGeom>
        </p:spPr>
        <p:txBody>
          <a:bodyPr wrap="square" lIns="0" tIns="0" rIns="0" bIns="0" rtlCol="0" anchor="t">
            <a:spAutoFit/>
          </a:bodyPr>
          <a:lstStyle/>
          <a:p>
            <a:pPr algn="ctr">
              <a:lnSpc>
                <a:spcPts val="2940"/>
              </a:lnSpc>
              <a:spcBef>
                <a:spcPct val="0"/>
              </a:spcBef>
            </a:pPr>
            <a:r>
              <a:rPr lang="en-US" sz="2100">
                <a:solidFill>
                  <a:srgbClr val="331B0D"/>
                </a:solidFill>
                <a:latin typeface="Open Sauce"/>
                <a:ea typeface="Open Sauce"/>
                <a:cs typeface="Open Sauce"/>
                <a:sym typeface="Open Sauce"/>
              </a:rPr>
              <a:t>Database</a:t>
            </a:r>
          </a:p>
        </p:txBody>
      </p:sp>
    </p:spTree>
    <p:extLst>
      <p:ext uri="{BB962C8B-B14F-4D97-AF65-F5344CB8AC3E}">
        <p14:creationId xmlns:p14="http://schemas.microsoft.com/office/powerpoint/2010/main" val="2440277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76250"/>
            <a:ext cx="18288000" cy="8900160"/>
            <a:chOff x="0" y="0"/>
            <a:chExt cx="1811948" cy="881815"/>
          </a:xfrm>
        </p:grpSpPr>
        <p:sp>
          <p:nvSpPr>
            <p:cNvPr id="3" name="Freeform 3"/>
            <p:cNvSpPr/>
            <p:nvPr/>
          </p:nvSpPr>
          <p:spPr>
            <a:xfrm>
              <a:off x="0" y="0"/>
              <a:ext cx="1811948" cy="881814"/>
            </a:xfrm>
            <a:custGeom>
              <a:avLst/>
              <a:gdLst/>
              <a:ahLst/>
              <a:cxnLst/>
              <a:rect l="l" t="t" r="r" b="b"/>
              <a:pathLst>
                <a:path w="1811948" h="881814">
                  <a:moveTo>
                    <a:pt x="1811948" y="0"/>
                  </a:moveTo>
                  <a:lnTo>
                    <a:pt x="1811948" y="767515"/>
                  </a:lnTo>
                  <a:lnTo>
                    <a:pt x="905974" y="881814"/>
                  </a:lnTo>
                  <a:lnTo>
                    <a:pt x="0" y="767515"/>
                  </a:lnTo>
                  <a:lnTo>
                    <a:pt x="0" y="0"/>
                  </a:lnTo>
                  <a:lnTo>
                    <a:pt x="1811948" y="0"/>
                  </a:lnTo>
                  <a:close/>
                </a:path>
              </a:pathLst>
            </a:custGeom>
            <a:solidFill>
              <a:srgbClr val="FAF7F0"/>
            </a:solidFill>
          </p:spPr>
        </p:sp>
        <p:sp>
          <p:nvSpPr>
            <p:cNvPr id="4" name="TextBox 4"/>
            <p:cNvSpPr txBox="1"/>
            <p:nvPr/>
          </p:nvSpPr>
          <p:spPr>
            <a:xfrm>
              <a:off x="0" y="-47625"/>
              <a:ext cx="1811948" cy="815140"/>
            </a:xfrm>
            <a:prstGeom prst="rect">
              <a:avLst/>
            </a:prstGeom>
          </p:spPr>
          <p:txBody>
            <a:bodyPr lIns="50800" tIns="50800" rIns="50800" bIns="50800" rtlCol="0" anchor="ctr"/>
            <a:lstStyle/>
            <a:p>
              <a:pPr algn="ctr">
                <a:lnSpc>
                  <a:spcPts val="2940"/>
                </a:lnSpc>
              </a:pPr>
              <a:endParaRPr/>
            </a:p>
          </p:txBody>
        </p:sp>
      </p:grpSp>
      <p:sp>
        <p:nvSpPr>
          <p:cNvPr id="5" name="Freeform 5"/>
          <p:cNvSpPr/>
          <p:nvPr/>
        </p:nvSpPr>
        <p:spPr>
          <a:xfrm>
            <a:off x="11069740" y="3117578"/>
            <a:ext cx="772902" cy="934278"/>
          </a:xfrm>
          <a:custGeom>
            <a:avLst/>
            <a:gdLst/>
            <a:ahLst/>
            <a:cxnLst/>
            <a:rect l="l" t="t" r="r" b="b"/>
            <a:pathLst>
              <a:path w="772902" h="934278">
                <a:moveTo>
                  <a:pt x="0" y="0"/>
                </a:moveTo>
                <a:lnTo>
                  <a:pt x="772902" y="0"/>
                </a:lnTo>
                <a:lnTo>
                  <a:pt x="772902" y="934278"/>
                </a:lnTo>
                <a:lnTo>
                  <a:pt x="0" y="9342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7149600" y="3117578"/>
            <a:ext cx="1033909" cy="934278"/>
          </a:xfrm>
          <a:custGeom>
            <a:avLst/>
            <a:gdLst/>
            <a:ahLst/>
            <a:cxnLst/>
            <a:rect l="l" t="t" r="r" b="b"/>
            <a:pathLst>
              <a:path w="1033909" h="934278">
                <a:moveTo>
                  <a:pt x="0" y="0"/>
                </a:moveTo>
                <a:lnTo>
                  <a:pt x="1033908" y="0"/>
                </a:lnTo>
                <a:lnTo>
                  <a:pt x="1033908" y="934278"/>
                </a:lnTo>
                <a:lnTo>
                  <a:pt x="0" y="93427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4699899" y="3070367"/>
            <a:ext cx="1062883" cy="1022300"/>
          </a:xfrm>
          <a:custGeom>
            <a:avLst/>
            <a:gdLst/>
            <a:ahLst/>
            <a:cxnLst/>
            <a:rect l="l" t="t" r="r" b="b"/>
            <a:pathLst>
              <a:path w="1062883" h="1022300">
                <a:moveTo>
                  <a:pt x="0" y="0"/>
                </a:moveTo>
                <a:lnTo>
                  <a:pt x="1062883" y="0"/>
                </a:lnTo>
                <a:lnTo>
                  <a:pt x="1062883" y="1022300"/>
                </a:lnTo>
                <a:lnTo>
                  <a:pt x="0" y="10223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2698616" y="8984615"/>
            <a:ext cx="4560684" cy="273685"/>
          </a:xfrm>
          <a:prstGeom prst="rect">
            <a:avLst/>
          </a:prstGeom>
        </p:spPr>
        <p:txBody>
          <a:bodyPr lIns="0" tIns="0" rIns="0" bIns="0" rtlCol="0" anchor="t">
            <a:spAutoFit/>
          </a:bodyPr>
          <a:lstStyle/>
          <a:p>
            <a:pPr algn="r">
              <a:lnSpc>
                <a:spcPts val="2239"/>
              </a:lnSpc>
            </a:pPr>
            <a:r>
              <a:rPr lang="en-US" sz="1599">
                <a:solidFill>
                  <a:srgbClr val="331B0D"/>
                </a:solidFill>
                <a:latin typeface="Open Sauce"/>
                <a:ea typeface="Open Sauce"/>
                <a:cs typeface="Open Sauce"/>
                <a:sym typeface="Open Sauce"/>
              </a:rPr>
              <a:t>4</a:t>
            </a:r>
          </a:p>
        </p:txBody>
      </p:sp>
      <p:grpSp>
        <p:nvGrpSpPr>
          <p:cNvPr id="9" name="Group 9"/>
          <p:cNvGrpSpPr/>
          <p:nvPr/>
        </p:nvGrpSpPr>
        <p:grpSpPr>
          <a:xfrm>
            <a:off x="853109" y="8995410"/>
            <a:ext cx="15883469" cy="1049060"/>
            <a:chOff x="0" y="0"/>
            <a:chExt cx="4183300" cy="276296"/>
          </a:xfrm>
        </p:grpSpPr>
        <p:sp>
          <p:nvSpPr>
            <p:cNvPr id="10" name="Freeform 10"/>
            <p:cNvSpPr/>
            <p:nvPr/>
          </p:nvSpPr>
          <p:spPr>
            <a:xfrm>
              <a:off x="0" y="0"/>
              <a:ext cx="4183300" cy="276296"/>
            </a:xfrm>
            <a:custGeom>
              <a:avLst/>
              <a:gdLst/>
              <a:ahLst/>
              <a:cxnLst/>
              <a:rect l="l" t="t" r="r" b="b"/>
              <a:pathLst>
                <a:path w="4183300" h="276296">
                  <a:moveTo>
                    <a:pt x="24858" y="0"/>
                  </a:moveTo>
                  <a:lnTo>
                    <a:pt x="4158442" y="0"/>
                  </a:lnTo>
                  <a:cubicBezTo>
                    <a:pt x="4172171" y="0"/>
                    <a:pt x="4183300" y="11129"/>
                    <a:pt x="4183300" y="24858"/>
                  </a:cubicBezTo>
                  <a:lnTo>
                    <a:pt x="4183300" y="251437"/>
                  </a:lnTo>
                  <a:cubicBezTo>
                    <a:pt x="4183300" y="265166"/>
                    <a:pt x="4172171" y="276296"/>
                    <a:pt x="4158442" y="276296"/>
                  </a:cubicBezTo>
                  <a:lnTo>
                    <a:pt x="24858" y="276296"/>
                  </a:lnTo>
                  <a:cubicBezTo>
                    <a:pt x="11129" y="276296"/>
                    <a:pt x="0" y="265166"/>
                    <a:pt x="0" y="251437"/>
                  </a:cubicBezTo>
                  <a:lnTo>
                    <a:pt x="0" y="24858"/>
                  </a:lnTo>
                  <a:cubicBezTo>
                    <a:pt x="0" y="11129"/>
                    <a:pt x="11129" y="0"/>
                    <a:pt x="24858" y="0"/>
                  </a:cubicBezTo>
                  <a:close/>
                </a:path>
              </a:pathLst>
            </a:custGeom>
            <a:solidFill>
              <a:srgbClr val="FAF7F0"/>
            </a:solidFill>
            <a:ln w="19050" cap="rnd">
              <a:solidFill>
                <a:srgbClr val="000000"/>
              </a:solidFill>
              <a:prstDash val="solid"/>
              <a:round/>
            </a:ln>
          </p:spPr>
        </p:sp>
        <p:sp>
          <p:nvSpPr>
            <p:cNvPr id="11" name="TextBox 11"/>
            <p:cNvSpPr txBox="1"/>
            <p:nvPr/>
          </p:nvSpPr>
          <p:spPr>
            <a:xfrm>
              <a:off x="0" y="-47625"/>
              <a:ext cx="4183300" cy="323921"/>
            </a:xfrm>
            <a:prstGeom prst="rect">
              <a:avLst/>
            </a:prstGeom>
          </p:spPr>
          <p:txBody>
            <a:bodyPr lIns="50800" tIns="50800" rIns="50800" bIns="50800" rtlCol="0" anchor="ctr"/>
            <a:lstStyle/>
            <a:p>
              <a:pPr algn="ctr">
                <a:lnSpc>
                  <a:spcPts val="3359"/>
                </a:lnSpc>
              </a:pPr>
              <a:endParaRPr/>
            </a:p>
          </p:txBody>
        </p:sp>
      </p:grpSp>
      <p:sp>
        <p:nvSpPr>
          <p:cNvPr id="12" name="Freeform 12"/>
          <p:cNvSpPr/>
          <p:nvPr/>
        </p:nvSpPr>
        <p:spPr>
          <a:xfrm>
            <a:off x="1222292" y="9126855"/>
            <a:ext cx="524590" cy="786170"/>
          </a:xfrm>
          <a:custGeom>
            <a:avLst/>
            <a:gdLst/>
            <a:ahLst/>
            <a:cxnLst/>
            <a:rect l="l" t="t" r="r" b="b"/>
            <a:pathLst>
              <a:path w="524590" h="786170">
                <a:moveTo>
                  <a:pt x="0" y="0"/>
                </a:moveTo>
                <a:lnTo>
                  <a:pt x="524590" y="0"/>
                </a:lnTo>
                <a:lnTo>
                  <a:pt x="524590" y="786170"/>
                </a:lnTo>
                <a:lnTo>
                  <a:pt x="0" y="78617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028700" y="1989777"/>
            <a:ext cx="8115300" cy="636270"/>
          </a:xfrm>
          <a:prstGeom prst="rect">
            <a:avLst/>
          </a:prstGeom>
        </p:spPr>
        <p:txBody>
          <a:bodyPr lIns="0" tIns="0" rIns="0" bIns="0" rtlCol="0" anchor="t">
            <a:spAutoFit/>
          </a:bodyPr>
          <a:lstStyle/>
          <a:p>
            <a:pPr algn="l">
              <a:lnSpc>
                <a:spcPts val="4800"/>
              </a:lnSpc>
            </a:pPr>
            <a:r>
              <a:rPr lang="en-US" sz="4800" b="1" spc="-288">
                <a:solidFill>
                  <a:srgbClr val="331B0D"/>
                </a:solidFill>
                <a:latin typeface="Open Sauce Bold"/>
                <a:ea typeface="Open Sauce Bold"/>
                <a:cs typeface="Open Sauce Bold"/>
                <a:sym typeface="Open Sauce Bold"/>
              </a:rPr>
              <a:t>Why It Matters</a:t>
            </a:r>
          </a:p>
        </p:txBody>
      </p:sp>
      <p:sp>
        <p:nvSpPr>
          <p:cNvPr id="14" name="TextBox 14"/>
          <p:cNvSpPr txBox="1"/>
          <p:nvPr/>
        </p:nvSpPr>
        <p:spPr>
          <a:xfrm>
            <a:off x="520145" y="4298950"/>
            <a:ext cx="5242637" cy="1828386"/>
          </a:xfrm>
          <a:prstGeom prst="rect">
            <a:avLst/>
          </a:prstGeom>
        </p:spPr>
        <p:txBody>
          <a:bodyPr lIns="0" tIns="0" rIns="0" bIns="0" rtlCol="0" anchor="t">
            <a:spAutoFit/>
          </a:bodyPr>
          <a:lstStyle/>
          <a:p>
            <a:pPr algn="ctr">
              <a:lnSpc>
                <a:spcPts val="2940"/>
              </a:lnSpc>
            </a:pPr>
            <a:r>
              <a:rPr lang="en-US" sz="2100">
                <a:solidFill>
                  <a:srgbClr val="331B0D"/>
                </a:solidFill>
                <a:latin typeface="Open Sauce"/>
                <a:ea typeface="Open Sauce"/>
                <a:cs typeface="Open Sauce"/>
                <a:sym typeface="Open Sauce"/>
              </a:rPr>
              <a:t>Improper handling of </a:t>
            </a:r>
            <a:r>
              <a:rPr lang="en-US" sz="2100" b="1">
                <a:solidFill>
                  <a:srgbClr val="331B0D"/>
                </a:solidFill>
                <a:latin typeface="Open Sauce Bold"/>
                <a:ea typeface="Open Sauce Bold"/>
                <a:cs typeface="Open Sauce Bold"/>
                <a:sym typeface="Open Sauce Bold"/>
              </a:rPr>
              <a:t>personal data</a:t>
            </a:r>
            <a:r>
              <a:rPr lang="en-US" sz="2100">
                <a:solidFill>
                  <a:srgbClr val="331B0D"/>
                </a:solidFill>
                <a:latin typeface="Open Sauce"/>
                <a:ea typeface="Open Sauce"/>
                <a:cs typeface="Open Sauce"/>
                <a:sym typeface="Open Sauce"/>
              </a:rPr>
              <a:t> can result in a personal </a:t>
            </a:r>
            <a:r>
              <a:rPr lang="en-US" sz="2100" b="1">
                <a:solidFill>
                  <a:srgbClr val="331B0D"/>
                </a:solidFill>
                <a:latin typeface="Open Sauce Bold"/>
                <a:ea typeface="Open Sauce Bold"/>
                <a:cs typeface="Open Sauce Bold"/>
                <a:sym typeface="Open Sauce Bold"/>
              </a:rPr>
              <a:t>data breach</a:t>
            </a:r>
            <a:r>
              <a:rPr lang="en-US" sz="2100">
                <a:solidFill>
                  <a:srgbClr val="331B0D"/>
                </a:solidFill>
                <a:latin typeface="Open Sauce"/>
                <a:ea typeface="Open Sauce"/>
                <a:cs typeface="Open Sauce"/>
                <a:sym typeface="Open Sauce"/>
              </a:rPr>
              <a:t> under UK GDPR.</a:t>
            </a:r>
          </a:p>
          <a:p>
            <a:pPr algn="ctr">
              <a:lnSpc>
                <a:spcPts val="2940"/>
              </a:lnSpc>
            </a:pPr>
            <a:r>
              <a:rPr lang="en-US" sz="2100">
                <a:solidFill>
                  <a:srgbClr val="331B0D"/>
                </a:solidFill>
                <a:latin typeface="Open Sauce"/>
                <a:ea typeface="Open Sauce"/>
                <a:cs typeface="Open Sauce"/>
                <a:sym typeface="Open Sauce"/>
              </a:rPr>
              <a:t>This exposes the </a:t>
            </a:r>
            <a:r>
              <a:rPr lang="en-US" sz="2100" err="1">
                <a:solidFill>
                  <a:srgbClr val="331B0D"/>
                </a:solidFill>
                <a:latin typeface="Open Sauce"/>
                <a:ea typeface="Open Sauce"/>
                <a:cs typeface="Open Sauce"/>
                <a:sym typeface="Open Sauce"/>
              </a:rPr>
              <a:t>organisation</a:t>
            </a:r>
            <a:r>
              <a:rPr lang="en-US" sz="2100">
                <a:solidFill>
                  <a:srgbClr val="331B0D"/>
                </a:solidFill>
                <a:latin typeface="Open Sauce"/>
                <a:ea typeface="Open Sauce"/>
                <a:cs typeface="Open Sauce"/>
                <a:sym typeface="Open Sauce"/>
              </a:rPr>
              <a:t> to </a:t>
            </a:r>
            <a:r>
              <a:rPr lang="en-US" sz="2100" b="1">
                <a:solidFill>
                  <a:srgbClr val="331B0D"/>
                </a:solidFill>
                <a:latin typeface="Open Sauce Bold"/>
                <a:ea typeface="Open Sauce Bold"/>
                <a:cs typeface="Open Sauce Bold"/>
                <a:sym typeface="Open Sauce Bold"/>
              </a:rPr>
              <a:t>fines and legal liability.</a:t>
            </a:r>
            <a:endParaRPr lang="en-US" sz="2100">
              <a:solidFill>
                <a:srgbClr val="331B0D"/>
              </a:solidFill>
              <a:latin typeface="Open Sauce"/>
              <a:ea typeface="Open Sauce"/>
              <a:cs typeface="Open Sauce"/>
            </a:endParaRPr>
          </a:p>
        </p:txBody>
      </p:sp>
      <p:sp>
        <p:nvSpPr>
          <p:cNvPr id="15" name="TextBox 15"/>
          <p:cNvSpPr txBox="1"/>
          <p:nvPr/>
        </p:nvSpPr>
        <p:spPr>
          <a:xfrm>
            <a:off x="1028700" y="1057275"/>
            <a:ext cx="7342398" cy="245745"/>
          </a:xfrm>
          <a:prstGeom prst="rect">
            <a:avLst/>
          </a:prstGeom>
        </p:spPr>
        <p:txBody>
          <a:bodyPr lIns="0" tIns="0" rIns="0" bIns="0" rtlCol="0" anchor="t">
            <a:spAutoFit/>
          </a:bodyPr>
          <a:lstStyle/>
          <a:p>
            <a:pPr algn="just">
              <a:lnSpc>
                <a:spcPts val="1800"/>
              </a:lnSpc>
              <a:spcBef>
                <a:spcPct val="0"/>
              </a:spcBef>
            </a:pPr>
            <a:r>
              <a:rPr lang="en-US" sz="1800" b="1" spc="179">
                <a:solidFill>
                  <a:srgbClr val="8C7753"/>
                </a:solidFill>
                <a:latin typeface="Open Sauce Bold"/>
                <a:ea typeface="Open Sauce Bold"/>
                <a:cs typeface="Open Sauce Bold"/>
                <a:sym typeface="Open Sauce Bold"/>
              </a:rPr>
              <a:t>Background Research</a:t>
            </a:r>
          </a:p>
        </p:txBody>
      </p:sp>
      <p:sp>
        <p:nvSpPr>
          <p:cNvPr id="16" name="TextBox 16"/>
          <p:cNvSpPr txBox="1"/>
          <p:nvPr/>
        </p:nvSpPr>
        <p:spPr>
          <a:xfrm>
            <a:off x="14411514" y="1057275"/>
            <a:ext cx="2847786" cy="474345"/>
          </a:xfrm>
          <a:prstGeom prst="rect">
            <a:avLst/>
          </a:prstGeom>
        </p:spPr>
        <p:txBody>
          <a:bodyPr lIns="0" tIns="0" rIns="0" bIns="0" rtlCol="0" anchor="t">
            <a:spAutoFit/>
          </a:bodyPr>
          <a:lstStyle/>
          <a:p>
            <a:pPr algn="r">
              <a:lnSpc>
                <a:spcPts val="1800"/>
              </a:lnSpc>
              <a:spcBef>
                <a:spcPct val="0"/>
              </a:spcBef>
            </a:pPr>
            <a:r>
              <a:rPr lang="en-US" sz="1800" b="1" spc="179">
                <a:solidFill>
                  <a:srgbClr val="8C7753"/>
                </a:solidFill>
                <a:latin typeface="Open Sauce Bold"/>
                <a:ea typeface="Open Sauce Bold"/>
                <a:cs typeface="Open Sauce Bold"/>
                <a:sym typeface="Open Sauce Bold"/>
              </a:rPr>
              <a:t>DESTINY-ALLIAH COLOMBO</a:t>
            </a:r>
          </a:p>
        </p:txBody>
      </p:sp>
      <p:sp>
        <p:nvSpPr>
          <p:cNvPr id="17" name="TextBox 17"/>
          <p:cNvSpPr txBox="1"/>
          <p:nvPr/>
        </p:nvSpPr>
        <p:spPr>
          <a:xfrm>
            <a:off x="6676142" y="4298950"/>
            <a:ext cx="4935715" cy="2572179"/>
          </a:xfrm>
          <a:prstGeom prst="rect">
            <a:avLst/>
          </a:prstGeom>
        </p:spPr>
        <p:txBody>
          <a:bodyPr lIns="0" tIns="0" rIns="0" bIns="0" rtlCol="0" anchor="t">
            <a:spAutoFit/>
          </a:bodyPr>
          <a:lstStyle/>
          <a:p>
            <a:pPr algn="ctr">
              <a:lnSpc>
                <a:spcPts val="2940"/>
              </a:lnSpc>
            </a:pPr>
            <a:r>
              <a:rPr lang="en-US" sz="2100">
                <a:solidFill>
                  <a:srgbClr val="331B0D"/>
                </a:solidFill>
                <a:latin typeface="Open Sauce"/>
                <a:ea typeface="Open Sauce"/>
                <a:cs typeface="Open Sauce"/>
                <a:sym typeface="Open Sauce"/>
              </a:rPr>
              <a:t>Authentication mechanisms such as OAuth2 </a:t>
            </a:r>
            <a:r>
              <a:rPr lang="en-US" sz="2100" b="1">
                <a:solidFill>
                  <a:srgbClr val="331B0D"/>
                </a:solidFill>
                <a:latin typeface="Open Sauce Bold"/>
                <a:ea typeface="Open Sauce Bold"/>
                <a:cs typeface="Open Sauce Bold"/>
                <a:sym typeface="Open Sauce Bold"/>
              </a:rPr>
              <a:t>tokens</a:t>
            </a:r>
            <a:r>
              <a:rPr lang="en-US" sz="2100">
                <a:solidFill>
                  <a:srgbClr val="331B0D"/>
                </a:solidFill>
                <a:latin typeface="Open Sauce"/>
                <a:ea typeface="Open Sauce"/>
                <a:cs typeface="Open Sauce"/>
                <a:sym typeface="Open Sauce"/>
              </a:rPr>
              <a:t> are critical </a:t>
            </a:r>
            <a:r>
              <a:rPr lang="en-US" sz="2100" b="1">
                <a:solidFill>
                  <a:srgbClr val="331B0D"/>
                </a:solidFill>
                <a:latin typeface="Open Sauce Bold"/>
                <a:ea typeface="Open Sauce Bold"/>
                <a:cs typeface="Open Sauce Bold"/>
                <a:sym typeface="Open Sauce Bold"/>
              </a:rPr>
              <a:t>access points</a:t>
            </a:r>
            <a:r>
              <a:rPr lang="en-US" sz="2100">
                <a:solidFill>
                  <a:srgbClr val="331B0D"/>
                </a:solidFill>
                <a:latin typeface="Open Sauce"/>
                <a:ea typeface="Open Sauce"/>
                <a:cs typeface="Open Sauce"/>
                <a:sym typeface="Open Sauce"/>
              </a:rPr>
              <a:t> within the system.</a:t>
            </a:r>
          </a:p>
          <a:p>
            <a:pPr algn="ctr">
              <a:lnSpc>
                <a:spcPts val="2940"/>
              </a:lnSpc>
            </a:pPr>
            <a:r>
              <a:rPr lang="en-US" sz="2100">
                <a:solidFill>
                  <a:srgbClr val="331B0D"/>
                </a:solidFill>
                <a:latin typeface="Open Sauce"/>
                <a:ea typeface="Open Sauce"/>
                <a:cs typeface="Open Sauce"/>
                <a:sym typeface="Open Sauce"/>
              </a:rPr>
              <a:t>If stolen, they allow attackers to impersonate users through </a:t>
            </a:r>
            <a:r>
              <a:rPr lang="en-US" sz="2100" b="1">
                <a:solidFill>
                  <a:srgbClr val="331B0D"/>
                </a:solidFill>
                <a:latin typeface="Open Sauce Bold"/>
                <a:ea typeface="Open Sauce Bold"/>
                <a:cs typeface="Open Sauce Bold"/>
                <a:sym typeface="Open Sauce Bold"/>
              </a:rPr>
              <a:t>session hijacking.</a:t>
            </a:r>
            <a:endParaRPr lang="en-US" sz="2100">
              <a:solidFill>
                <a:srgbClr val="331B0D"/>
              </a:solidFill>
              <a:latin typeface="Open Sauce"/>
              <a:ea typeface="Open Sauce"/>
              <a:cs typeface="Open Sauce"/>
            </a:endParaRPr>
          </a:p>
          <a:p>
            <a:pPr algn="ctr">
              <a:lnSpc>
                <a:spcPts val="2940"/>
              </a:lnSpc>
              <a:spcBef>
                <a:spcPct val="0"/>
              </a:spcBef>
            </a:pPr>
            <a:endParaRPr lang="en-US" sz="2100">
              <a:solidFill>
                <a:srgbClr val="331B0D"/>
              </a:solidFill>
              <a:latin typeface="Open Sauce"/>
              <a:ea typeface="Open Sauce"/>
              <a:cs typeface="Open Sauce"/>
              <a:sym typeface="Open Sauce"/>
            </a:endParaRPr>
          </a:p>
        </p:txBody>
      </p:sp>
      <p:sp>
        <p:nvSpPr>
          <p:cNvPr id="18" name="TextBox 18"/>
          <p:cNvSpPr txBox="1"/>
          <p:nvPr/>
        </p:nvSpPr>
        <p:spPr>
          <a:xfrm>
            <a:off x="12997306" y="4298950"/>
            <a:ext cx="4656695" cy="2944076"/>
          </a:xfrm>
          <a:prstGeom prst="rect">
            <a:avLst/>
          </a:prstGeom>
        </p:spPr>
        <p:txBody>
          <a:bodyPr lIns="0" tIns="0" rIns="0" bIns="0" rtlCol="0" anchor="t">
            <a:spAutoFit/>
          </a:bodyPr>
          <a:lstStyle/>
          <a:p>
            <a:pPr algn="ctr">
              <a:lnSpc>
                <a:spcPts val="2940"/>
              </a:lnSpc>
            </a:pPr>
            <a:r>
              <a:rPr lang="en-US" sz="2100">
                <a:solidFill>
                  <a:srgbClr val="331B0D"/>
                </a:solidFill>
                <a:latin typeface="Open Sauce"/>
                <a:ea typeface="Open Sauce"/>
                <a:cs typeface="Open Sauce"/>
                <a:sym typeface="Open Sauce"/>
              </a:rPr>
              <a:t>Users must </a:t>
            </a:r>
            <a:r>
              <a:rPr lang="en-US" sz="2100" b="1">
                <a:solidFill>
                  <a:srgbClr val="331B0D"/>
                </a:solidFill>
                <a:latin typeface="Open Sauce Bold"/>
                <a:ea typeface="Open Sauce Bold"/>
                <a:cs typeface="Open Sauce Bold"/>
                <a:sym typeface="Open Sauce Bold"/>
              </a:rPr>
              <a:t>trust</a:t>
            </a:r>
            <a:r>
              <a:rPr lang="en-US" sz="2100">
                <a:solidFill>
                  <a:srgbClr val="331B0D"/>
                </a:solidFill>
                <a:latin typeface="Open Sauce"/>
                <a:ea typeface="Open Sauce"/>
                <a:cs typeface="Open Sauce"/>
                <a:sym typeface="Open Sauce"/>
              </a:rPr>
              <a:t> that their personal data is handled </a:t>
            </a:r>
            <a:r>
              <a:rPr lang="en-US" sz="2100" b="1">
                <a:solidFill>
                  <a:srgbClr val="331B0D"/>
                </a:solidFill>
                <a:latin typeface="Open Sauce Bold"/>
                <a:ea typeface="Open Sauce Bold"/>
                <a:cs typeface="Open Sauce Bold"/>
                <a:sym typeface="Open Sauce Bold"/>
              </a:rPr>
              <a:t>securely and responsibly</a:t>
            </a:r>
            <a:r>
              <a:rPr lang="en-US" sz="2100">
                <a:solidFill>
                  <a:srgbClr val="331B0D"/>
                </a:solidFill>
                <a:latin typeface="Open Sauce"/>
                <a:ea typeface="Open Sauce"/>
                <a:cs typeface="Open Sauce"/>
                <a:sym typeface="Open Sauce"/>
              </a:rPr>
              <a:t>.</a:t>
            </a:r>
          </a:p>
          <a:p>
            <a:pPr algn="ctr">
              <a:lnSpc>
                <a:spcPts val="2940"/>
              </a:lnSpc>
            </a:pPr>
            <a:r>
              <a:rPr lang="en-US" sz="2100">
                <a:solidFill>
                  <a:srgbClr val="331B0D"/>
                </a:solidFill>
                <a:latin typeface="Open Sauce"/>
                <a:ea typeface="Open Sauce"/>
                <a:cs typeface="Open Sauce"/>
                <a:sym typeface="Open Sauce"/>
              </a:rPr>
              <a:t>Any breach of data can lead to l</a:t>
            </a:r>
            <a:r>
              <a:rPr lang="en-US" sz="2100" b="1">
                <a:solidFill>
                  <a:srgbClr val="331B0D"/>
                </a:solidFill>
                <a:latin typeface="Open Sauce Bold"/>
                <a:ea typeface="Open Sauce Bold"/>
                <a:cs typeface="Open Sauce Bold"/>
                <a:sym typeface="Open Sauce Bold"/>
              </a:rPr>
              <a:t>oss of user confidence</a:t>
            </a:r>
            <a:r>
              <a:rPr lang="en-US" sz="2100">
                <a:solidFill>
                  <a:srgbClr val="331B0D"/>
                </a:solidFill>
                <a:latin typeface="Open Sauce"/>
                <a:ea typeface="Open Sauce"/>
                <a:cs typeface="Open Sauce"/>
                <a:sym typeface="Open Sauce"/>
              </a:rPr>
              <a:t> and long-term </a:t>
            </a:r>
            <a:r>
              <a:rPr lang="en-US" sz="2100" b="1">
                <a:solidFill>
                  <a:srgbClr val="331B0D"/>
                </a:solidFill>
                <a:latin typeface="Open Sauce Bold"/>
                <a:ea typeface="Open Sauce Bold"/>
                <a:cs typeface="Open Sauce Bold"/>
                <a:sym typeface="Open Sauce Bold"/>
              </a:rPr>
              <a:t>reputational damage</a:t>
            </a:r>
            <a:r>
              <a:rPr lang="en-US" sz="2100">
                <a:solidFill>
                  <a:srgbClr val="331B0D"/>
                </a:solidFill>
                <a:latin typeface="Open Sauce"/>
                <a:ea typeface="Open Sauce"/>
                <a:cs typeface="Open Sauce"/>
                <a:sym typeface="Open Sauce"/>
              </a:rPr>
              <a:t> to the system.</a:t>
            </a:r>
            <a:endParaRPr lang="en-US" sz="2100">
              <a:solidFill>
                <a:srgbClr val="331B0D"/>
              </a:solidFill>
              <a:latin typeface="Open Sauce"/>
              <a:ea typeface="Open Sauce"/>
              <a:cs typeface="Open Sauce"/>
            </a:endParaRPr>
          </a:p>
          <a:p>
            <a:pPr algn="ctr">
              <a:lnSpc>
                <a:spcPts val="2940"/>
              </a:lnSpc>
              <a:spcBef>
                <a:spcPct val="0"/>
              </a:spcBef>
            </a:pPr>
            <a:endParaRPr lang="en-US" sz="2100">
              <a:solidFill>
                <a:srgbClr val="331B0D"/>
              </a:solidFill>
              <a:latin typeface="Open Sauce"/>
              <a:ea typeface="Open Sauce"/>
              <a:cs typeface="Open Sauce"/>
              <a:sym typeface="Open Sauce"/>
            </a:endParaRPr>
          </a:p>
        </p:txBody>
      </p:sp>
      <p:sp>
        <p:nvSpPr>
          <p:cNvPr id="19" name="TextBox 19"/>
          <p:cNvSpPr txBox="1"/>
          <p:nvPr/>
        </p:nvSpPr>
        <p:spPr>
          <a:xfrm>
            <a:off x="1829395" y="9127510"/>
            <a:ext cx="2870504" cy="405765"/>
          </a:xfrm>
          <a:prstGeom prst="rect">
            <a:avLst/>
          </a:prstGeom>
        </p:spPr>
        <p:txBody>
          <a:bodyPr lIns="0" tIns="0" rIns="0" bIns="0" rtlCol="0" anchor="t">
            <a:spAutoFit/>
          </a:bodyPr>
          <a:lstStyle/>
          <a:p>
            <a:pPr algn="ctr">
              <a:lnSpc>
                <a:spcPts val="3359"/>
              </a:lnSpc>
              <a:spcBef>
                <a:spcPct val="0"/>
              </a:spcBef>
            </a:pPr>
            <a:r>
              <a:rPr lang="en-US" sz="2400" b="1" i="1">
                <a:solidFill>
                  <a:srgbClr val="331B0D"/>
                </a:solidFill>
                <a:latin typeface="Open Sauce Bold Italics"/>
                <a:ea typeface="Open Sauce Bold Italics"/>
                <a:cs typeface="Open Sauce Bold Italics"/>
                <a:sym typeface="Open Sauce Bold Italics"/>
              </a:rPr>
              <a:t>Key Insight</a:t>
            </a:r>
          </a:p>
        </p:txBody>
      </p:sp>
      <p:sp>
        <p:nvSpPr>
          <p:cNvPr id="20" name="TextBox 20"/>
          <p:cNvSpPr txBox="1"/>
          <p:nvPr/>
        </p:nvSpPr>
        <p:spPr>
          <a:xfrm>
            <a:off x="4026809" y="9140845"/>
            <a:ext cx="12392198" cy="737235"/>
          </a:xfrm>
          <a:prstGeom prst="rect">
            <a:avLst/>
          </a:prstGeom>
        </p:spPr>
        <p:txBody>
          <a:bodyPr lIns="0" tIns="0" rIns="0" bIns="0" rtlCol="0" anchor="t">
            <a:spAutoFit/>
          </a:bodyPr>
          <a:lstStyle/>
          <a:p>
            <a:pPr algn="ctr">
              <a:lnSpc>
                <a:spcPts val="2940"/>
              </a:lnSpc>
              <a:spcBef>
                <a:spcPct val="0"/>
              </a:spcBef>
            </a:pPr>
            <a:r>
              <a:rPr lang="en-US" sz="2100" i="1">
                <a:solidFill>
                  <a:srgbClr val="331B0D"/>
                </a:solidFill>
                <a:latin typeface="Open Sauce Italics"/>
                <a:ea typeface="Open Sauce Italics"/>
                <a:cs typeface="Open Sauce Italics"/>
                <a:sym typeface="Open Sauce Italics"/>
              </a:rPr>
              <a:t>GDPR compliance is not separate from system design — it directly defines how secure and trustworthy the system is.</a:t>
            </a:r>
          </a:p>
        </p:txBody>
      </p:sp>
      <p:sp>
        <p:nvSpPr>
          <p:cNvPr id="21" name="TextBox 21"/>
          <p:cNvSpPr txBox="1"/>
          <p:nvPr/>
        </p:nvSpPr>
        <p:spPr>
          <a:xfrm>
            <a:off x="861754" y="2992847"/>
            <a:ext cx="4224596" cy="1099820"/>
          </a:xfrm>
          <a:prstGeom prst="rect">
            <a:avLst/>
          </a:prstGeom>
        </p:spPr>
        <p:txBody>
          <a:bodyPr lIns="0" tIns="0" rIns="0" bIns="0" rtlCol="0" anchor="t">
            <a:spAutoFit/>
          </a:bodyPr>
          <a:lstStyle/>
          <a:p>
            <a:pPr algn="ctr">
              <a:lnSpc>
                <a:spcPts val="4480"/>
              </a:lnSpc>
              <a:spcBef>
                <a:spcPct val="0"/>
              </a:spcBef>
            </a:pPr>
            <a:r>
              <a:rPr lang="en-US" sz="3200" b="1">
                <a:solidFill>
                  <a:srgbClr val="8C7753"/>
                </a:solidFill>
                <a:latin typeface="Open Sauce Bold"/>
                <a:ea typeface="Open Sauce Bold"/>
                <a:cs typeface="Open Sauce Bold"/>
                <a:sym typeface="Open Sauce Bold"/>
              </a:rPr>
              <a:t>Legal Liability &amp; Financial Risk</a:t>
            </a:r>
          </a:p>
        </p:txBody>
      </p:sp>
      <p:sp>
        <p:nvSpPr>
          <p:cNvPr id="22" name="TextBox 22"/>
          <p:cNvSpPr txBox="1"/>
          <p:nvPr/>
        </p:nvSpPr>
        <p:spPr>
          <a:xfrm>
            <a:off x="7366833" y="2992847"/>
            <a:ext cx="3554335" cy="1099820"/>
          </a:xfrm>
          <a:prstGeom prst="rect">
            <a:avLst/>
          </a:prstGeom>
        </p:spPr>
        <p:txBody>
          <a:bodyPr lIns="0" tIns="0" rIns="0" bIns="0" rtlCol="0" anchor="t">
            <a:spAutoFit/>
          </a:bodyPr>
          <a:lstStyle/>
          <a:p>
            <a:pPr algn="ctr">
              <a:lnSpc>
                <a:spcPts val="4480"/>
              </a:lnSpc>
              <a:spcBef>
                <a:spcPct val="0"/>
              </a:spcBef>
            </a:pPr>
            <a:r>
              <a:rPr lang="en-US" sz="3200" b="1">
                <a:solidFill>
                  <a:srgbClr val="8C7753"/>
                </a:solidFill>
                <a:latin typeface="Open Sauce Bold"/>
                <a:ea typeface="Open Sauce Bold"/>
                <a:cs typeface="Open Sauce Bold"/>
                <a:sym typeface="Open Sauce Bold"/>
              </a:rPr>
              <a:t>Security &amp; System Integrity</a:t>
            </a:r>
          </a:p>
        </p:txBody>
      </p:sp>
      <p:sp>
        <p:nvSpPr>
          <p:cNvPr id="23" name="TextBox 23"/>
          <p:cNvSpPr txBox="1"/>
          <p:nvPr/>
        </p:nvSpPr>
        <p:spPr>
          <a:xfrm>
            <a:off x="13548486" y="2992847"/>
            <a:ext cx="3554335" cy="1099820"/>
          </a:xfrm>
          <a:prstGeom prst="rect">
            <a:avLst/>
          </a:prstGeom>
        </p:spPr>
        <p:txBody>
          <a:bodyPr lIns="0" tIns="0" rIns="0" bIns="0" rtlCol="0" anchor="t">
            <a:spAutoFit/>
          </a:bodyPr>
          <a:lstStyle/>
          <a:p>
            <a:pPr algn="ctr">
              <a:lnSpc>
                <a:spcPts val="4480"/>
              </a:lnSpc>
              <a:spcBef>
                <a:spcPct val="0"/>
              </a:spcBef>
            </a:pPr>
            <a:r>
              <a:rPr lang="en-US" sz="3200" b="1">
                <a:solidFill>
                  <a:srgbClr val="8C7753"/>
                </a:solidFill>
                <a:latin typeface="Open Sauce Bold"/>
                <a:ea typeface="Open Sauce Bold"/>
                <a:cs typeface="Open Sauce Bold"/>
                <a:sym typeface="Open Sauce Bold"/>
              </a:rPr>
              <a:t>User Trust &amp; System Adoption</a:t>
            </a:r>
          </a:p>
        </p:txBody>
      </p:sp>
    </p:spTree>
    <p:extLst>
      <p:ext uri="{BB962C8B-B14F-4D97-AF65-F5344CB8AC3E}">
        <p14:creationId xmlns:p14="http://schemas.microsoft.com/office/powerpoint/2010/main" val="3485900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2534126" y="3125232"/>
            <a:ext cx="12478482" cy="25001"/>
          </a:xfrm>
          <a:prstGeom prst="line">
            <a:avLst/>
          </a:prstGeom>
          <a:ln w="76200" cap="flat">
            <a:solidFill>
              <a:srgbClr val="8C7753"/>
            </a:solidFill>
            <a:prstDash val="solid"/>
            <a:headEnd type="none" w="sm" len="sm"/>
            <a:tailEnd type="arrow" w="med" len="sm"/>
          </a:ln>
        </p:spPr>
      </p:sp>
      <p:sp>
        <p:nvSpPr>
          <p:cNvPr id="3" name="Freeform 3"/>
          <p:cNvSpPr/>
          <p:nvPr/>
        </p:nvSpPr>
        <p:spPr>
          <a:xfrm>
            <a:off x="2066811" y="2168552"/>
            <a:ext cx="800358" cy="932621"/>
          </a:xfrm>
          <a:custGeom>
            <a:avLst/>
            <a:gdLst/>
            <a:ahLst/>
            <a:cxnLst/>
            <a:rect l="l" t="t" r="r" b="b"/>
            <a:pathLst>
              <a:path w="800358" h="932621">
                <a:moveTo>
                  <a:pt x="0" y="0"/>
                </a:moveTo>
                <a:lnTo>
                  <a:pt x="800358" y="0"/>
                </a:lnTo>
                <a:lnTo>
                  <a:pt x="800358" y="932621"/>
                </a:lnTo>
                <a:lnTo>
                  <a:pt x="0" y="93262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5705274" y="2168552"/>
            <a:ext cx="718531" cy="878205"/>
          </a:xfrm>
          <a:custGeom>
            <a:avLst/>
            <a:gdLst/>
            <a:ahLst/>
            <a:cxnLst/>
            <a:rect l="l" t="t" r="r" b="b"/>
            <a:pathLst>
              <a:path w="718531" h="878205">
                <a:moveTo>
                  <a:pt x="0" y="0"/>
                </a:moveTo>
                <a:lnTo>
                  <a:pt x="718531" y="0"/>
                </a:lnTo>
                <a:lnTo>
                  <a:pt x="718531" y="878205"/>
                </a:lnTo>
                <a:lnTo>
                  <a:pt x="0" y="87820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830684" y="2103425"/>
            <a:ext cx="683796" cy="926324"/>
          </a:xfrm>
          <a:custGeom>
            <a:avLst/>
            <a:gdLst/>
            <a:ahLst/>
            <a:cxnLst/>
            <a:rect l="l" t="t" r="r" b="b"/>
            <a:pathLst>
              <a:path w="683796" h="926324">
                <a:moveTo>
                  <a:pt x="0" y="0"/>
                </a:moveTo>
                <a:lnTo>
                  <a:pt x="683796" y="0"/>
                </a:lnTo>
                <a:lnTo>
                  <a:pt x="683796" y="926324"/>
                </a:lnTo>
                <a:lnTo>
                  <a:pt x="0" y="92632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6791294">
            <a:off x="12721627" y="2402746"/>
            <a:ext cx="946830" cy="448166"/>
          </a:xfrm>
          <a:custGeom>
            <a:avLst/>
            <a:gdLst/>
            <a:ahLst/>
            <a:cxnLst/>
            <a:rect l="l" t="t" r="r" b="b"/>
            <a:pathLst>
              <a:path w="946830" h="448166">
                <a:moveTo>
                  <a:pt x="0" y="0"/>
                </a:moveTo>
                <a:lnTo>
                  <a:pt x="946830" y="0"/>
                </a:lnTo>
                <a:lnTo>
                  <a:pt x="946830" y="448166"/>
                </a:lnTo>
                <a:lnTo>
                  <a:pt x="0" y="44816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5012608" y="2662070"/>
            <a:ext cx="926324" cy="926324"/>
          </a:xfrm>
          <a:custGeom>
            <a:avLst/>
            <a:gdLst/>
            <a:ahLst/>
            <a:cxnLst/>
            <a:rect l="l" t="t" r="r" b="b"/>
            <a:pathLst>
              <a:path w="926324" h="926324">
                <a:moveTo>
                  <a:pt x="0" y="0"/>
                </a:moveTo>
                <a:lnTo>
                  <a:pt x="926324" y="0"/>
                </a:lnTo>
                <a:lnTo>
                  <a:pt x="926324" y="926325"/>
                </a:lnTo>
                <a:lnTo>
                  <a:pt x="0" y="92632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530768" y="1009650"/>
            <a:ext cx="12664274" cy="636270"/>
          </a:xfrm>
          <a:prstGeom prst="rect">
            <a:avLst/>
          </a:prstGeom>
        </p:spPr>
        <p:txBody>
          <a:bodyPr lIns="0" tIns="0" rIns="0" bIns="0" rtlCol="0" anchor="t">
            <a:spAutoFit/>
          </a:bodyPr>
          <a:lstStyle/>
          <a:p>
            <a:pPr algn="l">
              <a:lnSpc>
                <a:spcPts val="4800"/>
              </a:lnSpc>
            </a:pPr>
            <a:r>
              <a:rPr lang="en-US" sz="4800" b="1" spc="-288">
                <a:solidFill>
                  <a:srgbClr val="331B0D"/>
                </a:solidFill>
                <a:latin typeface="Open Sauce Bold"/>
                <a:ea typeface="Open Sauce Bold"/>
                <a:cs typeface="Open Sauce Bold"/>
                <a:sym typeface="Open Sauce Bold"/>
              </a:rPr>
              <a:t>What We Did - Ensuring GDPR Compliance</a:t>
            </a:r>
          </a:p>
        </p:txBody>
      </p:sp>
      <p:grpSp>
        <p:nvGrpSpPr>
          <p:cNvPr id="9" name="Group 9"/>
          <p:cNvGrpSpPr/>
          <p:nvPr/>
        </p:nvGrpSpPr>
        <p:grpSpPr>
          <a:xfrm>
            <a:off x="853109" y="8995410"/>
            <a:ext cx="14836161" cy="1049060"/>
            <a:chOff x="0" y="0"/>
            <a:chExt cx="3907466" cy="276296"/>
          </a:xfrm>
        </p:grpSpPr>
        <p:sp>
          <p:nvSpPr>
            <p:cNvPr id="10" name="Freeform 10"/>
            <p:cNvSpPr/>
            <p:nvPr/>
          </p:nvSpPr>
          <p:spPr>
            <a:xfrm>
              <a:off x="0" y="0"/>
              <a:ext cx="3907466" cy="276296"/>
            </a:xfrm>
            <a:custGeom>
              <a:avLst/>
              <a:gdLst/>
              <a:ahLst/>
              <a:cxnLst/>
              <a:rect l="l" t="t" r="r" b="b"/>
              <a:pathLst>
                <a:path w="3907466" h="276296">
                  <a:moveTo>
                    <a:pt x="26613" y="0"/>
                  </a:moveTo>
                  <a:lnTo>
                    <a:pt x="3880853" y="0"/>
                  </a:lnTo>
                  <a:cubicBezTo>
                    <a:pt x="3895551" y="0"/>
                    <a:pt x="3907466" y="11915"/>
                    <a:pt x="3907466" y="26613"/>
                  </a:cubicBezTo>
                  <a:lnTo>
                    <a:pt x="3907466" y="249682"/>
                  </a:lnTo>
                  <a:cubicBezTo>
                    <a:pt x="3907466" y="256741"/>
                    <a:pt x="3904662" y="263510"/>
                    <a:pt x="3899671" y="268501"/>
                  </a:cubicBezTo>
                  <a:cubicBezTo>
                    <a:pt x="3894680" y="273492"/>
                    <a:pt x="3887911" y="276296"/>
                    <a:pt x="3880853" y="276296"/>
                  </a:cubicBezTo>
                  <a:lnTo>
                    <a:pt x="26613" y="276296"/>
                  </a:lnTo>
                  <a:cubicBezTo>
                    <a:pt x="11915" y="276296"/>
                    <a:pt x="0" y="264381"/>
                    <a:pt x="0" y="249682"/>
                  </a:cubicBezTo>
                  <a:lnTo>
                    <a:pt x="0" y="26613"/>
                  </a:lnTo>
                  <a:cubicBezTo>
                    <a:pt x="0" y="11915"/>
                    <a:pt x="11915" y="0"/>
                    <a:pt x="26613" y="0"/>
                  </a:cubicBezTo>
                  <a:close/>
                </a:path>
              </a:pathLst>
            </a:custGeom>
            <a:solidFill>
              <a:srgbClr val="FAF7F0"/>
            </a:solidFill>
            <a:ln w="19050" cap="rnd">
              <a:solidFill>
                <a:srgbClr val="000000"/>
              </a:solidFill>
              <a:prstDash val="solid"/>
              <a:round/>
            </a:ln>
          </p:spPr>
        </p:sp>
        <p:sp>
          <p:nvSpPr>
            <p:cNvPr id="11" name="TextBox 11"/>
            <p:cNvSpPr txBox="1"/>
            <p:nvPr/>
          </p:nvSpPr>
          <p:spPr>
            <a:xfrm>
              <a:off x="0" y="-47625"/>
              <a:ext cx="3907466" cy="323921"/>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2698616" y="8984615"/>
            <a:ext cx="4560684" cy="273685"/>
          </a:xfrm>
          <a:prstGeom prst="rect">
            <a:avLst/>
          </a:prstGeom>
        </p:spPr>
        <p:txBody>
          <a:bodyPr lIns="0" tIns="0" rIns="0" bIns="0" rtlCol="0" anchor="t">
            <a:spAutoFit/>
          </a:bodyPr>
          <a:lstStyle/>
          <a:p>
            <a:pPr algn="r">
              <a:lnSpc>
                <a:spcPts val="2239"/>
              </a:lnSpc>
            </a:pPr>
            <a:r>
              <a:rPr lang="en-US" sz="1599">
                <a:solidFill>
                  <a:srgbClr val="331B0D"/>
                </a:solidFill>
                <a:latin typeface="Open Sauce"/>
                <a:ea typeface="Open Sauce"/>
                <a:cs typeface="Open Sauce"/>
                <a:sym typeface="Open Sauce"/>
              </a:rPr>
              <a:t>7</a:t>
            </a:r>
          </a:p>
        </p:txBody>
      </p:sp>
      <p:sp>
        <p:nvSpPr>
          <p:cNvPr id="13" name="TextBox 13"/>
          <p:cNvSpPr txBox="1"/>
          <p:nvPr/>
        </p:nvSpPr>
        <p:spPr>
          <a:xfrm>
            <a:off x="688157" y="496257"/>
            <a:ext cx="7342398" cy="245745"/>
          </a:xfrm>
          <a:prstGeom prst="rect">
            <a:avLst/>
          </a:prstGeom>
        </p:spPr>
        <p:txBody>
          <a:bodyPr lIns="0" tIns="0" rIns="0" bIns="0" rtlCol="0" anchor="t">
            <a:spAutoFit/>
          </a:bodyPr>
          <a:lstStyle/>
          <a:p>
            <a:pPr algn="just">
              <a:lnSpc>
                <a:spcPts val="1800"/>
              </a:lnSpc>
              <a:spcBef>
                <a:spcPct val="0"/>
              </a:spcBef>
            </a:pPr>
            <a:r>
              <a:rPr lang="en-US" sz="1800" b="1" spc="179">
                <a:solidFill>
                  <a:srgbClr val="8C7753"/>
                </a:solidFill>
                <a:latin typeface="Open Sauce Bold"/>
                <a:ea typeface="Open Sauce Bold"/>
                <a:cs typeface="Open Sauce Bold"/>
                <a:sym typeface="Open Sauce Bold"/>
              </a:rPr>
              <a:t>Concept Development</a:t>
            </a:r>
          </a:p>
        </p:txBody>
      </p:sp>
      <p:sp>
        <p:nvSpPr>
          <p:cNvPr id="14" name="TextBox 14"/>
          <p:cNvSpPr txBox="1"/>
          <p:nvPr/>
        </p:nvSpPr>
        <p:spPr>
          <a:xfrm>
            <a:off x="14411514" y="1057275"/>
            <a:ext cx="2847786" cy="474345"/>
          </a:xfrm>
          <a:prstGeom prst="rect">
            <a:avLst/>
          </a:prstGeom>
        </p:spPr>
        <p:txBody>
          <a:bodyPr lIns="0" tIns="0" rIns="0" bIns="0" rtlCol="0" anchor="t">
            <a:spAutoFit/>
          </a:bodyPr>
          <a:lstStyle/>
          <a:p>
            <a:pPr algn="r">
              <a:lnSpc>
                <a:spcPts val="1800"/>
              </a:lnSpc>
              <a:spcBef>
                <a:spcPct val="0"/>
              </a:spcBef>
            </a:pPr>
            <a:r>
              <a:rPr lang="en-US" sz="1800" b="1" spc="179">
                <a:solidFill>
                  <a:srgbClr val="8C7753"/>
                </a:solidFill>
                <a:latin typeface="Open Sauce Bold"/>
                <a:ea typeface="Open Sauce Bold"/>
                <a:cs typeface="Open Sauce Bold"/>
                <a:sym typeface="Open Sauce Bold"/>
              </a:rPr>
              <a:t>DESTINY-ALLIAH COLOMBO</a:t>
            </a:r>
          </a:p>
        </p:txBody>
      </p:sp>
      <p:sp>
        <p:nvSpPr>
          <p:cNvPr id="15" name="TextBox 15"/>
          <p:cNvSpPr txBox="1"/>
          <p:nvPr/>
        </p:nvSpPr>
        <p:spPr>
          <a:xfrm>
            <a:off x="864132" y="3397109"/>
            <a:ext cx="2967865" cy="40576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331B0D"/>
                </a:solidFill>
                <a:latin typeface="Open Sauce Bold"/>
                <a:ea typeface="Open Sauce Bold"/>
                <a:cs typeface="Open Sauce Bold"/>
                <a:sym typeface="Open Sauce Bold"/>
              </a:rPr>
              <a:t>Data Minimisation</a:t>
            </a:r>
          </a:p>
        </p:txBody>
      </p:sp>
      <p:sp>
        <p:nvSpPr>
          <p:cNvPr id="16" name="TextBox 16"/>
          <p:cNvSpPr txBox="1"/>
          <p:nvPr/>
        </p:nvSpPr>
        <p:spPr>
          <a:xfrm>
            <a:off x="1145410" y="5116808"/>
            <a:ext cx="2730015" cy="1828386"/>
          </a:xfrm>
          <a:prstGeom prst="rect">
            <a:avLst/>
          </a:prstGeom>
        </p:spPr>
        <p:txBody>
          <a:bodyPr lIns="0" tIns="0" rIns="0" bIns="0" rtlCol="0" anchor="t">
            <a:spAutoFit/>
          </a:bodyPr>
          <a:lstStyle/>
          <a:p>
            <a:pPr marL="0" lvl="0" indent="0" algn="l">
              <a:lnSpc>
                <a:spcPts val="2940"/>
              </a:lnSpc>
              <a:spcBef>
                <a:spcPct val="0"/>
              </a:spcBef>
            </a:pPr>
            <a:r>
              <a:rPr lang="en-US" sz="2100">
                <a:solidFill>
                  <a:srgbClr val="331B0D"/>
                </a:solidFill>
                <a:latin typeface="Open Sauce"/>
                <a:ea typeface="Open Sauce"/>
                <a:cs typeface="Open Sauce"/>
                <a:sym typeface="Open Sauce"/>
              </a:rPr>
              <a:t>We </a:t>
            </a:r>
            <a:r>
              <a:rPr lang="en-US" sz="2100" b="1">
                <a:solidFill>
                  <a:srgbClr val="331B0D"/>
                </a:solidFill>
                <a:latin typeface="Open Sauce Bold"/>
                <a:ea typeface="Open Sauce Bold"/>
                <a:cs typeface="Open Sauce Bold"/>
                <a:sym typeface="Open Sauce Bold"/>
              </a:rPr>
              <a:t>limited</a:t>
            </a:r>
            <a:r>
              <a:rPr lang="en-US" sz="2100">
                <a:solidFill>
                  <a:srgbClr val="331B0D"/>
                </a:solidFill>
                <a:latin typeface="Open Sauce"/>
                <a:ea typeface="Open Sauce"/>
                <a:cs typeface="Open Sauce"/>
                <a:sym typeface="Open Sauce"/>
              </a:rPr>
              <a:t> the collection of </a:t>
            </a:r>
            <a:r>
              <a:rPr lang="en-US" sz="2100" b="1">
                <a:solidFill>
                  <a:srgbClr val="331B0D"/>
                </a:solidFill>
                <a:latin typeface="Open Sauce Bold"/>
                <a:ea typeface="Open Sauce Bold"/>
                <a:cs typeface="Open Sauce Bold"/>
                <a:sym typeface="Open Sauce Bold"/>
              </a:rPr>
              <a:t>personal data</a:t>
            </a:r>
            <a:r>
              <a:rPr lang="en-US" sz="2100">
                <a:solidFill>
                  <a:srgbClr val="331B0D"/>
                </a:solidFill>
                <a:latin typeface="Open Sauce"/>
                <a:ea typeface="Open Sauce"/>
                <a:cs typeface="Open Sauce"/>
                <a:sym typeface="Open Sauce"/>
              </a:rPr>
              <a:t> to only what was necessary.</a:t>
            </a:r>
            <a:endParaRPr lang="en-US" sz="2100">
              <a:solidFill>
                <a:srgbClr val="331B0D"/>
              </a:solidFill>
              <a:latin typeface="Open Sauce"/>
              <a:ea typeface="Open Sauce"/>
              <a:cs typeface="Open Sauce"/>
            </a:endParaRPr>
          </a:p>
        </p:txBody>
      </p:sp>
      <p:sp>
        <p:nvSpPr>
          <p:cNvPr id="17" name="TextBox 17"/>
          <p:cNvSpPr txBox="1"/>
          <p:nvPr/>
        </p:nvSpPr>
        <p:spPr>
          <a:xfrm>
            <a:off x="3991791" y="3331220"/>
            <a:ext cx="4386177" cy="824865"/>
          </a:xfrm>
          <a:prstGeom prst="rect">
            <a:avLst/>
          </a:prstGeom>
        </p:spPr>
        <p:txBody>
          <a:bodyPr lIns="0" tIns="0" rIns="0" bIns="0" rtlCol="0" anchor="t">
            <a:spAutoFit/>
          </a:bodyPr>
          <a:lstStyle/>
          <a:p>
            <a:pPr marL="0" lvl="0" indent="0" algn="ctr">
              <a:lnSpc>
                <a:spcPts val="3359"/>
              </a:lnSpc>
              <a:spcBef>
                <a:spcPct val="0"/>
              </a:spcBef>
            </a:pPr>
            <a:r>
              <a:rPr lang="en-US" sz="2400" b="1">
                <a:solidFill>
                  <a:srgbClr val="331B0D"/>
                </a:solidFill>
                <a:latin typeface="Open Sauce Bold"/>
                <a:ea typeface="Open Sauce Bold"/>
                <a:cs typeface="Open Sauce Bold"/>
                <a:sym typeface="Open Sauce Bold"/>
              </a:rPr>
              <a:t>Secure Authentication (OAuth2)</a:t>
            </a:r>
          </a:p>
        </p:txBody>
      </p:sp>
      <p:sp>
        <p:nvSpPr>
          <p:cNvPr id="18" name="TextBox 18"/>
          <p:cNvSpPr txBox="1"/>
          <p:nvPr/>
        </p:nvSpPr>
        <p:spPr>
          <a:xfrm>
            <a:off x="5066049" y="5095875"/>
            <a:ext cx="2890292" cy="2944076"/>
          </a:xfrm>
          <a:prstGeom prst="rect">
            <a:avLst/>
          </a:prstGeom>
        </p:spPr>
        <p:txBody>
          <a:bodyPr lIns="0" tIns="0" rIns="0" bIns="0" rtlCol="0" anchor="t">
            <a:spAutoFit/>
          </a:bodyPr>
          <a:lstStyle/>
          <a:p>
            <a:pPr>
              <a:lnSpc>
                <a:spcPts val="2940"/>
              </a:lnSpc>
              <a:spcBef>
                <a:spcPct val="0"/>
              </a:spcBef>
            </a:pPr>
            <a:r>
              <a:rPr lang="en-US" sz="2100">
                <a:solidFill>
                  <a:srgbClr val="331B0D"/>
                </a:solidFill>
                <a:latin typeface="Open Sauce"/>
                <a:ea typeface="Open Sauce"/>
                <a:cs typeface="Open Sauce"/>
                <a:sym typeface="Open Sauce"/>
              </a:rPr>
              <a:t>We implemented </a:t>
            </a:r>
            <a:r>
              <a:rPr lang="en-US" sz="2100" b="1">
                <a:solidFill>
                  <a:srgbClr val="331B0D"/>
                </a:solidFill>
                <a:latin typeface="Open Sauce Bold"/>
                <a:ea typeface="Open Sauce Bold"/>
                <a:cs typeface="Open Sauce Bold"/>
                <a:sym typeface="Open Sauce Bold"/>
              </a:rPr>
              <a:t>OAuth2-based authentication</a:t>
            </a:r>
            <a:r>
              <a:rPr lang="en-US" sz="2100">
                <a:solidFill>
                  <a:srgbClr val="331B0D"/>
                </a:solidFill>
                <a:latin typeface="Open Sauce"/>
                <a:ea typeface="Open Sauce"/>
                <a:cs typeface="Open Sauce"/>
                <a:sym typeface="Open Sauce"/>
              </a:rPr>
              <a:t>, ensuring access </a:t>
            </a:r>
            <a:r>
              <a:rPr lang="en-US" sz="2100" b="1">
                <a:solidFill>
                  <a:srgbClr val="331B0D"/>
                </a:solidFill>
                <a:latin typeface="Open Sauce Bold"/>
                <a:ea typeface="Open Sauce Bold"/>
                <a:cs typeface="Open Sauce Bold"/>
                <a:sym typeface="Open Sauce Bold"/>
              </a:rPr>
              <a:t>tokens</a:t>
            </a:r>
            <a:r>
              <a:rPr lang="en-US" sz="2100">
                <a:solidFill>
                  <a:srgbClr val="331B0D"/>
                </a:solidFill>
                <a:latin typeface="Open Sauce"/>
                <a:ea typeface="Open Sauce"/>
                <a:cs typeface="Open Sauce"/>
                <a:sym typeface="Open Sauce"/>
              </a:rPr>
              <a:t> were used which reduced the risk of </a:t>
            </a:r>
            <a:r>
              <a:rPr lang="en-US" sz="2100" b="1">
                <a:solidFill>
                  <a:srgbClr val="331B0D"/>
                </a:solidFill>
                <a:latin typeface="Open Sauce Bold"/>
                <a:ea typeface="Open Sauce Bold"/>
                <a:cs typeface="Open Sauce Bold"/>
                <a:sym typeface="Open Sauce Bold"/>
              </a:rPr>
              <a:t>data exposure.</a:t>
            </a:r>
          </a:p>
        </p:txBody>
      </p:sp>
      <p:sp>
        <p:nvSpPr>
          <p:cNvPr id="19" name="TextBox 19"/>
          <p:cNvSpPr txBox="1"/>
          <p:nvPr/>
        </p:nvSpPr>
        <p:spPr>
          <a:xfrm>
            <a:off x="8520843" y="3331220"/>
            <a:ext cx="3106294" cy="824865"/>
          </a:xfrm>
          <a:prstGeom prst="rect">
            <a:avLst/>
          </a:prstGeom>
        </p:spPr>
        <p:txBody>
          <a:bodyPr lIns="0" tIns="0" rIns="0" bIns="0" rtlCol="0" anchor="t">
            <a:spAutoFit/>
          </a:bodyPr>
          <a:lstStyle/>
          <a:p>
            <a:pPr marL="0" lvl="0" indent="0" algn="ctr">
              <a:lnSpc>
                <a:spcPts val="3359"/>
              </a:lnSpc>
              <a:spcBef>
                <a:spcPct val="0"/>
              </a:spcBef>
            </a:pPr>
            <a:r>
              <a:rPr lang="en-US" sz="2400" b="1">
                <a:solidFill>
                  <a:srgbClr val="331B0D"/>
                </a:solidFill>
                <a:latin typeface="Open Sauce Bold"/>
                <a:ea typeface="Open Sauce Bold"/>
                <a:cs typeface="Open Sauce Bold"/>
                <a:sym typeface="Open Sauce Bold"/>
              </a:rPr>
              <a:t>Secure Data Handling</a:t>
            </a:r>
          </a:p>
        </p:txBody>
      </p:sp>
      <p:sp>
        <p:nvSpPr>
          <p:cNvPr id="20" name="TextBox 20"/>
          <p:cNvSpPr txBox="1"/>
          <p:nvPr/>
        </p:nvSpPr>
        <p:spPr>
          <a:xfrm>
            <a:off x="9144000" y="5205223"/>
            <a:ext cx="2782444" cy="2200282"/>
          </a:xfrm>
          <a:prstGeom prst="rect">
            <a:avLst/>
          </a:prstGeom>
        </p:spPr>
        <p:txBody>
          <a:bodyPr lIns="0" tIns="0" rIns="0" bIns="0" rtlCol="0" anchor="t">
            <a:spAutoFit/>
          </a:bodyPr>
          <a:lstStyle/>
          <a:p>
            <a:pPr>
              <a:lnSpc>
                <a:spcPts val="2940"/>
              </a:lnSpc>
              <a:spcBef>
                <a:spcPct val="0"/>
              </a:spcBef>
            </a:pPr>
            <a:r>
              <a:rPr lang="en-US" sz="2100">
                <a:solidFill>
                  <a:srgbClr val="331B0D"/>
                </a:solidFill>
                <a:latin typeface="Open Sauce"/>
                <a:ea typeface="Open Sauce"/>
                <a:cs typeface="Open Sauce"/>
                <a:sym typeface="Open Sauce"/>
              </a:rPr>
              <a:t>All sensitive </a:t>
            </a:r>
            <a:r>
              <a:rPr lang="en-US" sz="2100" b="1">
                <a:solidFill>
                  <a:srgbClr val="331B0D"/>
                </a:solidFill>
                <a:latin typeface="Open Sauce Bold"/>
                <a:ea typeface="Open Sauce Bold"/>
                <a:cs typeface="Open Sauce Bold"/>
                <a:sym typeface="Open Sauce Bold"/>
              </a:rPr>
              <a:t>data</a:t>
            </a:r>
            <a:r>
              <a:rPr lang="en-US" sz="2100">
                <a:solidFill>
                  <a:srgbClr val="331B0D"/>
                </a:solidFill>
                <a:latin typeface="Open Sauce"/>
                <a:ea typeface="Open Sauce"/>
                <a:cs typeface="Open Sauce"/>
                <a:sym typeface="Open Sauce"/>
              </a:rPr>
              <a:t> was transmitted </a:t>
            </a:r>
            <a:r>
              <a:rPr lang="en-US" sz="2100" b="1">
                <a:solidFill>
                  <a:srgbClr val="331B0D"/>
                </a:solidFill>
                <a:latin typeface="Open Sauce Bold"/>
                <a:ea typeface="Open Sauce Bold"/>
                <a:cs typeface="Open Sauce Bold"/>
                <a:sym typeface="Open Sauce Bold"/>
              </a:rPr>
              <a:t>securely</a:t>
            </a:r>
            <a:r>
              <a:rPr lang="en-US" sz="2100">
                <a:solidFill>
                  <a:srgbClr val="331B0D"/>
                </a:solidFill>
                <a:latin typeface="Open Sauce"/>
                <a:ea typeface="Open Sauce"/>
                <a:cs typeface="Open Sauce"/>
                <a:sym typeface="Open Sauce"/>
              </a:rPr>
              <a:t> using </a:t>
            </a:r>
            <a:r>
              <a:rPr lang="en-US" sz="2100" b="1">
                <a:solidFill>
                  <a:srgbClr val="331B0D"/>
                </a:solidFill>
                <a:latin typeface="Open Sauce Bold"/>
                <a:ea typeface="Open Sauce Bold"/>
                <a:cs typeface="Open Sauce Bold"/>
                <a:sym typeface="Open Sauce Bold"/>
              </a:rPr>
              <a:t>HTTPS</a:t>
            </a:r>
            <a:r>
              <a:rPr lang="en-US" sz="2100">
                <a:solidFill>
                  <a:srgbClr val="331B0D"/>
                </a:solidFill>
                <a:latin typeface="Open Sauce"/>
                <a:ea typeface="Open Sauce"/>
                <a:cs typeface="Open Sauce"/>
                <a:sym typeface="Open Sauce"/>
              </a:rPr>
              <a:t> to </a:t>
            </a:r>
            <a:r>
              <a:rPr lang="en-US" sz="2100" b="1">
                <a:solidFill>
                  <a:srgbClr val="331B0D"/>
                </a:solidFill>
                <a:latin typeface="Open Sauce Bold"/>
                <a:ea typeface="Open Sauce Bold"/>
                <a:cs typeface="Open Sauce Bold"/>
                <a:sym typeface="Open Sauce Bold"/>
              </a:rPr>
              <a:t>prevent</a:t>
            </a:r>
            <a:r>
              <a:rPr lang="en-US" sz="2100">
                <a:solidFill>
                  <a:srgbClr val="331B0D"/>
                </a:solidFill>
                <a:latin typeface="Open Sauce"/>
                <a:ea typeface="Open Sauce"/>
                <a:cs typeface="Open Sauce"/>
                <a:sym typeface="Open Sauce"/>
              </a:rPr>
              <a:t> </a:t>
            </a:r>
            <a:r>
              <a:rPr lang="en-US" sz="2100" b="1" err="1">
                <a:solidFill>
                  <a:srgbClr val="331B0D"/>
                </a:solidFill>
                <a:latin typeface="Open Sauce Bold"/>
                <a:ea typeface="Open Sauce Bold"/>
                <a:cs typeface="Open Sauce Bold"/>
                <a:sym typeface="Open Sauce Bold"/>
              </a:rPr>
              <a:t>unauthorised</a:t>
            </a:r>
            <a:r>
              <a:rPr lang="en-US" sz="2100">
                <a:solidFill>
                  <a:srgbClr val="331B0D"/>
                </a:solidFill>
                <a:latin typeface="Open Sauce"/>
                <a:ea typeface="Open Sauce"/>
                <a:cs typeface="Open Sauce"/>
                <a:sym typeface="Open Sauce"/>
              </a:rPr>
              <a:t> access.</a:t>
            </a:r>
          </a:p>
        </p:txBody>
      </p:sp>
      <p:sp>
        <p:nvSpPr>
          <p:cNvPr id="21" name="TextBox 21"/>
          <p:cNvSpPr txBox="1"/>
          <p:nvPr/>
        </p:nvSpPr>
        <p:spPr>
          <a:xfrm>
            <a:off x="11627138" y="3366629"/>
            <a:ext cx="3135808" cy="824865"/>
          </a:xfrm>
          <a:prstGeom prst="rect">
            <a:avLst/>
          </a:prstGeom>
        </p:spPr>
        <p:txBody>
          <a:bodyPr lIns="0" tIns="0" rIns="0" bIns="0" rtlCol="0" anchor="t">
            <a:spAutoFit/>
          </a:bodyPr>
          <a:lstStyle/>
          <a:p>
            <a:pPr marL="0" lvl="0" indent="0" algn="ctr">
              <a:lnSpc>
                <a:spcPts val="3359"/>
              </a:lnSpc>
              <a:spcBef>
                <a:spcPct val="0"/>
              </a:spcBef>
            </a:pPr>
            <a:r>
              <a:rPr lang="en-US" sz="2400" b="1">
                <a:solidFill>
                  <a:srgbClr val="331B0D"/>
                </a:solidFill>
                <a:latin typeface="Open Sauce Bold"/>
                <a:ea typeface="Open Sauce Bold"/>
                <a:cs typeface="Open Sauce Bold"/>
                <a:sym typeface="Open Sauce Bold"/>
              </a:rPr>
              <a:t>Token &amp; Credential Protection</a:t>
            </a:r>
          </a:p>
        </p:txBody>
      </p:sp>
      <p:sp>
        <p:nvSpPr>
          <p:cNvPr id="22" name="TextBox 22"/>
          <p:cNvSpPr txBox="1"/>
          <p:nvPr/>
        </p:nvSpPr>
        <p:spPr>
          <a:xfrm>
            <a:off x="12369991" y="5258047"/>
            <a:ext cx="2764333" cy="1828386"/>
          </a:xfrm>
          <a:prstGeom prst="rect">
            <a:avLst/>
          </a:prstGeom>
        </p:spPr>
        <p:txBody>
          <a:bodyPr lIns="0" tIns="0" rIns="0" bIns="0" rtlCol="0" anchor="t">
            <a:spAutoFit/>
          </a:bodyPr>
          <a:lstStyle/>
          <a:p>
            <a:pPr>
              <a:lnSpc>
                <a:spcPts val="2940"/>
              </a:lnSpc>
              <a:spcBef>
                <a:spcPct val="0"/>
              </a:spcBef>
            </a:pPr>
            <a:r>
              <a:rPr lang="en-US" sz="2100">
                <a:solidFill>
                  <a:srgbClr val="331B0D"/>
                </a:solidFill>
                <a:latin typeface="Open Sauce"/>
                <a:ea typeface="Open Sauce"/>
                <a:cs typeface="Open Sauce"/>
                <a:sym typeface="Open Sauce"/>
              </a:rPr>
              <a:t>We ensured </a:t>
            </a:r>
            <a:r>
              <a:rPr lang="en-US" sz="2100" b="1">
                <a:solidFill>
                  <a:srgbClr val="331B0D"/>
                </a:solidFill>
                <a:latin typeface="Open Sauce Bold"/>
                <a:ea typeface="Open Sauce Bold"/>
                <a:cs typeface="Open Sauce Bold"/>
                <a:sym typeface="Open Sauce Bold"/>
              </a:rPr>
              <a:t>OAuth2</a:t>
            </a:r>
            <a:r>
              <a:rPr lang="en-US" sz="2100">
                <a:solidFill>
                  <a:srgbClr val="331B0D"/>
                </a:solidFill>
                <a:latin typeface="Open Sauce"/>
                <a:ea typeface="Open Sauce"/>
                <a:cs typeface="Open Sauce"/>
                <a:sym typeface="Open Sauce"/>
              </a:rPr>
              <a:t> </a:t>
            </a:r>
            <a:r>
              <a:rPr lang="en-US" sz="2100" b="1">
                <a:solidFill>
                  <a:srgbClr val="331B0D"/>
                </a:solidFill>
                <a:latin typeface="Open Sauce Bold"/>
                <a:ea typeface="Open Sauce Bold"/>
                <a:cs typeface="Open Sauce Bold"/>
                <a:sym typeface="Open Sauce Bold"/>
              </a:rPr>
              <a:t>tokens</a:t>
            </a:r>
            <a:r>
              <a:rPr lang="en-US" sz="2100">
                <a:solidFill>
                  <a:srgbClr val="331B0D"/>
                </a:solidFill>
                <a:latin typeface="Open Sauce"/>
                <a:ea typeface="Open Sauce"/>
                <a:cs typeface="Open Sauce"/>
                <a:sym typeface="Open Sauce"/>
              </a:rPr>
              <a:t> were handled </a:t>
            </a:r>
            <a:r>
              <a:rPr lang="en-US" sz="2100" b="1">
                <a:solidFill>
                  <a:srgbClr val="331B0D"/>
                </a:solidFill>
                <a:latin typeface="Open Sauce Bold"/>
                <a:ea typeface="Open Sauce Bold"/>
                <a:cs typeface="Open Sauce Bold"/>
                <a:sym typeface="Open Sauce Bold"/>
              </a:rPr>
              <a:t>securely</a:t>
            </a:r>
            <a:r>
              <a:rPr lang="en-US" sz="2100" b="1">
                <a:solidFill>
                  <a:srgbClr val="331B0D"/>
                </a:solidFill>
                <a:latin typeface="Open Sauce Bold"/>
                <a:ea typeface="Open Sauce"/>
                <a:cs typeface="Open Sauce"/>
                <a:sym typeface="Open Sauce"/>
              </a:rPr>
              <a:t> which reduced</a:t>
            </a:r>
            <a:r>
              <a:rPr lang="en-US" sz="2100">
                <a:solidFill>
                  <a:srgbClr val="331B0D"/>
                </a:solidFill>
                <a:latin typeface="Open Sauce"/>
                <a:ea typeface="Open Sauce"/>
                <a:cs typeface="Open Sauce"/>
                <a:sym typeface="Open Sauce"/>
              </a:rPr>
              <a:t> the </a:t>
            </a:r>
            <a:r>
              <a:rPr lang="en-US" sz="2100" b="1">
                <a:solidFill>
                  <a:srgbClr val="331B0D"/>
                </a:solidFill>
                <a:latin typeface="Open Sauce Bold"/>
                <a:ea typeface="Open Sauce Bold"/>
                <a:cs typeface="Open Sauce Bold"/>
                <a:sym typeface="Open Sauce Bold"/>
              </a:rPr>
              <a:t>risk</a:t>
            </a:r>
            <a:r>
              <a:rPr lang="en-US" sz="2100">
                <a:solidFill>
                  <a:srgbClr val="331B0D"/>
                </a:solidFill>
                <a:latin typeface="Open Sauce"/>
                <a:ea typeface="Open Sauce"/>
                <a:cs typeface="Open Sauce"/>
                <a:sym typeface="Open Sauce"/>
              </a:rPr>
              <a:t> of stolen tokens</a:t>
            </a:r>
            <a:endParaRPr lang="en-US" sz="2100">
              <a:solidFill>
                <a:srgbClr val="331B0D"/>
              </a:solidFill>
              <a:latin typeface="Open Sauce"/>
              <a:ea typeface="Open Sauce"/>
              <a:cs typeface="Open Sauce"/>
            </a:endParaRPr>
          </a:p>
        </p:txBody>
      </p:sp>
      <p:sp>
        <p:nvSpPr>
          <p:cNvPr id="23" name="TextBox 23"/>
          <p:cNvSpPr txBox="1"/>
          <p:nvPr/>
        </p:nvSpPr>
        <p:spPr>
          <a:xfrm>
            <a:off x="16188594" y="2942600"/>
            <a:ext cx="1678642" cy="82486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331B0D"/>
                </a:solidFill>
                <a:latin typeface="Open Sauce Bold"/>
                <a:ea typeface="Open Sauce Bold"/>
                <a:cs typeface="Open Sauce Bold"/>
                <a:sym typeface="Open Sauce Bold"/>
              </a:rPr>
              <a:t>Fin</a:t>
            </a:r>
            <a:r>
              <a:rPr lang="en-US" sz="2400" b="1" u="none" strike="noStrike">
                <a:solidFill>
                  <a:srgbClr val="331B0D"/>
                </a:solidFill>
                <a:latin typeface="Open Sauce Bold"/>
                <a:ea typeface="Open Sauce Bold"/>
                <a:cs typeface="Open Sauce Bold"/>
                <a:sym typeface="Open Sauce Bold"/>
              </a:rPr>
              <a:t>al Project</a:t>
            </a:r>
          </a:p>
        </p:txBody>
      </p:sp>
      <p:sp>
        <p:nvSpPr>
          <p:cNvPr id="24" name="TextBox 24"/>
          <p:cNvSpPr txBox="1"/>
          <p:nvPr/>
        </p:nvSpPr>
        <p:spPr>
          <a:xfrm>
            <a:off x="1139335" y="4075881"/>
            <a:ext cx="1985997" cy="773738"/>
          </a:xfrm>
          <a:prstGeom prst="rect">
            <a:avLst/>
          </a:prstGeom>
        </p:spPr>
        <p:txBody>
          <a:bodyPr wrap="square" lIns="0" tIns="0" rIns="0" bIns="0" rtlCol="0" anchor="t">
            <a:spAutoFit/>
          </a:bodyPr>
          <a:lstStyle/>
          <a:p>
            <a:pPr algn="ctr">
              <a:lnSpc>
                <a:spcPts val="6598"/>
              </a:lnSpc>
              <a:spcBef>
                <a:spcPct val="0"/>
              </a:spcBef>
            </a:pPr>
            <a:r>
              <a:rPr lang="en-US" sz="4713" b="1">
                <a:solidFill>
                  <a:srgbClr val="8C7753"/>
                </a:solidFill>
                <a:latin typeface="Open Sauce Bold"/>
                <a:ea typeface="Open Sauce Bold"/>
                <a:cs typeface="Open Sauce Bold"/>
                <a:sym typeface="Open Sauce Bold"/>
              </a:rPr>
              <a:t>01</a:t>
            </a:r>
          </a:p>
        </p:txBody>
      </p:sp>
      <p:sp>
        <p:nvSpPr>
          <p:cNvPr id="25" name="TextBox 25"/>
          <p:cNvSpPr txBox="1"/>
          <p:nvPr/>
        </p:nvSpPr>
        <p:spPr>
          <a:xfrm>
            <a:off x="4850462" y="4078572"/>
            <a:ext cx="2392938" cy="772256"/>
          </a:xfrm>
          <a:prstGeom prst="rect">
            <a:avLst/>
          </a:prstGeom>
        </p:spPr>
        <p:txBody>
          <a:bodyPr wrap="square" lIns="0" tIns="0" rIns="0" bIns="0" rtlCol="0" anchor="t">
            <a:spAutoFit/>
          </a:bodyPr>
          <a:lstStyle/>
          <a:p>
            <a:pPr algn="ctr">
              <a:lnSpc>
                <a:spcPts val="6598"/>
              </a:lnSpc>
              <a:spcBef>
                <a:spcPct val="0"/>
              </a:spcBef>
            </a:pPr>
            <a:r>
              <a:rPr lang="en-US" sz="4713" b="1">
                <a:solidFill>
                  <a:srgbClr val="8C7753"/>
                </a:solidFill>
                <a:latin typeface="Open Sauce Bold"/>
                <a:ea typeface="Open Sauce Bold"/>
                <a:cs typeface="Open Sauce Bold"/>
                <a:sym typeface="Open Sauce Bold"/>
              </a:rPr>
              <a:t>02</a:t>
            </a:r>
          </a:p>
        </p:txBody>
      </p:sp>
      <p:sp>
        <p:nvSpPr>
          <p:cNvPr id="26" name="TextBox 26"/>
          <p:cNvSpPr txBox="1"/>
          <p:nvPr/>
        </p:nvSpPr>
        <p:spPr>
          <a:xfrm>
            <a:off x="8861025" y="4079886"/>
            <a:ext cx="2440710" cy="791963"/>
          </a:xfrm>
          <a:prstGeom prst="rect">
            <a:avLst/>
          </a:prstGeom>
        </p:spPr>
        <p:txBody>
          <a:bodyPr wrap="square" lIns="0" tIns="0" rIns="0" bIns="0" rtlCol="0" anchor="t">
            <a:spAutoFit/>
          </a:bodyPr>
          <a:lstStyle/>
          <a:p>
            <a:pPr algn="ctr">
              <a:lnSpc>
                <a:spcPts val="6598"/>
              </a:lnSpc>
              <a:spcBef>
                <a:spcPct val="0"/>
              </a:spcBef>
            </a:pPr>
            <a:r>
              <a:rPr lang="en-US" sz="4713" b="1">
                <a:solidFill>
                  <a:srgbClr val="8C7753"/>
                </a:solidFill>
                <a:latin typeface="Open Sauce Bold"/>
                <a:ea typeface="Open Sauce Bold"/>
                <a:cs typeface="Open Sauce Bold"/>
                <a:sym typeface="Open Sauce Bold"/>
              </a:rPr>
              <a:t>03</a:t>
            </a:r>
          </a:p>
        </p:txBody>
      </p:sp>
      <p:sp>
        <p:nvSpPr>
          <p:cNvPr id="27" name="TextBox 27"/>
          <p:cNvSpPr txBox="1"/>
          <p:nvPr/>
        </p:nvSpPr>
        <p:spPr>
          <a:xfrm>
            <a:off x="12191739" y="4099592"/>
            <a:ext cx="2440146" cy="773738"/>
          </a:xfrm>
          <a:prstGeom prst="rect">
            <a:avLst/>
          </a:prstGeom>
        </p:spPr>
        <p:txBody>
          <a:bodyPr wrap="square" lIns="0" tIns="0" rIns="0" bIns="0" rtlCol="0" anchor="t">
            <a:spAutoFit/>
          </a:bodyPr>
          <a:lstStyle/>
          <a:p>
            <a:pPr algn="ctr">
              <a:lnSpc>
                <a:spcPts val="6598"/>
              </a:lnSpc>
              <a:spcBef>
                <a:spcPct val="0"/>
              </a:spcBef>
            </a:pPr>
            <a:r>
              <a:rPr lang="en-US" sz="4713" b="1">
                <a:solidFill>
                  <a:srgbClr val="8C7753"/>
                </a:solidFill>
                <a:latin typeface="Open Sauce Bold"/>
                <a:ea typeface="Open Sauce Bold"/>
                <a:cs typeface="Open Sauce Bold"/>
                <a:sym typeface="Open Sauce Bold"/>
              </a:rPr>
              <a:t>04</a:t>
            </a:r>
          </a:p>
        </p:txBody>
      </p:sp>
      <p:sp>
        <p:nvSpPr>
          <p:cNvPr id="28" name="Freeform 28"/>
          <p:cNvSpPr/>
          <p:nvPr/>
        </p:nvSpPr>
        <p:spPr>
          <a:xfrm>
            <a:off x="1348279" y="9202033"/>
            <a:ext cx="520212" cy="635815"/>
          </a:xfrm>
          <a:custGeom>
            <a:avLst/>
            <a:gdLst/>
            <a:ahLst/>
            <a:cxnLst/>
            <a:rect l="l" t="t" r="r" b="b"/>
            <a:pathLst>
              <a:path w="520212" h="635815">
                <a:moveTo>
                  <a:pt x="0" y="0"/>
                </a:moveTo>
                <a:lnTo>
                  <a:pt x="520212" y="0"/>
                </a:lnTo>
                <a:lnTo>
                  <a:pt x="520212" y="635814"/>
                </a:lnTo>
                <a:lnTo>
                  <a:pt x="0" y="63581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9" name="TextBox 29"/>
          <p:cNvSpPr txBox="1"/>
          <p:nvPr/>
        </p:nvSpPr>
        <p:spPr>
          <a:xfrm>
            <a:off x="2466990" y="8919210"/>
            <a:ext cx="11285167" cy="737235"/>
          </a:xfrm>
          <a:prstGeom prst="rect">
            <a:avLst/>
          </a:prstGeom>
        </p:spPr>
        <p:txBody>
          <a:bodyPr lIns="0" tIns="0" rIns="0" bIns="0" rtlCol="0" anchor="t">
            <a:spAutoFit/>
          </a:bodyPr>
          <a:lstStyle/>
          <a:p>
            <a:pPr algn="l">
              <a:lnSpc>
                <a:spcPts val="2940"/>
              </a:lnSpc>
            </a:pPr>
            <a:endParaRPr/>
          </a:p>
          <a:p>
            <a:pPr marL="0" lvl="0" indent="0" algn="l">
              <a:lnSpc>
                <a:spcPts val="2940"/>
              </a:lnSpc>
              <a:spcBef>
                <a:spcPct val="0"/>
              </a:spcBef>
            </a:pPr>
            <a:r>
              <a:rPr lang="en-US" sz="2100">
                <a:solidFill>
                  <a:srgbClr val="331B0D"/>
                </a:solidFill>
                <a:latin typeface="Open Sauce"/>
                <a:ea typeface="Open Sauce"/>
                <a:cs typeface="Open Sauce"/>
                <a:sym typeface="Open Sauce"/>
              </a:rPr>
              <a:t>We integrated GDPR requirements into our system architecture and security decisions</a:t>
            </a:r>
          </a:p>
        </p:txBody>
      </p:sp>
    </p:spTree>
    <p:extLst>
      <p:ext uri="{BB962C8B-B14F-4D97-AF65-F5344CB8AC3E}">
        <p14:creationId xmlns:p14="http://schemas.microsoft.com/office/powerpoint/2010/main" val="31366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0"/>
        </a:solidFill>
        <a:effectLst/>
      </p:bgPr>
    </p:bg>
    <p:spTree>
      <p:nvGrpSpPr>
        <p:cNvPr id="1" name=""/>
        <p:cNvGrpSpPr/>
        <p:nvPr/>
      </p:nvGrpSpPr>
      <p:grpSpPr>
        <a:xfrm>
          <a:off x="0" y="0"/>
          <a:ext cx="0" cy="0"/>
          <a:chOff x="0" y="0"/>
          <a:chExt cx="0" cy="0"/>
        </a:xfrm>
      </p:grpSpPr>
      <p:grpSp>
        <p:nvGrpSpPr>
          <p:cNvPr id="2" name="Group 2"/>
          <p:cNvGrpSpPr/>
          <p:nvPr/>
        </p:nvGrpSpPr>
        <p:grpSpPr>
          <a:xfrm>
            <a:off x="728264" y="5758280"/>
            <a:ext cx="12205330" cy="4078398"/>
            <a:chOff x="0" y="-47625"/>
            <a:chExt cx="3214573" cy="1074146"/>
          </a:xfrm>
        </p:grpSpPr>
        <p:sp>
          <p:nvSpPr>
            <p:cNvPr id="3" name="Freeform 3"/>
            <p:cNvSpPr/>
            <p:nvPr/>
          </p:nvSpPr>
          <p:spPr>
            <a:xfrm>
              <a:off x="0" y="0"/>
              <a:ext cx="3214573" cy="1026521"/>
            </a:xfrm>
            <a:custGeom>
              <a:avLst/>
              <a:gdLst/>
              <a:ahLst/>
              <a:cxnLst/>
              <a:rect l="l" t="t" r="r" b="b"/>
              <a:pathLst>
                <a:path w="3214573" h="1026521">
                  <a:moveTo>
                    <a:pt x="32350" y="0"/>
                  </a:moveTo>
                  <a:lnTo>
                    <a:pt x="3182223" y="0"/>
                  </a:lnTo>
                  <a:cubicBezTo>
                    <a:pt x="3200089" y="0"/>
                    <a:pt x="3214573" y="14483"/>
                    <a:pt x="3214573" y="32350"/>
                  </a:cubicBezTo>
                  <a:lnTo>
                    <a:pt x="3214573" y="994171"/>
                  </a:lnTo>
                  <a:cubicBezTo>
                    <a:pt x="3214573" y="1012037"/>
                    <a:pt x="3200089" y="1026521"/>
                    <a:pt x="3182223" y="1026521"/>
                  </a:cubicBezTo>
                  <a:lnTo>
                    <a:pt x="32350" y="1026521"/>
                  </a:lnTo>
                  <a:cubicBezTo>
                    <a:pt x="14483" y="1026521"/>
                    <a:pt x="0" y="1012037"/>
                    <a:pt x="0" y="994171"/>
                  </a:cubicBezTo>
                  <a:lnTo>
                    <a:pt x="0" y="32350"/>
                  </a:lnTo>
                  <a:cubicBezTo>
                    <a:pt x="0" y="14483"/>
                    <a:pt x="14483" y="0"/>
                    <a:pt x="32350" y="0"/>
                  </a:cubicBezTo>
                  <a:close/>
                </a:path>
              </a:pathLst>
            </a:custGeom>
            <a:solidFill>
              <a:srgbClr val="FAF7F0"/>
            </a:solidFill>
            <a:ln w="19050" cap="rnd">
              <a:solidFill>
                <a:srgbClr val="000000"/>
              </a:solidFill>
              <a:prstDash val="solid"/>
              <a:round/>
            </a:ln>
          </p:spPr>
        </p:sp>
        <p:sp>
          <p:nvSpPr>
            <p:cNvPr id="4" name="TextBox 4"/>
            <p:cNvSpPr txBox="1"/>
            <p:nvPr/>
          </p:nvSpPr>
          <p:spPr>
            <a:xfrm>
              <a:off x="0" y="-47625"/>
              <a:ext cx="3214573" cy="1074146"/>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1028700" y="6096954"/>
            <a:ext cx="625998" cy="659576"/>
          </a:xfrm>
          <a:custGeom>
            <a:avLst/>
            <a:gdLst/>
            <a:ahLst/>
            <a:cxnLst/>
            <a:rect l="l" t="t" r="r" b="b"/>
            <a:pathLst>
              <a:path w="625998" h="659576">
                <a:moveTo>
                  <a:pt x="0" y="0"/>
                </a:moveTo>
                <a:lnTo>
                  <a:pt x="625998" y="0"/>
                </a:lnTo>
                <a:lnTo>
                  <a:pt x="625998" y="659576"/>
                </a:lnTo>
                <a:lnTo>
                  <a:pt x="0" y="65957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4474315" y="3086185"/>
            <a:ext cx="1888989" cy="2057315"/>
          </a:xfrm>
          <a:custGeom>
            <a:avLst/>
            <a:gdLst/>
            <a:ahLst/>
            <a:cxnLst/>
            <a:rect l="l" t="t" r="r" b="b"/>
            <a:pathLst>
              <a:path w="1888989" h="2057315">
                <a:moveTo>
                  <a:pt x="0" y="0"/>
                </a:moveTo>
                <a:lnTo>
                  <a:pt x="1888990" y="0"/>
                </a:lnTo>
                <a:lnTo>
                  <a:pt x="1888990" y="2057315"/>
                </a:lnTo>
                <a:lnTo>
                  <a:pt x="0" y="205731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728264" y="1908184"/>
            <a:ext cx="11096942" cy="3897572"/>
            <a:chOff x="0" y="0"/>
            <a:chExt cx="2922651" cy="1026521"/>
          </a:xfrm>
        </p:grpSpPr>
        <p:sp>
          <p:nvSpPr>
            <p:cNvPr id="8" name="Freeform 8"/>
            <p:cNvSpPr/>
            <p:nvPr/>
          </p:nvSpPr>
          <p:spPr>
            <a:xfrm>
              <a:off x="0" y="0"/>
              <a:ext cx="2922651" cy="1026521"/>
            </a:xfrm>
            <a:custGeom>
              <a:avLst/>
              <a:gdLst/>
              <a:ahLst/>
              <a:cxnLst/>
              <a:rect l="l" t="t" r="r" b="b"/>
              <a:pathLst>
                <a:path w="2922651" h="1026521">
                  <a:moveTo>
                    <a:pt x="35581" y="0"/>
                  </a:moveTo>
                  <a:lnTo>
                    <a:pt x="2887071" y="0"/>
                  </a:lnTo>
                  <a:cubicBezTo>
                    <a:pt x="2896507" y="0"/>
                    <a:pt x="2905557" y="3749"/>
                    <a:pt x="2912230" y="10421"/>
                  </a:cubicBezTo>
                  <a:cubicBezTo>
                    <a:pt x="2918903" y="17094"/>
                    <a:pt x="2922651" y="26144"/>
                    <a:pt x="2922651" y="35581"/>
                  </a:cubicBezTo>
                  <a:lnTo>
                    <a:pt x="2922651" y="990940"/>
                  </a:lnTo>
                  <a:cubicBezTo>
                    <a:pt x="2922651" y="1000377"/>
                    <a:pt x="2918903" y="1009427"/>
                    <a:pt x="2912230" y="1016100"/>
                  </a:cubicBezTo>
                  <a:cubicBezTo>
                    <a:pt x="2905557" y="1022772"/>
                    <a:pt x="2896507" y="1026521"/>
                    <a:pt x="2887071" y="1026521"/>
                  </a:cubicBezTo>
                  <a:lnTo>
                    <a:pt x="35581" y="1026521"/>
                  </a:lnTo>
                  <a:cubicBezTo>
                    <a:pt x="15930" y="1026521"/>
                    <a:pt x="0" y="1010591"/>
                    <a:pt x="0" y="990940"/>
                  </a:cubicBezTo>
                  <a:lnTo>
                    <a:pt x="0" y="35581"/>
                  </a:lnTo>
                  <a:cubicBezTo>
                    <a:pt x="0" y="26144"/>
                    <a:pt x="3749" y="17094"/>
                    <a:pt x="10421" y="10421"/>
                  </a:cubicBezTo>
                  <a:cubicBezTo>
                    <a:pt x="17094" y="3749"/>
                    <a:pt x="26144" y="0"/>
                    <a:pt x="35581" y="0"/>
                  </a:cubicBezTo>
                  <a:close/>
                </a:path>
              </a:pathLst>
            </a:custGeom>
            <a:solidFill>
              <a:srgbClr val="FAF7F0"/>
            </a:solidFill>
            <a:ln w="19050" cap="rnd">
              <a:solidFill>
                <a:srgbClr val="000000"/>
              </a:solidFill>
              <a:prstDash val="solid"/>
              <a:round/>
            </a:ln>
          </p:spPr>
        </p:sp>
        <p:sp>
          <p:nvSpPr>
            <p:cNvPr id="9" name="TextBox 9"/>
            <p:cNvSpPr txBox="1"/>
            <p:nvPr/>
          </p:nvSpPr>
          <p:spPr>
            <a:xfrm>
              <a:off x="0" y="-47625"/>
              <a:ext cx="2922651" cy="1074146"/>
            </a:xfrm>
            <a:prstGeom prst="rect">
              <a:avLst/>
            </a:prstGeom>
          </p:spPr>
          <p:txBody>
            <a:bodyPr lIns="50800" tIns="50800" rIns="50800" bIns="50800" rtlCol="0" anchor="ctr"/>
            <a:lstStyle/>
            <a:p>
              <a:pPr algn="ctr">
                <a:lnSpc>
                  <a:spcPts val="3359"/>
                </a:lnSpc>
              </a:pPr>
              <a:endParaRPr/>
            </a:p>
          </p:txBody>
        </p:sp>
      </p:grpSp>
      <p:sp>
        <p:nvSpPr>
          <p:cNvPr id="10" name="TextBox 10"/>
          <p:cNvSpPr txBox="1"/>
          <p:nvPr/>
        </p:nvSpPr>
        <p:spPr>
          <a:xfrm>
            <a:off x="2040027" y="2543623"/>
            <a:ext cx="9785179" cy="4059766"/>
          </a:xfrm>
          <a:prstGeom prst="rect">
            <a:avLst/>
          </a:prstGeom>
        </p:spPr>
        <p:txBody>
          <a:bodyPr lIns="0" tIns="0" rIns="0" bIns="0" rtlCol="0" anchor="t">
            <a:spAutoFit/>
          </a:bodyPr>
          <a:lstStyle/>
          <a:p>
            <a:pPr>
              <a:lnSpc>
                <a:spcPts val="2940"/>
              </a:lnSpc>
            </a:pPr>
            <a:r>
              <a:rPr lang="en-US" sz="2100">
                <a:solidFill>
                  <a:srgbClr val="331B0D"/>
                </a:solidFill>
                <a:latin typeface="Open Sauce"/>
                <a:ea typeface="Open Sauce"/>
                <a:cs typeface="Open Sauce"/>
                <a:sym typeface="Open Sauce"/>
              </a:rPr>
              <a:t>Under UK GDPR, users have the “right to be forgotten”, which means that they should be able to request to delete of their personal data.</a:t>
            </a:r>
          </a:p>
          <a:p>
            <a:pPr algn="l">
              <a:lnSpc>
                <a:spcPts val="2940"/>
              </a:lnSpc>
            </a:pPr>
            <a:endParaRPr lang="en-US" sz="2100">
              <a:solidFill>
                <a:srgbClr val="331B0D"/>
              </a:solidFill>
              <a:latin typeface="Open Sauce"/>
              <a:ea typeface="Open Sauce"/>
              <a:cs typeface="Open Sauce"/>
              <a:sym typeface="Open Sauce"/>
            </a:endParaRPr>
          </a:p>
          <a:p>
            <a:pPr>
              <a:lnSpc>
                <a:spcPts val="2940"/>
              </a:lnSpc>
            </a:pPr>
            <a:r>
              <a:rPr lang="en-US" sz="2100">
                <a:solidFill>
                  <a:srgbClr val="331B0D"/>
                </a:solidFill>
                <a:latin typeface="Open Sauce"/>
                <a:ea typeface="Open Sauce"/>
                <a:cs typeface="Open Sauce"/>
                <a:sym typeface="Open Sauce"/>
              </a:rPr>
              <a:t>Our system currently does not provide a direct feature for users to delete </a:t>
            </a:r>
            <a:endParaRPr lang="en-US" sz="2100">
              <a:solidFill>
                <a:srgbClr val="331B0D"/>
              </a:solidFill>
              <a:latin typeface="Open Sauce"/>
              <a:ea typeface="Open Sauce"/>
              <a:cs typeface="Open Sauce"/>
            </a:endParaRPr>
          </a:p>
          <a:p>
            <a:pPr>
              <a:lnSpc>
                <a:spcPts val="2940"/>
              </a:lnSpc>
            </a:pPr>
            <a:r>
              <a:rPr lang="en-US" sz="2100">
                <a:solidFill>
                  <a:srgbClr val="331B0D"/>
                </a:solidFill>
                <a:latin typeface="Open Sauce"/>
                <a:ea typeface="Open Sauce"/>
                <a:cs typeface="Open Sauce"/>
                <a:sym typeface="Open Sauce"/>
              </a:rPr>
              <a:t>their account and personal data.</a:t>
            </a:r>
          </a:p>
          <a:p>
            <a:pPr>
              <a:lnSpc>
                <a:spcPts val="2940"/>
              </a:lnSpc>
            </a:pPr>
            <a:r>
              <a:rPr lang="en-US" sz="2100">
                <a:solidFill>
                  <a:srgbClr val="331B0D"/>
                </a:solidFill>
                <a:latin typeface="Open Sauce"/>
                <a:ea typeface="Open Sauce"/>
                <a:cs typeface="Open Sauce"/>
                <a:sym typeface="Open Sauce"/>
              </a:rPr>
              <a:t>This feature would allow users to permanently remove their data, </a:t>
            </a:r>
          </a:p>
          <a:p>
            <a:pPr>
              <a:lnSpc>
                <a:spcPts val="2940"/>
              </a:lnSpc>
            </a:pPr>
            <a:r>
              <a:rPr lang="en-US" sz="2100">
                <a:solidFill>
                  <a:srgbClr val="331B0D"/>
                </a:solidFill>
                <a:latin typeface="Open Sauce"/>
                <a:ea typeface="Open Sauce"/>
                <a:cs typeface="Open Sauce"/>
                <a:sym typeface="Open Sauce"/>
              </a:rPr>
              <a:t>improving GDPR compliance and giving users more control on their data.</a:t>
            </a:r>
            <a:endParaRPr lang="en-US" sz="2100">
              <a:solidFill>
                <a:srgbClr val="331B0D"/>
              </a:solidFill>
              <a:latin typeface="Open Sauce"/>
              <a:ea typeface="Open Sauce"/>
              <a:cs typeface="Open Sauce"/>
            </a:endParaRPr>
          </a:p>
          <a:p>
            <a:pPr algn="l">
              <a:lnSpc>
                <a:spcPts val="2940"/>
              </a:lnSpc>
            </a:pPr>
            <a:endParaRPr lang="en-US" sz="2100">
              <a:solidFill>
                <a:srgbClr val="331B0D"/>
              </a:solidFill>
              <a:latin typeface="Open Sauce"/>
              <a:ea typeface="Open Sauce"/>
              <a:cs typeface="Open Sauce"/>
              <a:sym typeface="Open Sauce"/>
            </a:endParaRPr>
          </a:p>
          <a:p>
            <a:pPr algn="l">
              <a:lnSpc>
                <a:spcPts val="2940"/>
              </a:lnSpc>
            </a:pPr>
            <a:endParaRPr lang="en-US" sz="2100">
              <a:solidFill>
                <a:srgbClr val="331B0D"/>
              </a:solidFill>
              <a:latin typeface="Open Sauce"/>
              <a:ea typeface="Open Sauce"/>
              <a:cs typeface="Open Sauce"/>
              <a:sym typeface="Open Sauce"/>
            </a:endParaRPr>
          </a:p>
          <a:p>
            <a:pPr algn="l">
              <a:lnSpc>
                <a:spcPts val="2940"/>
              </a:lnSpc>
            </a:pPr>
            <a:endParaRPr lang="en-US" sz="2100">
              <a:solidFill>
                <a:srgbClr val="331B0D"/>
              </a:solidFill>
              <a:latin typeface="Open Sauce"/>
              <a:ea typeface="Open Sauce"/>
              <a:cs typeface="Open Sauce"/>
              <a:sym typeface="Open Sauce"/>
            </a:endParaRPr>
          </a:p>
          <a:p>
            <a:pPr algn="l">
              <a:lnSpc>
                <a:spcPts val="2940"/>
              </a:lnSpc>
              <a:spcBef>
                <a:spcPct val="0"/>
              </a:spcBef>
            </a:pPr>
            <a:endParaRPr lang="en-US" sz="2100">
              <a:solidFill>
                <a:srgbClr val="331B0D"/>
              </a:solidFill>
              <a:latin typeface="Open Sauce"/>
              <a:ea typeface="Open Sauce"/>
              <a:cs typeface="Open Sauce"/>
              <a:sym typeface="Open Sauce"/>
            </a:endParaRPr>
          </a:p>
        </p:txBody>
      </p:sp>
      <p:sp>
        <p:nvSpPr>
          <p:cNvPr id="11" name="Freeform 11"/>
          <p:cNvSpPr/>
          <p:nvPr/>
        </p:nvSpPr>
        <p:spPr>
          <a:xfrm>
            <a:off x="1050719" y="2155721"/>
            <a:ext cx="603979" cy="730084"/>
          </a:xfrm>
          <a:custGeom>
            <a:avLst/>
            <a:gdLst/>
            <a:ahLst/>
            <a:cxnLst/>
            <a:rect l="l" t="t" r="r" b="b"/>
            <a:pathLst>
              <a:path w="603979" h="730084">
                <a:moveTo>
                  <a:pt x="0" y="0"/>
                </a:moveTo>
                <a:lnTo>
                  <a:pt x="603979" y="0"/>
                </a:lnTo>
                <a:lnTo>
                  <a:pt x="603979" y="730084"/>
                </a:lnTo>
                <a:lnTo>
                  <a:pt x="0" y="730084"/>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a:off x="1427829" y="6756530"/>
            <a:ext cx="5085946" cy="2882175"/>
            <a:chOff x="0" y="0"/>
            <a:chExt cx="1339509" cy="759091"/>
          </a:xfrm>
        </p:grpSpPr>
        <p:sp>
          <p:nvSpPr>
            <p:cNvPr id="13" name="Freeform 13"/>
            <p:cNvSpPr/>
            <p:nvPr/>
          </p:nvSpPr>
          <p:spPr>
            <a:xfrm>
              <a:off x="0" y="0"/>
              <a:ext cx="1339509" cy="759091"/>
            </a:xfrm>
            <a:custGeom>
              <a:avLst/>
              <a:gdLst/>
              <a:ahLst/>
              <a:cxnLst/>
              <a:rect l="l" t="t" r="r" b="b"/>
              <a:pathLst>
                <a:path w="1339509" h="759091">
                  <a:moveTo>
                    <a:pt x="77633" y="0"/>
                  </a:moveTo>
                  <a:lnTo>
                    <a:pt x="1261875" y="0"/>
                  </a:lnTo>
                  <a:cubicBezTo>
                    <a:pt x="1304751" y="0"/>
                    <a:pt x="1339509" y="34758"/>
                    <a:pt x="1339509" y="77633"/>
                  </a:cubicBezTo>
                  <a:lnTo>
                    <a:pt x="1339509" y="681458"/>
                  </a:lnTo>
                  <a:cubicBezTo>
                    <a:pt x="1339509" y="724334"/>
                    <a:pt x="1304751" y="759091"/>
                    <a:pt x="1261875" y="759091"/>
                  </a:cubicBezTo>
                  <a:lnTo>
                    <a:pt x="77633" y="759091"/>
                  </a:lnTo>
                  <a:cubicBezTo>
                    <a:pt x="34758" y="759091"/>
                    <a:pt x="0" y="724334"/>
                    <a:pt x="0" y="681458"/>
                  </a:cubicBezTo>
                  <a:lnTo>
                    <a:pt x="0" y="77633"/>
                  </a:lnTo>
                  <a:cubicBezTo>
                    <a:pt x="0" y="34758"/>
                    <a:pt x="34758" y="0"/>
                    <a:pt x="77633" y="0"/>
                  </a:cubicBezTo>
                  <a:close/>
                </a:path>
              </a:pathLst>
            </a:custGeom>
            <a:solidFill>
              <a:srgbClr val="FAF7F0"/>
            </a:solidFill>
            <a:ln w="19050" cap="rnd">
              <a:solidFill>
                <a:srgbClr val="000000"/>
              </a:solidFill>
              <a:prstDash val="solid"/>
              <a:round/>
            </a:ln>
          </p:spPr>
        </p:sp>
        <p:sp>
          <p:nvSpPr>
            <p:cNvPr id="14" name="TextBox 14"/>
            <p:cNvSpPr txBox="1"/>
            <p:nvPr/>
          </p:nvSpPr>
          <p:spPr>
            <a:xfrm>
              <a:off x="0" y="-47625"/>
              <a:ext cx="1339509" cy="806716"/>
            </a:xfrm>
            <a:prstGeom prst="rect">
              <a:avLst/>
            </a:prstGeom>
          </p:spPr>
          <p:txBody>
            <a:bodyPr lIns="50800" tIns="50800" rIns="50800" bIns="50800" rtlCol="0" anchor="ctr"/>
            <a:lstStyle/>
            <a:p>
              <a:pPr algn="ctr">
                <a:lnSpc>
                  <a:spcPts val="3359"/>
                </a:lnSpc>
              </a:pPr>
              <a:endParaRPr/>
            </a:p>
          </p:txBody>
        </p:sp>
      </p:grpSp>
      <p:sp>
        <p:nvSpPr>
          <p:cNvPr id="15" name="Freeform 15"/>
          <p:cNvSpPr/>
          <p:nvPr/>
        </p:nvSpPr>
        <p:spPr>
          <a:xfrm>
            <a:off x="1654698" y="6979862"/>
            <a:ext cx="605167" cy="609600"/>
          </a:xfrm>
          <a:custGeom>
            <a:avLst/>
            <a:gdLst/>
            <a:ahLst/>
            <a:cxnLst/>
            <a:rect l="l" t="t" r="r" b="b"/>
            <a:pathLst>
              <a:path w="605167" h="609600">
                <a:moveTo>
                  <a:pt x="0" y="0"/>
                </a:moveTo>
                <a:lnTo>
                  <a:pt x="605166" y="0"/>
                </a:lnTo>
                <a:lnTo>
                  <a:pt x="605166" y="609600"/>
                </a:lnTo>
                <a:lnTo>
                  <a:pt x="0" y="60960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6" name="Group 16"/>
          <p:cNvGrpSpPr/>
          <p:nvPr/>
        </p:nvGrpSpPr>
        <p:grpSpPr>
          <a:xfrm>
            <a:off x="6830929" y="6756530"/>
            <a:ext cx="5085946" cy="2882175"/>
            <a:chOff x="0" y="0"/>
            <a:chExt cx="1339509" cy="759091"/>
          </a:xfrm>
        </p:grpSpPr>
        <p:sp>
          <p:nvSpPr>
            <p:cNvPr id="17" name="Freeform 17"/>
            <p:cNvSpPr/>
            <p:nvPr/>
          </p:nvSpPr>
          <p:spPr>
            <a:xfrm>
              <a:off x="0" y="0"/>
              <a:ext cx="1339509" cy="759091"/>
            </a:xfrm>
            <a:custGeom>
              <a:avLst/>
              <a:gdLst/>
              <a:ahLst/>
              <a:cxnLst/>
              <a:rect l="l" t="t" r="r" b="b"/>
              <a:pathLst>
                <a:path w="1339509" h="759091">
                  <a:moveTo>
                    <a:pt x="77633" y="0"/>
                  </a:moveTo>
                  <a:lnTo>
                    <a:pt x="1261875" y="0"/>
                  </a:lnTo>
                  <a:cubicBezTo>
                    <a:pt x="1304751" y="0"/>
                    <a:pt x="1339509" y="34758"/>
                    <a:pt x="1339509" y="77633"/>
                  </a:cubicBezTo>
                  <a:lnTo>
                    <a:pt x="1339509" y="681458"/>
                  </a:lnTo>
                  <a:cubicBezTo>
                    <a:pt x="1339509" y="724334"/>
                    <a:pt x="1304751" y="759091"/>
                    <a:pt x="1261875" y="759091"/>
                  </a:cubicBezTo>
                  <a:lnTo>
                    <a:pt x="77633" y="759091"/>
                  </a:lnTo>
                  <a:cubicBezTo>
                    <a:pt x="34758" y="759091"/>
                    <a:pt x="0" y="724334"/>
                    <a:pt x="0" y="681458"/>
                  </a:cubicBezTo>
                  <a:lnTo>
                    <a:pt x="0" y="77633"/>
                  </a:lnTo>
                  <a:cubicBezTo>
                    <a:pt x="0" y="34758"/>
                    <a:pt x="34758" y="0"/>
                    <a:pt x="77633" y="0"/>
                  </a:cubicBezTo>
                  <a:close/>
                </a:path>
              </a:pathLst>
            </a:custGeom>
            <a:solidFill>
              <a:srgbClr val="FAF7F0"/>
            </a:solidFill>
            <a:ln w="19050" cap="rnd">
              <a:solidFill>
                <a:srgbClr val="000000"/>
              </a:solidFill>
              <a:prstDash val="solid"/>
              <a:round/>
            </a:ln>
          </p:spPr>
        </p:sp>
        <p:sp>
          <p:nvSpPr>
            <p:cNvPr id="18" name="TextBox 18"/>
            <p:cNvSpPr txBox="1"/>
            <p:nvPr/>
          </p:nvSpPr>
          <p:spPr>
            <a:xfrm>
              <a:off x="0" y="-47625"/>
              <a:ext cx="1339509" cy="806716"/>
            </a:xfrm>
            <a:prstGeom prst="rect">
              <a:avLst/>
            </a:prstGeom>
          </p:spPr>
          <p:txBody>
            <a:bodyPr lIns="50800" tIns="50800" rIns="50800" bIns="50800" rtlCol="0" anchor="ctr"/>
            <a:lstStyle/>
            <a:p>
              <a:pPr algn="ctr">
                <a:lnSpc>
                  <a:spcPts val="3359"/>
                </a:lnSpc>
              </a:pPr>
              <a:endParaRPr/>
            </a:p>
          </p:txBody>
        </p:sp>
      </p:grpSp>
      <p:sp>
        <p:nvSpPr>
          <p:cNvPr id="19" name="Freeform 19"/>
          <p:cNvSpPr/>
          <p:nvPr/>
        </p:nvSpPr>
        <p:spPr>
          <a:xfrm rot="8207512">
            <a:off x="6949586" y="7001526"/>
            <a:ext cx="641075" cy="303442"/>
          </a:xfrm>
          <a:custGeom>
            <a:avLst/>
            <a:gdLst/>
            <a:ahLst/>
            <a:cxnLst/>
            <a:rect l="l" t="t" r="r" b="b"/>
            <a:pathLst>
              <a:path w="641075" h="303442">
                <a:moveTo>
                  <a:pt x="0" y="0"/>
                </a:moveTo>
                <a:lnTo>
                  <a:pt x="641074" y="0"/>
                </a:lnTo>
                <a:lnTo>
                  <a:pt x="641074" y="303442"/>
                </a:lnTo>
                <a:lnTo>
                  <a:pt x="0" y="30344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0" name="TextBox 20"/>
          <p:cNvSpPr txBox="1"/>
          <p:nvPr/>
        </p:nvSpPr>
        <p:spPr>
          <a:xfrm>
            <a:off x="963810" y="957589"/>
            <a:ext cx="8115300" cy="636270"/>
          </a:xfrm>
          <a:prstGeom prst="rect">
            <a:avLst/>
          </a:prstGeom>
        </p:spPr>
        <p:txBody>
          <a:bodyPr lIns="0" tIns="0" rIns="0" bIns="0" rtlCol="0" anchor="t">
            <a:spAutoFit/>
          </a:bodyPr>
          <a:lstStyle/>
          <a:p>
            <a:pPr algn="l">
              <a:lnSpc>
                <a:spcPts val="4800"/>
              </a:lnSpc>
            </a:pPr>
            <a:r>
              <a:rPr lang="en-US" sz="4800" b="1" spc="-288">
                <a:solidFill>
                  <a:srgbClr val="331B0D"/>
                </a:solidFill>
                <a:latin typeface="Open Sauce Bold"/>
                <a:ea typeface="Open Sauce Bold"/>
                <a:cs typeface="Open Sauce Bold"/>
                <a:sym typeface="Open Sauce Bold"/>
              </a:rPr>
              <a:t>How we could improve</a:t>
            </a:r>
          </a:p>
        </p:txBody>
      </p:sp>
      <p:sp>
        <p:nvSpPr>
          <p:cNvPr id="21" name="TextBox 21"/>
          <p:cNvSpPr txBox="1"/>
          <p:nvPr/>
        </p:nvSpPr>
        <p:spPr>
          <a:xfrm>
            <a:off x="2040027" y="2122618"/>
            <a:ext cx="4145049" cy="405765"/>
          </a:xfrm>
          <a:prstGeom prst="rect">
            <a:avLst/>
          </a:prstGeom>
        </p:spPr>
        <p:txBody>
          <a:bodyPr lIns="0" tIns="0" rIns="0" bIns="0" rtlCol="0" anchor="t">
            <a:spAutoFit/>
          </a:bodyPr>
          <a:lstStyle/>
          <a:p>
            <a:pPr marL="518160" lvl="1" indent="-259080" algn="l">
              <a:lnSpc>
                <a:spcPts val="3359"/>
              </a:lnSpc>
              <a:spcBef>
                <a:spcPct val="0"/>
              </a:spcBef>
              <a:buAutoNum type="arabicPeriod"/>
            </a:pPr>
            <a:r>
              <a:rPr lang="en-US" sz="2400" b="1">
                <a:solidFill>
                  <a:srgbClr val="556419"/>
                </a:solidFill>
                <a:latin typeface="Open Sauce Bold"/>
                <a:ea typeface="Open Sauce Bold"/>
                <a:cs typeface="Open Sauce Bold"/>
                <a:sym typeface="Open Sauce Bold"/>
              </a:rPr>
              <a:t>User Right to Erasure</a:t>
            </a:r>
          </a:p>
        </p:txBody>
      </p:sp>
      <p:sp>
        <p:nvSpPr>
          <p:cNvPr id="22" name="TextBox 22"/>
          <p:cNvSpPr txBox="1"/>
          <p:nvPr/>
        </p:nvSpPr>
        <p:spPr>
          <a:xfrm>
            <a:off x="12698616" y="8984615"/>
            <a:ext cx="4560684" cy="273685"/>
          </a:xfrm>
          <a:prstGeom prst="rect">
            <a:avLst/>
          </a:prstGeom>
        </p:spPr>
        <p:txBody>
          <a:bodyPr lIns="0" tIns="0" rIns="0" bIns="0" rtlCol="0" anchor="t">
            <a:spAutoFit/>
          </a:bodyPr>
          <a:lstStyle/>
          <a:p>
            <a:pPr algn="r">
              <a:lnSpc>
                <a:spcPts val="2239"/>
              </a:lnSpc>
            </a:pPr>
            <a:r>
              <a:rPr lang="en-US" sz="1599">
                <a:solidFill>
                  <a:srgbClr val="331B0D"/>
                </a:solidFill>
                <a:latin typeface="Open Sauce"/>
                <a:ea typeface="Open Sauce"/>
                <a:cs typeface="Open Sauce"/>
                <a:sym typeface="Open Sauce"/>
              </a:rPr>
              <a:t>3</a:t>
            </a:r>
          </a:p>
        </p:txBody>
      </p:sp>
      <p:sp>
        <p:nvSpPr>
          <p:cNvPr id="23" name="TextBox 23"/>
          <p:cNvSpPr txBox="1"/>
          <p:nvPr/>
        </p:nvSpPr>
        <p:spPr>
          <a:xfrm>
            <a:off x="14411514" y="1057275"/>
            <a:ext cx="2847786" cy="474345"/>
          </a:xfrm>
          <a:prstGeom prst="rect">
            <a:avLst/>
          </a:prstGeom>
        </p:spPr>
        <p:txBody>
          <a:bodyPr lIns="0" tIns="0" rIns="0" bIns="0" rtlCol="0" anchor="t">
            <a:spAutoFit/>
          </a:bodyPr>
          <a:lstStyle/>
          <a:p>
            <a:pPr algn="r">
              <a:lnSpc>
                <a:spcPts val="1800"/>
              </a:lnSpc>
              <a:spcBef>
                <a:spcPct val="0"/>
              </a:spcBef>
            </a:pPr>
            <a:r>
              <a:rPr lang="en-US" sz="1800" b="1" spc="179">
                <a:solidFill>
                  <a:srgbClr val="8C7753"/>
                </a:solidFill>
                <a:latin typeface="Open Sauce Bold"/>
                <a:ea typeface="Open Sauce Bold"/>
                <a:cs typeface="Open Sauce Bold"/>
                <a:sym typeface="Open Sauce Bold"/>
              </a:rPr>
              <a:t>DESTINY-ALLIAH COLOMBO</a:t>
            </a:r>
          </a:p>
        </p:txBody>
      </p:sp>
      <p:sp>
        <p:nvSpPr>
          <p:cNvPr id="24" name="TextBox 24"/>
          <p:cNvSpPr txBox="1"/>
          <p:nvPr/>
        </p:nvSpPr>
        <p:spPr>
          <a:xfrm>
            <a:off x="2040027" y="6049329"/>
            <a:ext cx="4473749" cy="405765"/>
          </a:xfrm>
          <a:prstGeom prst="rect">
            <a:avLst/>
          </a:prstGeom>
        </p:spPr>
        <p:txBody>
          <a:bodyPr lIns="0" tIns="0" rIns="0" bIns="0" rtlCol="0" anchor="t">
            <a:spAutoFit/>
          </a:bodyPr>
          <a:lstStyle/>
          <a:p>
            <a:pPr algn="l">
              <a:lnSpc>
                <a:spcPts val="3359"/>
              </a:lnSpc>
              <a:spcBef>
                <a:spcPct val="0"/>
              </a:spcBef>
            </a:pPr>
            <a:r>
              <a:rPr lang="en-US" sz="2400" b="1">
                <a:solidFill>
                  <a:srgbClr val="556419"/>
                </a:solidFill>
                <a:latin typeface="Open Sauce Bold"/>
                <a:ea typeface="Open Sauce Bold"/>
                <a:cs typeface="Open Sauce Bold"/>
                <a:sym typeface="Open Sauce Bold"/>
              </a:rPr>
              <a:t>Supporting Improvements</a:t>
            </a:r>
          </a:p>
        </p:txBody>
      </p:sp>
      <p:sp>
        <p:nvSpPr>
          <p:cNvPr id="25" name="TextBox 25"/>
          <p:cNvSpPr txBox="1"/>
          <p:nvPr/>
        </p:nvSpPr>
        <p:spPr>
          <a:xfrm>
            <a:off x="13314594" y="5334448"/>
            <a:ext cx="4418514" cy="2082165"/>
          </a:xfrm>
          <a:prstGeom prst="rect">
            <a:avLst/>
          </a:prstGeom>
        </p:spPr>
        <p:txBody>
          <a:bodyPr lIns="0" tIns="0" rIns="0" bIns="0" rtlCol="0" anchor="t">
            <a:spAutoFit/>
          </a:bodyPr>
          <a:lstStyle/>
          <a:p>
            <a:pPr algn="ctr">
              <a:lnSpc>
                <a:spcPts val="3359"/>
              </a:lnSpc>
              <a:spcBef>
                <a:spcPct val="0"/>
              </a:spcBef>
            </a:pPr>
            <a:r>
              <a:rPr lang="en-US" sz="2400" b="1">
                <a:solidFill>
                  <a:srgbClr val="331B0D"/>
                </a:solidFill>
                <a:latin typeface="Open Sauce Bold"/>
                <a:ea typeface="Open Sauce Bold"/>
                <a:cs typeface="Open Sauce Bold"/>
                <a:sym typeface="Open Sauce Bold"/>
              </a:rPr>
              <a:t>Our goal is to build a system that not only protects data, but also empowers users and fully aligns with GDPR principles.</a:t>
            </a:r>
          </a:p>
        </p:txBody>
      </p:sp>
      <p:sp>
        <p:nvSpPr>
          <p:cNvPr id="26" name="TextBox 26"/>
          <p:cNvSpPr txBox="1"/>
          <p:nvPr/>
        </p:nvSpPr>
        <p:spPr>
          <a:xfrm>
            <a:off x="1854721" y="7670930"/>
            <a:ext cx="4422014" cy="1405513"/>
          </a:xfrm>
          <a:prstGeom prst="rect">
            <a:avLst/>
          </a:prstGeom>
        </p:spPr>
        <p:txBody>
          <a:bodyPr lIns="0" tIns="0" rIns="0" bIns="0" rtlCol="0" anchor="t">
            <a:spAutoFit/>
          </a:bodyPr>
          <a:lstStyle/>
          <a:p>
            <a:pPr>
              <a:lnSpc>
                <a:spcPts val="2800"/>
              </a:lnSpc>
              <a:spcBef>
                <a:spcPct val="0"/>
              </a:spcBef>
            </a:pPr>
            <a:r>
              <a:rPr lang="en-US" sz="2000">
                <a:solidFill>
                  <a:srgbClr val="000000"/>
                </a:solidFill>
                <a:latin typeface="Open Sauce"/>
                <a:ea typeface="Open Sauce"/>
                <a:cs typeface="Open Sauce"/>
                <a:sym typeface="Open Sauce"/>
              </a:rPr>
              <a:t>Introduce automatic data retention policies to ensure that personal data is not stored longer than necessary.</a:t>
            </a:r>
            <a:endParaRPr lang="en-US" sz="2000">
              <a:solidFill>
                <a:srgbClr val="000000"/>
              </a:solidFill>
              <a:latin typeface="Open Sauce"/>
              <a:ea typeface="Open Sauce"/>
              <a:cs typeface="Open Sauce"/>
            </a:endParaRPr>
          </a:p>
        </p:txBody>
      </p:sp>
      <p:sp>
        <p:nvSpPr>
          <p:cNvPr id="27" name="TextBox 27"/>
          <p:cNvSpPr txBox="1"/>
          <p:nvPr/>
        </p:nvSpPr>
        <p:spPr>
          <a:xfrm>
            <a:off x="2118130" y="6991142"/>
            <a:ext cx="5020087" cy="406009"/>
          </a:xfrm>
          <a:prstGeom prst="rect">
            <a:avLst/>
          </a:prstGeom>
        </p:spPr>
        <p:txBody>
          <a:bodyPr wrap="square" lIns="0" tIns="0" rIns="0" bIns="0" rtlCol="0" anchor="t">
            <a:spAutoFit/>
          </a:bodyPr>
          <a:lstStyle/>
          <a:p>
            <a:pPr marL="259080" lvl="1">
              <a:lnSpc>
                <a:spcPts val="3359"/>
              </a:lnSpc>
              <a:spcBef>
                <a:spcPct val="0"/>
              </a:spcBef>
            </a:pPr>
            <a:r>
              <a:rPr lang="en-US" sz="2400" b="1">
                <a:solidFill>
                  <a:srgbClr val="556419"/>
                </a:solidFill>
                <a:latin typeface="Open Sauce Bold"/>
                <a:ea typeface="Open Sauce Bold"/>
                <a:cs typeface="Open Sauce Bold"/>
                <a:sym typeface="Open Sauce Bold"/>
              </a:rPr>
              <a:t>2. Data Retention Policies</a:t>
            </a:r>
            <a:endParaRPr lang="en-US"/>
          </a:p>
        </p:txBody>
      </p:sp>
      <p:sp>
        <p:nvSpPr>
          <p:cNvPr id="28" name="TextBox 28"/>
          <p:cNvSpPr txBox="1"/>
          <p:nvPr/>
        </p:nvSpPr>
        <p:spPr>
          <a:xfrm>
            <a:off x="7430268" y="6977432"/>
            <a:ext cx="4080769" cy="406009"/>
          </a:xfrm>
          <a:prstGeom prst="rect">
            <a:avLst/>
          </a:prstGeom>
        </p:spPr>
        <p:txBody>
          <a:bodyPr wrap="square" lIns="0" tIns="0" rIns="0" bIns="0" rtlCol="0" anchor="t">
            <a:spAutoFit/>
          </a:bodyPr>
          <a:lstStyle/>
          <a:p>
            <a:pPr marL="259080" lvl="1">
              <a:lnSpc>
                <a:spcPts val="3359"/>
              </a:lnSpc>
              <a:spcBef>
                <a:spcPct val="0"/>
              </a:spcBef>
            </a:pPr>
            <a:r>
              <a:rPr lang="en-US" sz="2400" b="1">
                <a:solidFill>
                  <a:srgbClr val="556419"/>
                </a:solidFill>
                <a:latin typeface="Open Sauce Bold"/>
                <a:ea typeface="Open Sauce Bold"/>
                <a:cs typeface="Open Sauce Bold"/>
                <a:sym typeface="Open Sauce Bold"/>
              </a:rPr>
              <a:t>3.  Token Expiration</a:t>
            </a:r>
            <a:endParaRPr lang="en-US"/>
          </a:p>
        </p:txBody>
      </p:sp>
      <p:sp>
        <p:nvSpPr>
          <p:cNvPr id="29" name="TextBox 29"/>
          <p:cNvSpPr txBox="1"/>
          <p:nvPr/>
        </p:nvSpPr>
        <p:spPr>
          <a:xfrm>
            <a:off x="7270123" y="7502338"/>
            <a:ext cx="4422014" cy="1405513"/>
          </a:xfrm>
          <a:prstGeom prst="rect">
            <a:avLst/>
          </a:prstGeom>
        </p:spPr>
        <p:txBody>
          <a:bodyPr lIns="0" tIns="0" rIns="0" bIns="0" rtlCol="0" anchor="t">
            <a:spAutoFit/>
          </a:bodyPr>
          <a:lstStyle/>
          <a:p>
            <a:pPr>
              <a:lnSpc>
                <a:spcPts val="2800"/>
              </a:lnSpc>
              <a:spcBef>
                <a:spcPct val="0"/>
              </a:spcBef>
            </a:pPr>
            <a:r>
              <a:rPr lang="en-US" sz="2000">
                <a:solidFill>
                  <a:srgbClr val="000000"/>
                </a:solidFill>
                <a:latin typeface="Open Sauce"/>
                <a:ea typeface="Open Sauce"/>
                <a:cs typeface="Open Sauce"/>
                <a:sym typeface="Open Sauce"/>
              </a:rPr>
              <a:t>An improvement could be stricter OAuth2 token expiry regulations,  reducing the risk of token misuse.</a:t>
            </a:r>
            <a:endParaRPr lang="en-US" sz="2000">
              <a:solidFill>
                <a:srgbClr val="000000"/>
              </a:solidFill>
              <a:latin typeface="Open Sauce"/>
              <a:ea typeface="Open Sauce"/>
              <a:cs typeface="Open Sauce"/>
            </a:endParaRPr>
          </a:p>
        </p:txBody>
      </p:sp>
      <p:sp>
        <p:nvSpPr>
          <p:cNvPr id="30" name="TextBox 30"/>
          <p:cNvSpPr txBox="1"/>
          <p:nvPr/>
        </p:nvSpPr>
        <p:spPr>
          <a:xfrm>
            <a:off x="14740749" y="2473138"/>
            <a:ext cx="1356122" cy="405765"/>
          </a:xfrm>
          <a:prstGeom prst="rect">
            <a:avLst/>
          </a:prstGeom>
        </p:spPr>
        <p:txBody>
          <a:bodyPr lIns="0" tIns="0" rIns="0" bIns="0" rtlCol="0" anchor="t">
            <a:spAutoFit/>
          </a:bodyPr>
          <a:lstStyle/>
          <a:p>
            <a:pPr algn="ctr">
              <a:lnSpc>
                <a:spcPts val="3359"/>
              </a:lnSpc>
              <a:spcBef>
                <a:spcPct val="0"/>
              </a:spcBef>
            </a:pPr>
            <a:r>
              <a:rPr lang="en-US" sz="2400" b="1">
                <a:solidFill>
                  <a:srgbClr val="556419"/>
                </a:solidFill>
                <a:latin typeface="Open Sauce Bold"/>
                <a:ea typeface="Open Sauce Bold"/>
                <a:cs typeface="Open Sauce Bold"/>
                <a:sym typeface="Open Sauce Bold"/>
              </a:rPr>
              <a:t>Our Goal</a:t>
            </a:r>
          </a:p>
        </p:txBody>
      </p:sp>
      <p:sp>
        <p:nvSpPr>
          <p:cNvPr id="31" name="TextBox 31"/>
          <p:cNvSpPr txBox="1"/>
          <p:nvPr/>
        </p:nvSpPr>
        <p:spPr>
          <a:xfrm>
            <a:off x="963810" y="350520"/>
            <a:ext cx="7342398" cy="245745"/>
          </a:xfrm>
          <a:prstGeom prst="rect">
            <a:avLst/>
          </a:prstGeom>
        </p:spPr>
        <p:txBody>
          <a:bodyPr lIns="0" tIns="0" rIns="0" bIns="0" rtlCol="0" anchor="t">
            <a:spAutoFit/>
          </a:bodyPr>
          <a:lstStyle/>
          <a:p>
            <a:pPr algn="just">
              <a:lnSpc>
                <a:spcPts val="1800"/>
              </a:lnSpc>
              <a:spcBef>
                <a:spcPct val="0"/>
              </a:spcBef>
            </a:pPr>
            <a:r>
              <a:rPr lang="en-US" sz="1800" b="1" spc="179">
                <a:solidFill>
                  <a:srgbClr val="8C7753"/>
                </a:solidFill>
                <a:latin typeface="Open Sauce Bold"/>
                <a:ea typeface="Open Sauce Bold"/>
                <a:cs typeface="Open Sauce Bold"/>
                <a:sym typeface="Open Sauce Bold"/>
              </a:rPr>
              <a:t>EVALUATION &amp; FUTURE WORK</a:t>
            </a:r>
          </a:p>
        </p:txBody>
      </p:sp>
    </p:spTree>
    <p:extLst>
      <p:ext uri="{BB962C8B-B14F-4D97-AF65-F5344CB8AC3E}">
        <p14:creationId xmlns:p14="http://schemas.microsoft.com/office/powerpoint/2010/main" val="3444702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72953" y="3076957"/>
            <a:ext cx="1706721" cy="1733445"/>
          </a:xfrm>
          <a:custGeom>
            <a:avLst/>
            <a:gdLst/>
            <a:ahLst/>
            <a:cxnLst/>
            <a:rect l="l" t="t" r="r" b="b"/>
            <a:pathLst>
              <a:path w="1706721" h="1733445">
                <a:moveTo>
                  <a:pt x="0" y="0"/>
                </a:moveTo>
                <a:lnTo>
                  <a:pt x="1706721" y="0"/>
                </a:lnTo>
                <a:lnTo>
                  <a:pt x="1706721" y="1733445"/>
                </a:lnTo>
                <a:lnTo>
                  <a:pt x="0" y="1733445"/>
                </a:lnTo>
                <a:lnTo>
                  <a:pt x="0" y="0"/>
                </a:lnTo>
                <a:close/>
              </a:path>
            </a:pathLst>
          </a:custGeom>
          <a:blipFill>
            <a:blip r:embed="rId3"/>
            <a:stretch>
              <a:fillRect/>
            </a:stretch>
          </a:blipFill>
        </p:spPr>
      </p:sp>
      <p:sp>
        <p:nvSpPr>
          <p:cNvPr id="3" name="Freeform 3"/>
          <p:cNvSpPr/>
          <p:nvPr/>
        </p:nvSpPr>
        <p:spPr>
          <a:xfrm>
            <a:off x="9383830" y="2929050"/>
            <a:ext cx="1675859" cy="2022153"/>
          </a:xfrm>
          <a:custGeom>
            <a:avLst/>
            <a:gdLst/>
            <a:ahLst/>
            <a:cxnLst/>
            <a:rect l="l" t="t" r="r" b="b"/>
            <a:pathLst>
              <a:path w="1675859" h="2022153">
                <a:moveTo>
                  <a:pt x="0" y="0"/>
                </a:moveTo>
                <a:lnTo>
                  <a:pt x="1675859" y="0"/>
                </a:lnTo>
                <a:lnTo>
                  <a:pt x="1675859" y="2022153"/>
                </a:lnTo>
                <a:lnTo>
                  <a:pt x="0" y="2022153"/>
                </a:lnTo>
                <a:lnTo>
                  <a:pt x="0" y="0"/>
                </a:lnTo>
                <a:close/>
              </a:path>
            </a:pathLst>
          </a:custGeom>
          <a:blipFill>
            <a:blip r:embed="rId4"/>
            <a:stretch>
              <a:fillRect/>
            </a:stretch>
          </a:blipFill>
        </p:spPr>
      </p:sp>
      <p:sp>
        <p:nvSpPr>
          <p:cNvPr id="4" name="Freeform 4"/>
          <p:cNvSpPr/>
          <p:nvPr/>
        </p:nvSpPr>
        <p:spPr>
          <a:xfrm>
            <a:off x="0" y="7607622"/>
            <a:ext cx="18288000" cy="2679378"/>
          </a:xfrm>
          <a:custGeom>
            <a:avLst/>
            <a:gdLst/>
            <a:ahLst/>
            <a:cxnLst/>
            <a:rect l="l" t="t" r="r" b="b"/>
            <a:pathLst>
              <a:path w="18288000" h="2679378">
                <a:moveTo>
                  <a:pt x="0" y="0"/>
                </a:moveTo>
                <a:lnTo>
                  <a:pt x="18288000" y="0"/>
                </a:lnTo>
                <a:lnTo>
                  <a:pt x="18288000" y="2679378"/>
                </a:lnTo>
                <a:lnTo>
                  <a:pt x="0" y="2679378"/>
                </a:lnTo>
                <a:lnTo>
                  <a:pt x="0" y="0"/>
                </a:lnTo>
                <a:close/>
              </a:path>
            </a:pathLst>
          </a:custGeom>
          <a:blipFill>
            <a:blip r:embed="rId5"/>
            <a:stretch>
              <a:fillRect t="-79715" b="-275315"/>
            </a:stretch>
          </a:blipFill>
        </p:spPr>
      </p:sp>
      <p:sp>
        <p:nvSpPr>
          <p:cNvPr id="5" name="TextBox 5"/>
          <p:cNvSpPr txBox="1"/>
          <p:nvPr/>
        </p:nvSpPr>
        <p:spPr>
          <a:xfrm>
            <a:off x="1028700" y="1730985"/>
            <a:ext cx="13442111" cy="615553"/>
          </a:xfrm>
          <a:prstGeom prst="rect">
            <a:avLst/>
          </a:prstGeom>
        </p:spPr>
        <p:txBody>
          <a:bodyPr wrap="square" lIns="0" tIns="0" rIns="0" bIns="0" rtlCol="0" anchor="t">
            <a:spAutoFit/>
          </a:bodyPr>
          <a:lstStyle/>
          <a:p>
            <a:pPr>
              <a:lnSpc>
                <a:spcPts val="4800"/>
              </a:lnSpc>
            </a:pPr>
            <a:r>
              <a:rPr lang="en-US" sz="4800" spc="-288">
                <a:solidFill>
                  <a:srgbClr val="331B0D"/>
                </a:solidFill>
                <a:latin typeface="Open Sauce"/>
                <a:sym typeface="Open Sauce"/>
              </a:rPr>
              <a:t>What is the purpose of this project?</a:t>
            </a:r>
            <a:endParaRPr lang="en-US" sz="4800" spc="-288">
              <a:solidFill>
                <a:srgbClr val="331B0D"/>
              </a:solidFill>
              <a:latin typeface="Open Sauce"/>
            </a:endParaRPr>
          </a:p>
        </p:txBody>
      </p:sp>
      <p:sp>
        <p:nvSpPr>
          <p:cNvPr id="6" name="TextBox 6"/>
          <p:cNvSpPr txBox="1"/>
          <p:nvPr/>
        </p:nvSpPr>
        <p:spPr>
          <a:xfrm>
            <a:off x="12698616" y="8984615"/>
            <a:ext cx="4560684" cy="273685"/>
          </a:xfrm>
          <a:prstGeom prst="rect">
            <a:avLst/>
          </a:prstGeom>
        </p:spPr>
        <p:txBody>
          <a:bodyPr lIns="0" tIns="0" rIns="0" bIns="0" rtlCol="0" anchor="t">
            <a:spAutoFit/>
          </a:bodyPr>
          <a:lstStyle/>
          <a:p>
            <a:pPr algn="r">
              <a:lnSpc>
                <a:spcPts val="2239"/>
              </a:lnSpc>
            </a:pPr>
            <a:r>
              <a:rPr lang="en-US" sz="1599">
                <a:solidFill>
                  <a:srgbClr val="FFFFFF"/>
                </a:solidFill>
                <a:latin typeface="Open Sauce"/>
                <a:ea typeface="Open Sauce"/>
                <a:cs typeface="Open Sauce"/>
                <a:sym typeface="Open Sauce"/>
              </a:rPr>
              <a:t>5</a:t>
            </a:r>
          </a:p>
        </p:txBody>
      </p:sp>
      <p:sp>
        <p:nvSpPr>
          <p:cNvPr id="7" name="TextBox 7"/>
          <p:cNvSpPr txBox="1"/>
          <p:nvPr/>
        </p:nvSpPr>
        <p:spPr>
          <a:xfrm>
            <a:off x="1028700" y="1057275"/>
            <a:ext cx="7342398" cy="461665"/>
          </a:xfrm>
          <a:prstGeom prst="rect">
            <a:avLst/>
          </a:prstGeom>
        </p:spPr>
        <p:txBody>
          <a:bodyPr lIns="0" tIns="0" rIns="0" bIns="0" rtlCol="0" anchor="t">
            <a:spAutoFit/>
          </a:bodyPr>
          <a:lstStyle/>
          <a:p>
            <a:pPr algn="just">
              <a:lnSpc>
                <a:spcPts val="1800"/>
              </a:lnSpc>
              <a:spcBef>
                <a:spcPct val="0"/>
              </a:spcBef>
            </a:pPr>
            <a:r>
              <a:rPr lang="en-US" b="1" spc="179">
                <a:solidFill>
                  <a:srgbClr val="8C7753"/>
                </a:solidFill>
                <a:latin typeface="Open Sauce Bold"/>
                <a:ea typeface="Open Sauce Bold"/>
                <a:cs typeface="Open Sauce Bold"/>
              </a:rPr>
              <a:t>Goals, Methods &amp; Achievements</a:t>
            </a:r>
          </a:p>
          <a:p>
            <a:pPr algn="just">
              <a:lnSpc>
                <a:spcPts val="1800"/>
              </a:lnSpc>
              <a:spcBef>
                <a:spcPct val="0"/>
              </a:spcBef>
            </a:pPr>
            <a:endParaRPr lang="en-US" sz="1800" b="1" spc="179">
              <a:solidFill>
                <a:srgbClr val="8C7753"/>
              </a:solidFill>
              <a:latin typeface="Open Sauce Bold"/>
              <a:ea typeface="Open Sauce Bold"/>
              <a:cs typeface="Open Sauce Bold"/>
            </a:endParaRPr>
          </a:p>
        </p:txBody>
      </p:sp>
      <p:sp>
        <p:nvSpPr>
          <p:cNvPr id="8" name="TextBox 8"/>
          <p:cNvSpPr txBox="1"/>
          <p:nvPr/>
        </p:nvSpPr>
        <p:spPr>
          <a:xfrm>
            <a:off x="14411514" y="1057275"/>
            <a:ext cx="2847786" cy="230832"/>
          </a:xfrm>
          <a:prstGeom prst="rect">
            <a:avLst/>
          </a:prstGeom>
        </p:spPr>
        <p:txBody>
          <a:bodyPr lIns="0" tIns="0" rIns="0" bIns="0" rtlCol="0" anchor="t">
            <a:spAutoFit/>
          </a:bodyPr>
          <a:lstStyle/>
          <a:p>
            <a:pPr algn="r">
              <a:lnSpc>
                <a:spcPts val="1800"/>
              </a:lnSpc>
              <a:spcBef>
                <a:spcPct val="0"/>
              </a:spcBef>
            </a:pPr>
            <a:r>
              <a:rPr lang="en-US" b="1" spc="179">
                <a:solidFill>
                  <a:srgbClr val="8C7753"/>
                </a:solidFill>
                <a:latin typeface="Open Sauce Bold"/>
                <a:ea typeface="Open Sauce Bold"/>
                <a:cs typeface="Open Sauce Bold"/>
                <a:sym typeface="Open Sauce Bold"/>
              </a:rPr>
              <a:t>Laide Olubunmi</a:t>
            </a:r>
            <a:endParaRPr lang="en-US" sz="1800" b="1" spc="179">
              <a:solidFill>
                <a:srgbClr val="8C7753"/>
              </a:solidFill>
              <a:latin typeface="Open Sauce Bold"/>
              <a:ea typeface="Open Sauce Bold"/>
              <a:cs typeface="Open Sauce Bold"/>
            </a:endParaRPr>
          </a:p>
        </p:txBody>
      </p:sp>
      <p:sp>
        <p:nvSpPr>
          <p:cNvPr id="9" name="TextBox 9"/>
          <p:cNvSpPr txBox="1"/>
          <p:nvPr/>
        </p:nvSpPr>
        <p:spPr>
          <a:xfrm>
            <a:off x="3887209" y="2535517"/>
            <a:ext cx="2059370" cy="397801"/>
          </a:xfrm>
          <a:prstGeom prst="rect">
            <a:avLst/>
          </a:prstGeom>
        </p:spPr>
        <p:txBody>
          <a:bodyPr lIns="0" tIns="0" rIns="0" bIns="0" rtlCol="0" anchor="t">
            <a:spAutoFit/>
          </a:bodyPr>
          <a:lstStyle/>
          <a:p>
            <a:pPr algn="l">
              <a:lnSpc>
                <a:spcPts val="3359"/>
              </a:lnSpc>
              <a:spcBef>
                <a:spcPct val="0"/>
              </a:spcBef>
            </a:pPr>
            <a:r>
              <a:rPr lang="en-US" sz="2400">
                <a:solidFill>
                  <a:srgbClr val="8C7753"/>
                </a:solidFill>
                <a:latin typeface="Open Sauce"/>
                <a:sym typeface="Open Sauce"/>
              </a:rPr>
              <a:t>Expectations</a:t>
            </a:r>
          </a:p>
        </p:txBody>
      </p:sp>
      <p:sp>
        <p:nvSpPr>
          <p:cNvPr id="11" name="TextBox 11"/>
          <p:cNvSpPr txBox="1"/>
          <p:nvPr/>
        </p:nvSpPr>
        <p:spPr>
          <a:xfrm>
            <a:off x="13582169" y="2601066"/>
            <a:ext cx="2857349" cy="833818"/>
          </a:xfrm>
          <a:prstGeom prst="rect">
            <a:avLst/>
          </a:prstGeom>
        </p:spPr>
        <p:txBody>
          <a:bodyPr wrap="square" lIns="0" tIns="0" rIns="0" bIns="0" rtlCol="0" anchor="t">
            <a:spAutoFit/>
          </a:bodyPr>
          <a:lstStyle/>
          <a:p>
            <a:pPr algn="l">
              <a:lnSpc>
                <a:spcPts val="3359"/>
              </a:lnSpc>
              <a:spcBef>
                <a:spcPct val="0"/>
              </a:spcBef>
            </a:pPr>
            <a:r>
              <a:rPr lang="en-US" sz="2400">
                <a:solidFill>
                  <a:srgbClr val="8C7753"/>
                </a:solidFill>
                <a:latin typeface="Open Sauce"/>
                <a:sym typeface="Open Sauce"/>
              </a:rPr>
              <a:t>Reality</a:t>
            </a:r>
          </a:p>
          <a:p>
            <a:pPr>
              <a:lnSpc>
                <a:spcPts val="3359"/>
              </a:lnSpc>
              <a:spcBef>
                <a:spcPct val="0"/>
              </a:spcBef>
            </a:pPr>
            <a:endParaRPr lang="en-US" sz="2400">
              <a:solidFill>
                <a:srgbClr val="8C7753"/>
              </a:solidFill>
              <a:latin typeface="Open Sauce"/>
            </a:endParaRPr>
          </a:p>
        </p:txBody>
      </p:sp>
      <p:sp>
        <p:nvSpPr>
          <p:cNvPr id="12" name="TextBox 12"/>
          <p:cNvSpPr txBox="1"/>
          <p:nvPr/>
        </p:nvSpPr>
        <p:spPr>
          <a:xfrm>
            <a:off x="11490263" y="3014199"/>
            <a:ext cx="5885416" cy="2944076"/>
          </a:xfrm>
          <a:prstGeom prst="rect">
            <a:avLst/>
          </a:prstGeom>
        </p:spPr>
        <p:txBody>
          <a:bodyPr wrap="square" lIns="0" tIns="0" rIns="0" bIns="0" rtlCol="0" anchor="t">
            <a:spAutoFit/>
          </a:bodyPr>
          <a:lstStyle/>
          <a:p>
            <a:pPr marL="453390" lvl="1" indent="-226695">
              <a:lnSpc>
                <a:spcPts val="2940"/>
              </a:lnSpc>
              <a:spcBef>
                <a:spcPct val="0"/>
              </a:spcBef>
              <a:buFont typeface="Arial"/>
              <a:buChar char="•"/>
            </a:pPr>
            <a:r>
              <a:rPr lang="en-US" sz="2100">
                <a:solidFill>
                  <a:srgbClr val="331B0D"/>
                </a:solidFill>
                <a:latin typeface="Open Sauce"/>
                <a:ea typeface="Open Sauce"/>
                <a:cs typeface="Open Sauce"/>
              </a:rPr>
              <a:t>Distracted and affected by external factors</a:t>
            </a:r>
            <a:endParaRPr lang="en-US" sz="2100">
              <a:solidFill>
                <a:srgbClr val="331B0D"/>
              </a:solidFill>
              <a:latin typeface="Open Sauce"/>
              <a:ea typeface="Open Sauce"/>
              <a:cs typeface="Open Sauce"/>
              <a:sym typeface="Open Sauce"/>
            </a:endParaRPr>
          </a:p>
          <a:p>
            <a:pPr marL="453390" lvl="1" indent="-226695" algn="l">
              <a:lnSpc>
                <a:spcPts val="2940"/>
              </a:lnSpc>
              <a:buFont typeface="Arial"/>
              <a:buChar char="•"/>
            </a:pPr>
            <a:r>
              <a:rPr lang="en-US" sz="2100">
                <a:solidFill>
                  <a:srgbClr val="331B0D"/>
                </a:solidFill>
                <a:latin typeface="Open Sauce"/>
                <a:ea typeface="Open Sauce"/>
                <a:cs typeface="Open Sauce"/>
                <a:sym typeface="Open Sauce"/>
              </a:rPr>
              <a:t>Struggle with managing time and deadlines</a:t>
            </a:r>
            <a:endParaRPr lang="en-US">
              <a:ea typeface="Calibri"/>
              <a:cs typeface="Calibri"/>
            </a:endParaRPr>
          </a:p>
          <a:p>
            <a:pPr marL="453390" lvl="1" indent="-226695">
              <a:lnSpc>
                <a:spcPts val="2940"/>
              </a:lnSpc>
              <a:spcBef>
                <a:spcPct val="0"/>
              </a:spcBef>
              <a:buFont typeface="Arial"/>
              <a:buChar char="•"/>
            </a:pPr>
            <a:r>
              <a:rPr lang="en-US" sz="2100">
                <a:solidFill>
                  <a:srgbClr val="331B0D"/>
                </a:solidFill>
                <a:latin typeface="Open Sauce"/>
                <a:ea typeface="Open Sauce"/>
                <a:cs typeface="Open Sauce"/>
              </a:rPr>
              <a:t>Different opinions on approach and results </a:t>
            </a:r>
          </a:p>
          <a:p>
            <a:pPr marL="453390" lvl="1" indent="-226695">
              <a:lnSpc>
                <a:spcPts val="2940"/>
              </a:lnSpc>
              <a:spcBef>
                <a:spcPct val="0"/>
              </a:spcBef>
              <a:buFont typeface="Arial"/>
              <a:buChar char="•"/>
            </a:pPr>
            <a:r>
              <a:rPr lang="en-US" sz="2100">
                <a:solidFill>
                  <a:srgbClr val="331B0D"/>
                </a:solidFill>
                <a:latin typeface="Open Sauce"/>
                <a:ea typeface="Open Sauce"/>
                <a:cs typeface="Open Sauce"/>
              </a:rPr>
              <a:t>Gaps in knowledge, needs help but doesn’t ask for it</a:t>
            </a:r>
          </a:p>
        </p:txBody>
      </p:sp>
      <p:sp>
        <p:nvSpPr>
          <p:cNvPr id="13" name="Oval 12">
            <a:extLst>
              <a:ext uri="{FF2B5EF4-FFF2-40B4-BE49-F238E27FC236}">
                <a16:creationId xmlns:a16="http://schemas.microsoft.com/office/drawing/2014/main" id="{66089194-3417-724E-4952-C8790399A7B1}"/>
              </a:ext>
            </a:extLst>
          </p:cNvPr>
          <p:cNvSpPr/>
          <p:nvPr/>
        </p:nvSpPr>
        <p:spPr>
          <a:xfrm>
            <a:off x="1886461" y="4992156"/>
            <a:ext cx="2227771" cy="2016115"/>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ea typeface="Calibri"/>
                <a:cs typeface="Calibri"/>
              </a:rPr>
              <a:t>Teamwork</a:t>
            </a:r>
          </a:p>
        </p:txBody>
      </p:sp>
      <p:sp>
        <p:nvSpPr>
          <p:cNvPr id="14" name="TextBox 13">
            <a:extLst>
              <a:ext uri="{FF2B5EF4-FFF2-40B4-BE49-F238E27FC236}">
                <a16:creationId xmlns:a16="http://schemas.microsoft.com/office/drawing/2014/main" id="{B0C5D019-6BDD-082D-5094-ED8EE51B3000}"/>
              </a:ext>
            </a:extLst>
          </p:cNvPr>
          <p:cNvSpPr txBox="1"/>
          <p:nvPr/>
        </p:nvSpPr>
        <p:spPr>
          <a:xfrm>
            <a:off x="2115207" y="3006962"/>
            <a:ext cx="6417128" cy="15488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3390" lvl="1" indent="-226695">
              <a:lnSpc>
                <a:spcPts val="2940"/>
              </a:lnSpc>
              <a:spcBef>
                <a:spcPct val="0"/>
              </a:spcBef>
              <a:buFont typeface="Arial,Sans-Serif"/>
              <a:buChar char="•"/>
            </a:pPr>
            <a:r>
              <a:rPr lang="en-US" sz="2100">
                <a:solidFill>
                  <a:srgbClr val="331B0D"/>
                </a:solidFill>
                <a:latin typeface="Open Sauce"/>
              </a:rPr>
              <a:t>Stay focused</a:t>
            </a:r>
          </a:p>
          <a:p>
            <a:pPr marL="453390" lvl="1" indent="-226695">
              <a:lnSpc>
                <a:spcPts val="2940"/>
              </a:lnSpc>
              <a:spcBef>
                <a:spcPct val="0"/>
              </a:spcBef>
              <a:buFont typeface="Arial,Sans-Serif"/>
              <a:buChar char="•"/>
            </a:pPr>
            <a:r>
              <a:rPr lang="en-US" sz="2100">
                <a:solidFill>
                  <a:srgbClr val="331B0D"/>
                </a:solidFill>
                <a:latin typeface="Open Sauce"/>
              </a:rPr>
              <a:t>Achieve tasks on time</a:t>
            </a:r>
          </a:p>
          <a:p>
            <a:pPr marL="453390" lvl="1" indent="-226695">
              <a:lnSpc>
                <a:spcPts val="2940"/>
              </a:lnSpc>
              <a:spcBef>
                <a:spcPct val="0"/>
              </a:spcBef>
              <a:buFont typeface="Arial,Sans-Serif"/>
              <a:buChar char="•"/>
            </a:pPr>
            <a:r>
              <a:rPr lang="en-US" sz="2100">
                <a:solidFill>
                  <a:srgbClr val="331B0D"/>
                </a:solidFill>
                <a:latin typeface="Open Sauce"/>
              </a:rPr>
              <a:t>Unified goals</a:t>
            </a:r>
          </a:p>
          <a:p>
            <a:pPr marL="453390" lvl="1" indent="-226695">
              <a:lnSpc>
                <a:spcPts val="2940"/>
              </a:lnSpc>
              <a:spcBef>
                <a:spcPct val="0"/>
              </a:spcBef>
              <a:buFont typeface="Arial,Sans-Serif"/>
              <a:buChar char="•"/>
            </a:pPr>
            <a:r>
              <a:rPr lang="en-US" sz="2100">
                <a:solidFill>
                  <a:srgbClr val="331B0D"/>
                </a:solidFill>
                <a:latin typeface="Open Sauce"/>
              </a:rPr>
              <a:t>Shared understanding and competency</a:t>
            </a:r>
          </a:p>
        </p:txBody>
      </p:sp>
      <p:sp>
        <p:nvSpPr>
          <p:cNvPr id="15" name="Oval 14">
            <a:extLst>
              <a:ext uri="{FF2B5EF4-FFF2-40B4-BE49-F238E27FC236}">
                <a16:creationId xmlns:a16="http://schemas.microsoft.com/office/drawing/2014/main" id="{7BBD1932-56D0-7C8D-A8BE-711A791D119C}"/>
              </a:ext>
            </a:extLst>
          </p:cNvPr>
          <p:cNvSpPr/>
          <p:nvPr/>
        </p:nvSpPr>
        <p:spPr>
          <a:xfrm>
            <a:off x="1077985" y="6467509"/>
            <a:ext cx="2073728" cy="19920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ea typeface="Calibri"/>
                <a:cs typeface="Calibri"/>
              </a:rPr>
              <a:t>Problem Solving</a:t>
            </a:r>
          </a:p>
        </p:txBody>
      </p:sp>
      <p:sp>
        <p:nvSpPr>
          <p:cNvPr id="16" name="Oval 15">
            <a:extLst>
              <a:ext uri="{FF2B5EF4-FFF2-40B4-BE49-F238E27FC236}">
                <a16:creationId xmlns:a16="http://schemas.microsoft.com/office/drawing/2014/main" id="{533D8CBE-6B57-952E-874A-430EF461B539}"/>
              </a:ext>
            </a:extLst>
          </p:cNvPr>
          <p:cNvSpPr/>
          <p:nvPr/>
        </p:nvSpPr>
        <p:spPr>
          <a:xfrm>
            <a:off x="2853054" y="6454499"/>
            <a:ext cx="2057399" cy="2008414"/>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ea typeface="Calibri"/>
                <a:cs typeface="Calibri"/>
              </a:rPr>
              <a:t>Time Management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989777"/>
            <a:ext cx="8115300" cy="615553"/>
          </a:xfrm>
          <a:prstGeom prst="rect">
            <a:avLst/>
          </a:prstGeom>
        </p:spPr>
        <p:txBody>
          <a:bodyPr lIns="0" tIns="0" rIns="0" bIns="0" rtlCol="0" anchor="t">
            <a:spAutoFit/>
          </a:bodyPr>
          <a:lstStyle/>
          <a:p>
            <a:pPr algn="l">
              <a:lnSpc>
                <a:spcPts val="4800"/>
              </a:lnSpc>
            </a:pPr>
            <a:r>
              <a:rPr lang="en-US" sz="4800" spc="-288">
                <a:solidFill>
                  <a:srgbClr val="331B0D"/>
                </a:solidFill>
                <a:latin typeface="Open Sauce"/>
                <a:sym typeface="Open Sauce"/>
              </a:rPr>
              <a:t>Accountability</a:t>
            </a:r>
          </a:p>
        </p:txBody>
      </p:sp>
      <p:sp>
        <p:nvSpPr>
          <p:cNvPr id="3" name="TextBox 3"/>
          <p:cNvSpPr txBox="1"/>
          <p:nvPr/>
        </p:nvSpPr>
        <p:spPr>
          <a:xfrm>
            <a:off x="12698616" y="8984615"/>
            <a:ext cx="4560684" cy="273685"/>
          </a:xfrm>
          <a:prstGeom prst="rect">
            <a:avLst/>
          </a:prstGeom>
        </p:spPr>
        <p:txBody>
          <a:bodyPr lIns="0" tIns="0" rIns="0" bIns="0" rtlCol="0" anchor="t">
            <a:spAutoFit/>
          </a:bodyPr>
          <a:lstStyle/>
          <a:p>
            <a:pPr algn="r">
              <a:lnSpc>
                <a:spcPts val="2239"/>
              </a:lnSpc>
            </a:pPr>
            <a:r>
              <a:rPr lang="en-US" sz="1599">
                <a:solidFill>
                  <a:srgbClr val="331B0D"/>
                </a:solidFill>
                <a:latin typeface="Open Sauce"/>
                <a:ea typeface="Open Sauce"/>
                <a:cs typeface="Open Sauce"/>
                <a:sym typeface="Open Sauce"/>
              </a:rPr>
              <a:t>6</a:t>
            </a:r>
          </a:p>
        </p:txBody>
      </p:sp>
      <p:sp>
        <p:nvSpPr>
          <p:cNvPr id="4" name="TextBox 4"/>
          <p:cNvSpPr txBox="1"/>
          <p:nvPr/>
        </p:nvSpPr>
        <p:spPr>
          <a:xfrm>
            <a:off x="1028700" y="1057275"/>
            <a:ext cx="7342398" cy="230832"/>
          </a:xfrm>
          <a:prstGeom prst="rect">
            <a:avLst/>
          </a:prstGeom>
        </p:spPr>
        <p:txBody>
          <a:bodyPr lIns="0" tIns="0" rIns="0" bIns="0" rtlCol="0" anchor="t">
            <a:spAutoFit/>
          </a:bodyPr>
          <a:lstStyle/>
          <a:p>
            <a:pPr algn="just">
              <a:lnSpc>
                <a:spcPts val="1800"/>
              </a:lnSpc>
              <a:spcBef>
                <a:spcPct val="0"/>
              </a:spcBef>
            </a:pPr>
            <a:r>
              <a:rPr lang="en-US" b="1" spc="179">
                <a:solidFill>
                  <a:srgbClr val="8C7753"/>
                </a:solidFill>
                <a:latin typeface="Open Sauce Bold"/>
                <a:ea typeface="Open Sauce Bold"/>
                <a:cs typeface="Open Sauce Bold"/>
                <a:sym typeface="Open Sauce Bold"/>
              </a:rPr>
              <a:t>Individual Development</a:t>
            </a:r>
            <a:endParaRPr lang="en-US" sz="1800" b="1" spc="179">
              <a:solidFill>
                <a:srgbClr val="8C7753"/>
              </a:solidFill>
              <a:latin typeface="Open Sauce Bold"/>
              <a:ea typeface="Open Sauce Bold"/>
              <a:cs typeface="Open Sauce Bold"/>
            </a:endParaRPr>
          </a:p>
        </p:txBody>
      </p:sp>
      <p:sp>
        <p:nvSpPr>
          <p:cNvPr id="5" name="TextBox 5"/>
          <p:cNvSpPr txBox="1"/>
          <p:nvPr/>
        </p:nvSpPr>
        <p:spPr>
          <a:xfrm>
            <a:off x="14411514" y="1057275"/>
            <a:ext cx="2847786" cy="230832"/>
          </a:xfrm>
          <a:prstGeom prst="rect">
            <a:avLst/>
          </a:prstGeom>
        </p:spPr>
        <p:txBody>
          <a:bodyPr lIns="0" tIns="0" rIns="0" bIns="0" rtlCol="0" anchor="t">
            <a:spAutoFit/>
          </a:bodyPr>
          <a:lstStyle/>
          <a:p>
            <a:pPr algn="r">
              <a:lnSpc>
                <a:spcPts val="1800"/>
              </a:lnSpc>
              <a:spcBef>
                <a:spcPct val="0"/>
              </a:spcBef>
            </a:pPr>
            <a:r>
              <a:rPr lang="en-US" b="1" spc="179">
                <a:solidFill>
                  <a:srgbClr val="8C7753"/>
                </a:solidFill>
                <a:latin typeface="Open Sauce Bold"/>
                <a:ea typeface="Open Sauce Bold"/>
                <a:cs typeface="Open Sauce Bold"/>
              </a:rPr>
              <a:t>Laide Olubunmi</a:t>
            </a:r>
            <a:endParaRPr lang="en-US" sz="1800" b="1" spc="179">
              <a:solidFill>
                <a:srgbClr val="8C7753"/>
              </a:solidFill>
              <a:latin typeface="Open Sauce Bold"/>
              <a:ea typeface="Open Sauce Bold"/>
              <a:cs typeface="Open Sauce Bold"/>
            </a:endParaRPr>
          </a:p>
        </p:txBody>
      </p:sp>
      <p:grpSp>
        <p:nvGrpSpPr>
          <p:cNvPr id="6" name="Group 6"/>
          <p:cNvGrpSpPr/>
          <p:nvPr/>
        </p:nvGrpSpPr>
        <p:grpSpPr>
          <a:xfrm>
            <a:off x="0" y="3600450"/>
            <a:ext cx="6817607" cy="1543050"/>
            <a:chOff x="0" y="0"/>
            <a:chExt cx="1795584" cy="406400"/>
          </a:xfrm>
        </p:grpSpPr>
        <p:sp>
          <p:nvSpPr>
            <p:cNvPr id="7" name="Freeform 7"/>
            <p:cNvSpPr/>
            <p:nvPr/>
          </p:nvSpPr>
          <p:spPr>
            <a:xfrm>
              <a:off x="0" y="0"/>
              <a:ext cx="1795584" cy="406400"/>
            </a:xfrm>
            <a:custGeom>
              <a:avLst/>
              <a:gdLst/>
              <a:ahLst/>
              <a:cxnLst/>
              <a:rect l="l" t="t" r="r" b="b"/>
              <a:pathLst>
                <a:path w="1795584" h="406400">
                  <a:moveTo>
                    <a:pt x="1592384" y="0"/>
                  </a:moveTo>
                  <a:lnTo>
                    <a:pt x="0" y="0"/>
                  </a:lnTo>
                  <a:lnTo>
                    <a:pt x="0" y="406400"/>
                  </a:lnTo>
                  <a:lnTo>
                    <a:pt x="1592384" y="406400"/>
                  </a:lnTo>
                  <a:lnTo>
                    <a:pt x="1795584" y="203200"/>
                  </a:lnTo>
                  <a:lnTo>
                    <a:pt x="1592384" y="0"/>
                  </a:lnTo>
                  <a:close/>
                </a:path>
              </a:pathLst>
            </a:custGeom>
            <a:solidFill>
              <a:srgbClr val="8C7753"/>
            </a:solidFill>
          </p:spPr>
        </p:sp>
        <p:sp>
          <p:nvSpPr>
            <p:cNvPr id="8" name="TextBox 8"/>
            <p:cNvSpPr txBox="1"/>
            <p:nvPr/>
          </p:nvSpPr>
          <p:spPr>
            <a:xfrm>
              <a:off x="0" y="-47625"/>
              <a:ext cx="1681284" cy="454025"/>
            </a:xfrm>
            <a:prstGeom prst="rect">
              <a:avLst/>
            </a:prstGeom>
          </p:spPr>
          <p:txBody>
            <a:bodyPr lIns="50800" tIns="50800" rIns="50800" bIns="50800" rtlCol="0" anchor="ctr"/>
            <a:lstStyle/>
            <a:p>
              <a:pPr algn="ctr">
                <a:lnSpc>
                  <a:spcPts val="2940"/>
                </a:lnSpc>
              </a:pPr>
              <a:endParaRPr/>
            </a:p>
          </p:txBody>
        </p:sp>
      </p:grpSp>
      <p:grpSp>
        <p:nvGrpSpPr>
          <p:cNvPr id="9" name="Group 9"/>
          <p:cNvGrpSpPr/>
          <p:nvPr/>
        </p:nvGrpSpPr>
        <p:grpSpPr>
          <a:xfrm>
            <a:off x="6074871" y="3600450"/>
            <a:ext cx="3811973" cy="1543050"/>
            <a:chOff x="0" y="0"/>
            <a:chExt cx="1003976" cy="406400"/>
          </a:xfrm>
        </p:grpSpPr>
        <p:sp>
          <p:nvSpPr>
            <p:cNvPr id="10" name="Freeform 10"/>
            <p:cNvSpPr/>
            <p:nvPr/>
          </p:nvSpPr>
          <p:spPr>
            <a:xfrm>
              <a:off x="0" y="0"/>
              <a:ext cx="1003976" cy="406400"/>
            </a:xfrm>
            <a:custGeom>
              <a:avLst/>
              <a:gdLst/>
              <a:ahLst/>
              <a:cxnLst/>
              <a:rect l="l" t="t" r="r" b="b"/>
              <a:pathLst>
                <a:path w="1003976" h="406400">
                  <a:moveTo>
                    <a:pt x="0" y="0"/>
                  </a:moveTo>
                  <a:lnTo>
                    <a:pt x="800776" y="0"/>
                  </a:lnTo>
                  <a:lnTo>
                    <a:pt x="1003976" y="203200"/>
                  </a:lnTo>
                  <a:lnTo>
                    <a:pt x="800776" y="406400"/>
                  </a:lnTo>
                  <a:lnTo>
                    <a:pt x="0" y="406400"/>
                  </a:lnTo>
                  <a:lnTo>
                    <a:pt x="203200" y="203200"/>
                  </a:lnTo>
                  <a:lnTo>
                    <a:pt x="0" y="0"/>
                  </a:lnTo>
                  <a:close/>
                </a:path>
              </a:pathLst>
            </a:custGeom>
            <a:solidFill>
              <a:srgbClr val="8C7753">
                <a:alpha val="80000"/>
              </a:srgbClr>
            </a:solidFill>
          </p:spPr>
        </p:sp>
        <p:sp>
          <p:nvSpPr>
            <p:cNvPr id="11" name="TextBox 11"/>
            <p:cNvSpPr txBox="1"/>
            <p:nvPr/>
          </p:nvSpPr>
          <p:spPr>
            <a:xfrm>
              <a:off x="177800" y="-47625"/>
              <a:ext cx="749976" cy="454025"/>
            </a:xfrm>
            <a:prstGeom prst="rect">
              <a:avLst/>
            </a:prstGeom>
          </p:spPr>
          <p:txBody>
            <a:bodyPr lIns="50800" tIns="50800" rIns="50800" bIns="50800" rtlCol="0" anchor="ctr"/>
            <a:lstStyle/>
            <a:p>
              <a:pPr algn="ctr">
                <a:lnSpc>
                  <a:spcPts val="2940"/>
                </a:lnSpc>
              </a:pPr>
              <a:endParaRPr/>
            </a:p>
          </p:txBody>
        </p:sp>
      </p:grpSp>
      <p:grpSp>
        <p:nvGrpSpPr>
          <p:cNvPr id="12" name="Group 12"/>
          <p:cNvGrpSpPr/>
          <p:nvPr/>
        </p:nvGrpSpPr>
        <p:grpSpPr>
          <a:xfrm>
            <a:off x="9144107" y="3600450"/>
            <a:ext cx="3811973" cy="1543050"/>
            <a:chOff x="0" y="0"/>
            <a:chExt cx="1003976" cy="406400"/>
          </a:xfrm>
        </p:grpSpPr>
        <p:sp>
          <p:nvSpPr>
            <p:cNvPr id="13" name="Freeform 13"/>
            <p:cNvSpPr/>
            <p:nvPr/>
          </p:nvSpPr>
          <p:spPr>
            <a:xfrm>
              <a:off x="0" y="0"/>
              <a:ext cx="1003976" cy="406400"/>
            </a:xfrm>
            <a:custGeom>
              <a:avLst/>
              <a:gdLst/>
              <a:ahLst/>
              <a:cxnLst/>
              <a:rect l="l" t="t" r="r" b="b"/>
              <a:pathLst>
                <a:path w="1003976" h="406400">
                  <a:moveTo>
                    <a:pt x="0" y="0"/>
                  </a:moveTo>
                  <a:lnTo>
                    <a:pt x="800776" y="0"/>
                  </a:lnTo>
                  <a:lnTo>
                    <a:pt x="1003976" y="203200"/>
                  </a:lnTo>
                  <a:lnTo>
                    <a:pt x="800776" y="406400"/>
                  </a:lnTo>
                  <a:lnTo>
                    <a:pt x="0" y="406400"/>
                  </a:lnTo>
                  <a:lnTo>
                    <a:pt x="203200" y="203200"/>
                  </a:lnTo>
                  <a:lnTo>
                    <a:pt x="0" y="0"/>
                  </a:lnTo>
                  <a:close/>
                </a:path>
              </a:pathLst>
            </a:custGeom>
            <a:solidFill>
              <a:srgbClr val="8C7753">
                <a:alpha val="60000"/>
              </a:srgbClr>
            </a:solidFill>
          </p:spPr>
        </p:sp>
        <p:sp>
          <p:nvSpPr>
            <p:cNvPr id="14" name="TextBox 14"/>
            <p:cNvSpPr txBox="1"/>
            <p:nvPr/>
          </p:nvSpPr>
          <p:spPr>
            <a:xfrm>
              <a:off x="177800" y="-47625"/>
              <a:ext cx="749976" cy="454025"/>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12213343" y="3600450"/>
            <a:ext cx="7311622" cy="1543050"/>
            <a:chOff x="0" y="0"/>
            <a:chExt cx="1925695" cy="406400"/>
          </a:xfrm>
        </p:grpSpPr>
        <p:sp>
          <p:nvSpPr>
            <p:cNvPr id="16" name="Freeform 16"/>
            <p:cNvSpPr/>
            <p:nvPr/>
          </p:nvSpPr>
          <p:spPr>
            <a:xfrm>
              <a:off x="0" y="0"/>
              <a:ext cx="1925695" cy="406400"/>
            </a:xfrm>
            <a:custGeom>
              <a:avLst/>
              <a:gdLst/>
              <a:ahLst/>
              <a:cxnLst/>
              <a:rect l="l" t="t" r="r" b="b"/>
              <a:pathLst>
                <a:path w="1925695" h="406400">
                  <a:moveTo>
                    <a:pt x="0" y="0"/>
                  </a:moveTo>
                  <a:lnTo>
                    <a:pt x="1722495" y="0"/>
                  </a:lnTo>
                  <a:lnTo>
                    <a:pt x="1925695" y="203200"/>
                  </a:lnTo>
                  <a:lnTo>
                    <a:pt x="1722495" y="406400"/>
                  </a:lnTo>
                  <a:lnTo>
                    <a:pt x="0" y="406400"/>
                  </a:lnTo>
                  <a:lnTo>
                    <a:pt x="203200" y="203200"/>
                  </a:lnTo>
                  <a:lnTo>
                    <a:pt x="0" y="0"/>
                  </a:lnTo>
                  <a:close/>
                </a:path>
              </a:pathLst>
            </a:custGeom>
            <a:solidFill>
              <a:srgbClr val="8C7753">
                <a:alpha val="40000"/>
              </a:srgbClr>
            </a:solidFill>
          </p:spPr>
        </p:sp>
        <p:sp>
          <p:nvSpPr>
            <p:cNvPr id="17" name="TextBox 17"/>
            <p:cNvSpPr txBox="1"/>
            <p:nvPr/>
          </p:nvSpPr>
          <p:spPr>
            <a:xfrm>
              <a:off x="177800" y="-47625"/>
              <a:ext cx="1671695" cy="454025"/>
            </a:xfrm>
            <a:prstGeom prst="rect">
              <a:avLst/>
            </a:prstGeom>
          </p:spPr>
          <p:txBody>
            <a:bodyPr lIns="50800" tIns="50800" rIns="50800" bIns="50800" rtlCol="0" anchor="ctr"/>
            <a:lstStyle/>
            <a:p>
              <a:pPr algn="ctr">
                <a:lnSpc>
                  <a:spcPts val="2940"/>
                </a:lnSpc>
              </a:pPr>
              <a:endParaRPr/>
            </a:p>
          </p:txBody>
        </p:sp>
      </p:grpSp>
      <p:sp>
        <p:nvSpPr>
          <p:cNvPr id="18" name="TextBox 18"/>
          <p:cNvSpPr txBox="1"/>
          <p:nvPr/>
        </p:nvSpPr>
        <p:spPr>
          <a:xfrm>
            <a:off x="3506547" y="4149094"/>
            <a:ext cx="2810148" cy="719941"/>
          </a:xfrm>
          <a:prstGeom prst="rect">
            <a:avLst/>
          </a:prstGeom>
        </p:spPr>
        <p:txBody>
          <a:bodyPr lIns="0" tIns="0" rIns="0" bIns="0" rtlCol="0" anchor="t">
            <a:spAutoFit/>
          </a:bodyPr>
          <a:lstStyle/>
          <a:p>
            <a:pPr>
              <a:lnSpc>
                <a:spcPts val="2940"/>
              </a:lnSpc>
              <a:spcBef>
                <a:spcPct val="0"/>
              </a:spcBef>
            </a:pPr>
            <a:r>
              <a:rPr lang="en-US" sz="2100">
                <a:solidFill>
                  <a:srgbClr val="FFFFFF"/>
                </a:solidFill>
                <a:latin typeface="Open Sauce"/>
                <a:sym typeface="Open Sauce"/>
              </a:rPr>
              <a:t>Objectives and Results</a:t>
            </a:r>
            <a:endParaRPr lang="en-US"/>
          </a:p>
        </p:txBody>
      </p:sp>
      <p:sp>
        <p:nvSpPr>
          <p:cNvPr id="19" name="TextBox 19"/>
          <p:cNvSpPr txBox="1"/>
          <p:nvPr/>
        </p:nvSpPr>
        <p:spPr>
          <a:xfrm>
            <a:off x="7340385" y="3963357"/>
            <a:ext cx="1828401" cy="1084592"/>
          </a:xfrm>
          <a:prstGeom prst="rect">
            <a:avLst/>
          </a:prstGeom>
        </p:spPr>
        <p:txBody>
          <a:bodyPr lIns="0" tIns="0" rIns="0" bIns="0" rtlCol="0" anchor="t">
            <a:spAutoFit/>
          </a:bodyPr>
          <a:lstStyle/>
          <a:p>
            <a:pPr>
              <a:lnSpc>
                <a:spcPts val="2940"/>
              </a:lnSpc>
              <a:spcBef>
                <a:spcPct val="0"/>
              </a:spcBef>
            </a:pPr>
            <a:r>
              <a:rPr lang="en-US" sz="2100">
                <a:solidFill>
                  <a:srgbClr val="FFFFFF"/>
                </a:solidFill>
                <a:latin typeface="Open Sauce"/>
                <a:sym typeface="Open Sauce"/>
              </a:rPr>
              <a:t>Team</a:t>
            </a:r>
            <a:endParaRPr lang="en-US" sz="2100">
              <a:solidFill>
                <a:srgbClr val="FFFFFF"/>
              </a:solidFill>
              <a:latin typeface="Open Sauce"/>
            </a:endParaRPr>
          </a:p>
          <a:p>
            <a:pPr>
              <a:lnSpc>
                <a:spcPts val="2940"/>
              </a:lnSpc>
              <a:spcBef>
                <a:spcPct val="0"/>
              </a:spcBef>
            </a:pPr>
            <a:r>
              <a:rPr lang="en-US" sz="2100">
                <a:solidFill>
                  <a:srgbClr val="FFFFFF"/>
                </a:solidFill>
                <a:latin typeface="Open Sauce"/>
              </a:rPr>
              <a:t>Feedback</a:t>
            </a:r>
          </a:p>
          <a:p>
            <a:pPr>
              <a:lnSpc>
                <a:spcPts val="2940"/>
              </a:lnSpc>
              <a:spcBef>
                <a:spcPct val="0"/>
              </a:spcBef>
            </a:pPr>
            <a:endParaRPr lang="en-US" sz="2100">
              <a:solidFill>
                <a:srgbClr val="FFFFFF"/>
              </a:solidFill>
              <a:latin typeface="Open Sauce"/>
            </a:endParaRPr>
          </a:p>
        </p:txBody>
      </p:sp>
      <p:sp>
        <p:nvSpPr>
          <p:cNvPr id="20" name="TextBox 20"/>
          <p:cNvSpPr txBox="1"/>
          <p:nvPr/>
        </p:nvSpPr>
        <p:spPr>
          <a:xfrm>
            <a:off x="10404519" y="3963357"/>
            <a:ext cx="1828401" cy="712696"/>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Open Sauce"/>
                <a:sym typeface="Open Sauce"/>
              </a:rPr>
              <a:t>Reflection</a:t>
            </a:r>
          </a:p>
          <a:p>
            <a:pPr>
              <a:lnSpc>
                <a:spcPts val="2940"/>
              </a:lnSpc>
              <a:spcBef>
                <a:spcPct val="0"/>
              </a:spcBef>
            </a:pPr>
            <a:r>
              <a:rPr lang="en-US" sz="2100">
                <a:solidFill>
                  <a:srgbClr val="FFFFFF"/>
                </a:solidFill>
                <a:latin typeface="Open Sauce"/>
              </a:rPr>
              <a:t>&amp; Growth</a:t>
            </a:r>
          </a:p>
        </p:txBody>
      </p:sp>
      <p:sp>
        <p:nvSpPr>
          <p:cNvPr id="21" name="TextBox 21"/>
          <p:cNvSpPr txBox="1"/>
          <p:nvPr/>
        </p:nvSpPr>
        <p:spPr>
          <a:xfrm>
            <a:off x="13473755" y="4149094"/>
            <a:ext cx="1828401" cy="719941"/>
          </a:xfrm>
          <a:prstGeom prst="rect">
            <a:avLst/>
          </a:prstGeom>
        </p:spPr>
        <p:txBody>
          <a:bodyPr lIns="0" tIns="0" rIns="0" bIns="0" rtlCol="0" anchor="t">
            <a:spAutoFit/>
          </a:bodyPr>
          <a:lstStyle/>
          <a:p>
            <a:pPr>
              <a:lnSpc>
                <a:spcPts val="2940"/>
              </a:lnSpc>
              <a:spcBef>
                <a:spcPct val="0"/>
              </a:spcBef>
            </a:pPr>
            <a:r>
              <a:rPr lang="en-US" sz="2100">
                <a:solidFill>
                  <a:srgbClr val="331B0D"/>
                </a:solidFill>
                <a:latin typeface="Open Sauce"/>
                <a:sym typeface="Open Sauce"/>
              </a:rPr>
              <a:t>Achieved Goals</a:t>
            </a:r>
            <a:endParaRPr lang="en-US">
              <a:solidFill>
                <a:srgbClr val="000000"/>
              </a:solidFill>
              <a:latin typeface="Calibri"/>
              <a:ea typeface="Calibri"/>
              <a:cs typeface="Calibri"/>
              <a:sym typeface="Open Sauce"/>
            </a:endParaRPr>
          </a:p>
        </p:txBody>
      </p:sp>
      <p:sp>
        <p:nvSpPr>
          <p:cNvPr id="22" name="TextBox 22"/>
          <p:cNvSpPr txBox="1"/>
          <p:nvPr/>
        </p:nvSpPr>
        <p:spPr>
          <a:xfrm>
            <a:off x="215039" y="5989968"/>
            <a:ext cx="4355740" cy="1091837"/>
          </a:xfrm>
          <a:prstGeom prst="rect">
            <a:avLst/>
          </a:prstGeom>
        </p:spPr>
        <p:txBody>
          <a:bodyPr lIns="0" tIns="0" rIns="0" bIns="0" rtlCol="0" anchor="t">
            <a:spAutoFit/>
          </a:bodyPr>
          <a:lstStyle/>
          <a:p>
            <a:pPr>
              <a:lnSpc>
                <a:spcPts val="2940"/>
              </a:lnSpc>
              <a:spcBef>
                <a:spcPct val="0"/>
              </a:spcBef>
            </a:pPr>
            <a:r>
              <a:rPr lang="en-US" sz="2100">
                <a:solidFill>
                  <a:srgbClr val="331B0D"/>
                </a:solidFill>
                <a:latin typeface="Open Sauce"/>
                <a:sym typeface="Open Sauce"/>
              </a:rPr>
              <a:t>The initial objective was  to develop a gamified companion to IBM's Skills build courses</a:t>
            </a:r>
            <a:endParaRPr lang="en-US"/>
          </a:p>
        </p:txBody>
      </p:sp>
      <p:sp>
        <p:nvSpPr>
          <p:cNvPr id="23" name="TextBox 23"/>
          <p:cNvSpPr txBox="1"/>
          <p:nvPr/>
        </p:nvSpPr>
        <p:spPr>
          <a:xfrm>
            <a:off x="6869266" y="6164324"/>
            <a:ext cx="4355740" cy="3687869"/>
          </a:xfrm>
          <a:prstGeom prst="rect">
            <a:avLst/>
          </a:prstGeom>
        </p:spPr>
        <p:txBody>
          <a:bodyPr lIns="0" tIns="0" rIns="0" bIns="0" rtlCol="0" anchor="t">
            <a:spAutoFit/>
          </a:bodyPr>
          <a:lstStyle/>
          <a:p>
            <a:pPr marL="453390" lvl="1" indent="-226695">
              <a:lnSpc>
                <a:spcPts val="2940"/>
              </a:lnSpc>
              <a:spcBef>
                <a:spcPct val="0"/>
              </a:spcBef>
              <a:buFont typeface="Arial"/>
              <a:buChar char="•"/>
            </a:pPr>
            <a:r>
              <a:rPr lang="en-US" sz="2100">
                <a:solidFill>
                  <a:srgbClr val="331B0D"/>
                </a:solidFill>
                <a:latin typeface="Open Sauce"/>
                <a:ea typeface="Open Sauce"/>
                <a:cs typeface="Open Sauce"/>
                <a:sym typeface="Open Sauce"/>
              </a:rPr>
              <a:t>Feedback brought grey areas to light and allowed us to overcome obstacles as a team</a:t>
            </a:r>
          </a:p>
          <a:p>
            <a:pPr marL="453390" lvl="1" indent="-226695">
              <a:lnSpc>
                <a:spcPts val="2940"/>
              </a:lnSpc>
              <a:spcBef>
                <a:spcPct val="0"/>
              </a:spcBef>
              <a:buFont typeface="Arial"/>
              <a:buChar char="•"/>
            </a:pPr>
            <a:r>
              <a:rPr lang="en-US" sz="2100">
                <a:solidFill>
                  <a:srgbClr val="331B0D"/>
                </a:solidFill>
                <a:latin typeface="Open Sauce"/>
                <a:ea typeface="Open Sauce"/>
                <a:cs typeface="Open Sauce"/>
              </a:rPr>
              <a:t>Any issue or error was a shared responsibility, those who didn’t understand could learn and other members lead with example and developed trust </a:t>
            </a:r>
          </a:p>
        </p:txBody>
      </p:sp>
      <p:sp>
        <p:nvSpPr>
          <p:cNvPr id="24" name="TextBox 24"/>
          <p:cNvSpPr txBox="1"/>
          <p:nvPr/>
        </p:nvSpPr>
        <p:spPr>
          <a:xfrm>
            <a:off x="12206136" y="6164324"/>
            <a:ext cx="4355740" cy="2200282"/>
          </a:xfrm>
          <a:prstGeom prst="rect">
            <a:avLst/>
          </a:prstGeom>
        </p:spPr>
        <p:txBody>
          <a:bodyPr lIns="0" tIns="0" rIns="0" bIns="0" rtlCol="0" anchor="t">
            <a:spAutoFit/>
          </a:bodyPr>
          <a:lstStyle/>
          <a:p>
            <a:pPr>
              <a:lnSpc>
                <a:spcPts val="2940"/>
              </a:lnSpc>
              <a:spcBef>
                <a:spcPct val="0"/>
              </a:spcBef>
            </a:pPr>
            <a:r>
              <a:rPr lang="en-US" sz="2100" err="1">
                <a:solidFill>
                  <a:srgbClr val="331B0D"/>
                </a:solidFill>
                <a:latin typeface="Open Sauce"/>
              </a:rPr>
              <a:t>Realisation</a:t>
            </a:r>
            <a:r>
              <a:rPr lang="en-US" sz="2100">
                <a:solidFill>
                  <a:srgbClr val="331B0D"/>
                </a:solidFill>
                <a:latin typeface="Open Sauce"/>
              </a:rPr>
              <a:t> that the project wasn't the only thing developed. Soft Skills were strengthened and diverse perspectives were combined which allowed us to share knowledge</a:t>
            </a:r>
          </a:p>
        </p:txBody>
      </p:sp>
      <p:sp>
        <p:nvSpPr>
          <p:cNvPr id="25" name="AutoShape 25"/>
          <p:cNvSpPr/>
          <p:nvPr/>
        </p:nvSpPr>
        <p:spPr>
          <a:xfrm>
            <a:off x="4141460" y="5143500"/>
            <a:ext cx="0" cy="861252"/>
          </a:xfrm>
          <a:prstGeom prst="line">
            <a:avLst/>
          </a:prstGeom>
          <a:ln w="38100" cap="flat">
            <a:solidFill>
              <a:srgbClr val="8C7753"/>
            </a:solidFill>
            <a:prstDash val="solid"/>
            <a:headEnd type="none" w="sm" len="sm"/>
            <a:tailEnd type="arrow" w="med" len="sm"/>
          </a:ln>
        </p:spPr>
      </p:sp>
      <p:sp>
        <p:nvSpPr>
          <p:cNvPr id="26" name="AutoShape 26"/>
          <p:cNvSpPr/>
          <p:nvPr/>
        </p:nvSpPr>
        <p:spPr>
          <a:xfrm>
            <a:off x="9144000" y="5143500"/>
            <a:ext cx="0" cy="861252"/>
          </a:xfrm>
          <a:prstGeom prst="line">
            <a:avLst/>
          </a:prstGeom>
          <a:ln w="38100" cap="flat">
            <a:solidFill>
              <a:srgbClr val="8C7753">
                <a:alpha val="69804"/>
              </a:srgbClr>
            </a:solidFill>
            <a:prstDash val="solid"/>
            <a:headEnd type="none" w="sm" len="sm"/>
            <a:tailEnd type="arrow" w="med" len="sm"/>
          </a:ln>
        </p:spPr>
      </p:sp>
      <p:sp>
        <p:nvSpPr>
          <p:cNvPr id="27" name="AutoShape 27"/>
          <p:cNvSpPr/>
          <p:nvPr/>
        </p:nvSpPr>
        <p:spPr>
          <a:xfrm>
            <a:off x="14146540" y="5143500"/>
            <a:ext cx="0" cy="861252"/>
          </a:xfrm>
          <a:prstGeom prst="line">
            <a:avLst/>
          </a:prstGeom>
          <a:ln w="38100" cap="flat">
            <a:solidFill>
              <a:srgbClr val="8C7753">
                <a:alpha val="40000"/>
              </a:srgbClr>
            </a:solidFill>
            <a:prstDash val="solid"/>
            <a:headEnd type="none" w="sm" len="sm"/>
            <a:tailEnd type="arrow" w="med" len="sm"/>
          </a:ln>
        </p:spPr>
      </p:sp>
      <p:sp>
        <p:nvSpPr>
          <p:cNvPr id="28" name="TextBox 27">
            <a:extLst>
              <a:ext uri="{FF2B5EF4-FFF2-40B4-BE49-F238E27FC236}">
                <a16:creationId xmlns:a16="http://schemas.microsoft.com/office/drawing/2014/main" id="{0015AD2A-505A-B906-154F-BD9A31A0DC5A}"/>
              </a:ext>
            </a:extLst>
          </p:cNvPr>
          <p:cNvSpPr txBox="1"/>
          <p:nvPr/>
        </p:nvSpPr>
        <p:spPr>
          <a:xfrm>
            <a:off x="154983" y="7371383"/>
            <a:ext cx="7051730"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00" b="0" i="0" u="none" strike="noStrike">
                <a:solidFill>
                  <a:srgbClr val="331B0D"/>
                </a:solidFill>
                <a:latin typeface="Open Sauce"/>
              </a:rPr>
              <a:t>The </a:t>
            </a:r>
            <a:r>
              <a:rPr lang="en-US" sz="2100">
                <a:solidFill>
                  <a:srgbClr val="331B0D"/>
                </a:solidFill>
                <a:latin typeface="Open Sauce"/>
              </a:rPr>
              <a:t>Result was a project we were all proud of,</a:t>
            </a:r>
          </a:p>
          <a:p>
            <a:r>
              <a:rPr lang="en-US" sz="2100">
                <a:solidFill>
                  <a:srgbClr val="331B0D"/>
                </a:solidFill>
                <a:latin typeface="Open Sauce"/>
              </a:rPr>
              <a:t>Including meaningful commits, clear </a:t>
            </a:r>
          </a:p>
          <a:p>
            <a:r>
              <a:rPr lang="en-US" sz="2100">
                <a:solidFill>
                  <a:srgbClr val="331B0D"/>
                </a:solidFill>
                <a:latin typeface="Open Sauce"/>
              </a:rPr>
              <a:t>user manuals and achieved User Stories </a:t>
            </a:r>
          </a:p>
          <a:p>
            <a:r>
              <a:rPr lang="en-US" sz="2100">
                <a:solidFill>
                  <a:srgbClr val="331B0D"/>
                </a:solidFill>
                <a:latin typeface="Open Sauce"/>
              </a:rPr>
              <a:t>verified by clear Definition of Dones</a:t>
            </a:r>
            <a:endParaRPr lang="en-US"/>
          </a:p>
          <a:p>
            <a:pPr algn="ctr"/>
            <a:endParaRPr lang="en-US"/>
          </a:p>
        </p:txBody>
      </p:sp>
      <p:pic>
        <p:nvPicPr>
          <p:cNvPr id="29" name="Picture 28" descr="A person raising his hand in front of a group of people&#10;&#10;AI-generated content may be incorrect.">
            <a:extLst>
              <a:ext uri="{FF2B5EF4-FFF2-40B4-BE49-F238E27FC236}">
                <a16:creationId xmlns:a16="http://schemas.microsoft.com/office/drawing/2014/main" id="{A68E5CEF-F5F5-05D1-0809-481078885EE2}"/>
              </a:ext>
            </a:extLst>
          </p:cNvPr>
          <p:cNvPicPr>
            <a:picLocks noChangeAspect="1"/>
          </p:cNvPicPr>
          <p:nvPr/>
        </p:nvPicPr>
        <p:blipFill>
          <a:blip r:embed="rId3"/>
          <a:stretch>
            <a:fillRect/>
          </a:stretch>
        </p:blipFill>
        <p:spPr>
          <a:xfrm>
            <a:off x="6306680" y="1164713"/>
            <a:ext cx="2381250" cy="19907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9912749" y="1989777"/>
            <a:ext cx="7342398" cy="615553"/>
          </a:xfrm>
          <a:prstGeom prst="rect">
            <a:avLst/>
          </a:prstGeom>
        </p:spPr>
        <p:txBody>
          <a:bodyPr lIns="0" tIns="0" rIns="0" bIns="0" rtlCol="0" anchor="t">
            <a:spAutoFit/>
          </a:bodyPr>
          <a:lstStyle/>
          <a:p>
            <a:pPr>
              <a:lnSpc>
                <a:spcPts val="4800"/>
              </a:lnSpc>
            </a:pPr>
            <a:r>
              <a:rPr lang="en-US" sz="4800" spc="-288">
                <a:solidFill>
                  <a:srgbClr val="331B0D"/>
                </a:solidFill>
                <a:latin typeface="Open Sauce"/>
                <a:sym typeface="Open Sauce"/>
              </a:rPr>
              <a:t>Constructive Feedback</a:t>
            </a:r>
          </a:p>
        </p:txBody>
      </p:sp>
      <p:sp>
        <p:nvSpPr>
          <p:cNvPr id="4" name="TextBox 4"/>
          <p:cNvSpPr txBox="1"/>
          <p:nvPr/>
        </p:nvSpPr>
        <p:spPr>
          <a:xfrm>
            <a:off x="12698616" y="8984615"/>
            <a:ext cx="4560684" cy="273685"/>
          </a:xfrm>
          <a:prstGeom prst="rect">
            <a:avLst/>
          </a:prstGeom>
        </p:spPr>
        <p:txBody>
          <a:bodyPr lIns="0" tIns="0" rIns="0" bIns="0" rtlCol="0" anchor="t">
            <a:spAutoFit/>
          </a:bodyPr>
          <a:lstStyle/>
          <a:p>
            <a:pPr algn="r">
              <a:lnSpc>
                <a:spcPts val="2239"/>
              </a:lnSpc>
            </a:pPr>
            <a:r>
              <a:rPr lang="en-US" sz="1599">
                <a:solidFill>
                  <a:srgbClr val="331B0D"/>
                </a:solidFill>
                <a:latin typeface="Open Sauce"/>
                <a:ea typeface="Open Sauce"/>
                <a:cs typeface="Open Sauce"/>
                <a:sym typeface="Open Sauce"/>
              </a:rPr>
              <a:t>8</a:t>
            </a:r>
          </a:p>
        </p:txBody>
      </p:sp>
      <p:sp>
        <p:nvSpPr>
          <p:cNvPr id="6" name="TextBox 6"/>
          <p:cNvSpPr txBox="1"/>
          <p:nvPr/>
        </p:nvSpPr>
        <p:spPr>
          <a:xfrm>
            <a:off x="14411514" y="1057275"/>
            <a:ext cx="2847786" cy="230832"/>
          </a:xfrm>
          <a:prstGeom prst="rect">
            <a:avLst/>
          </a:prstGeom>
        </p:spPr>
        <p:txBody>
          <a:bodyPr lIns="0" tIns="0" rIns="0" bIns="0" rtlCol="0" anchor="t">
            <a:spAutoFit/>
          </a:bodyPr>
          <a:lstStyle/>
          <a:p>
            <a:pPr algn="r">
              <a:lnSpc>
                <a:spcPts val="1800"/>
              </a:lnSpc>
              <a:spcBef>
                <a:spcPct val="0"/>
              </a:spcBef>
            </a:pPr>
            <a:r>
              <a:rPr lang="en-US" b="1" spc="179">
                <a:solidFill>
                  <a:srgbClr val="8C7753"/>
                </a:solidFill>
                <a:latin typeface="Open Sauce Bold"/>
                <a:ea typeface="Open Sauce Bold"/>
                <a:cs typeface="Open Sauce Bold"/>
              </a:rPr>
              <a:t>Laide Olubunmi</a:t>
            </a:r>
            <a:endParaRPr lang="en-US" sz="1800" b="1" spc="179">
              <a:solidFill>
                <a:srgbClr val="8C7753"/>
              </a:solidFill>
              <a:latin typeface="Open Sauce Bold"/>
              <a:ea typeface="Open Sauce Bold"/>
              <a:cs typeface="Open Sauce Bold"/>
            </a:endParaRPr>
          </a:p>
        </p:txBody>
      </p:sp>
      <p:sp>
        <p:nvSpPr>
          <p:cNvPr id="7" name="TextBox 7"/>
          <p:cNvSpPr txBox="1"/>
          <p:nvPr/>
        </p:nvSpPr>
        <p:spPr>
          <a:xfrm>
            <a:off x="9912749" y="3073722"/>
            <a:ext cx="3671199" cy="405765"/>
          </a:xfrm>
          <a:prstGeom prst="rect">
            <a:avLst/>
          </a:prstGeom>
        </p:spPr>
        <p:txBody>
          <a:bodyPr lIns="0" tIns="0" rIns="0" bIns="0" rtlCol="0" anchor="t">
            <a:spAutoFit/>
          </a:bodyPr>
          <a:lstStyle/>
          <a:p>
            <a:pPr>
              <a:lnSpc>
                <a:spcPts val="3359"/>
              </a:lnSpc>
              <a:spcBef>
                <a:spcPct val="0"/>
              </a:spcBef>
            </a:pPr>
            <a:r>
              <a:rPr lang="en-US" sz="2400">
                <a:solidFill>
                  <a:srgbClr val="8C7753"/>
                </a:solidFill>
                <a:latin typeface="Open Sauce"/>
                <a:sym typeface="Open Sauce"/>
              </a:rPr>
              <a:t>Not just Anything</a:t>
            </a:r>
            <a:endParaRPr lang="en-US"/>
          </a:p>
        </p:txBody>
      </p:sp>
      <p:sp>
        <p:nvSpPr>
          <p:cNvPr id="8" name="TextBox 8"/>
          <p:cNvSpPr txBox="1"/>
          <p:nvPr/>
        </p:nvSpPr>
        <p:spPr>
          <a:xfrm>
            <a:off x="9893376" y="3812539"/>
            <a:ext cx="7342398" cy="1084592"/>
          </a:xfrm>
          <a:prstGeom prst="rect">
            <a:avLst/>
          </a:prstGeom>
        </p:spPr>
        <p:txBody>
          <a:bodyPr lIns="0" tIns="0" rIns="0" bIns="0" rtlCol="0" anchor="t">
            <a:spAutoFit/>
          </a:bodyPr>
          <a:lstStyle/>
          <a:p>
            <a:pPr>
              <a:lnSpc>
                <a:spcPts val="2940"/>
              </a:lnSpc>
              <a:spcBef>
                <a:spcPct val="0"/>
              </a:spcBef>
            </a:pPr>
            <a:r>
              <a:rPr lang="en-US" sz="2100">
                <a:solidFill>
                  <a:srgbClr val="331B0D"/>
                </a:solidFill>
                <a:latin typeface="Open Sauce"/>
                <a:sym typeface="Open Sauce"/>
              </a:rPr>
              <a:t>Feedback should be bidirectional, not only offered but also received openly. They should reference shared goals and focus on improvement, not just shift blame</a:t>
            </a:r>
            <a:endParaRPr lang="en-US" sz="2100">
              <a:solidFill>
                <a:srgbClr val="331B0D"/>
              </a:solidFill>
              <a:latin typeface="Open Sauce"/>
            </a:endParaRPr>
          </a:p>
        </p:txBody>
      </p:sp>
      <p:sp>
        <p:nvSpPr>
          <p:cNvPr id="9" name="TextBox 9"/>
          <p:cNvSpPr txBox="1"/>
          <p:nvPr/>
        </p:nvSpPr>
        <p:spPr>
          <a:xfrm>
            <a:off x="9893376" y="5373283"/>
            <a:ext cx="4473749" cy="405765"/>
          </a:xfrm>
          <a:prstGeom prst="rect">
            <a:avLst/>
          </a:prstGeom>
        </p:spPr>
        <p:txBody>
          <a:bodyPr lIns="0" tIns="0" rIns="0" bIns="0" rtlCol="0" anchor="t">
            <a:spAutoFit/>
          </a:bodyPr>
          <a:lstStyle/>
          <a:p>
            <a:pPr algn="l">
              <a:lnSpc>
                <a:spcPts val="3359"/>
              </a:lnSpc>
              <a:spcBef>
                <a:spcPct val="0"/>
              </a:spcBef>
            </a:pPr>
            <a:r>
              <a:rPr lang="en-US" sz="2400">
                <a:solidFill>
                  <a:srgbClr val="8C7753"/>
                </a:solidFill>
                <a:latin typeface="Open Sauce"/>
                <a:ea typeface="Open Sauce"/>
                <a:cs typeface="Open Sauce"/>
                <a:sym typeface="Open Sauce"/>
              </a:rPr>
              <a:t>What It Does</a:t>
            </a:r>
          </a:p>
        </p:txBody>
      </p:sp>
      <p:sp>
        <p:nvSpPr>
          <p:cNvPr id="10" name="TextBox 10"/>
          <p:cNvSpPr txBox="1"/>
          <p:nvPr/>
        </p:nvSpPr>
        <p:spPr>
          <a:xfrm>
            <a:off x="9912749" y="6460812"/>
            <a:ext cx="7342398" cy="1828386"/>
          </a:xfrm>
          <a:prstGeom prst="rect">
            <a:avLst/>
          </a:prstGeom>
        </p:spPr>
        <p:txBody>
          <a:bodyPr lIns="0" tIns="0" rIns="0" bIns="0" rtlCol="0" anchor="t">
            <a:spAutoFit/>
          </a:bodyPr>
          <a:lstStyle/>
          <a:p>
            <a:pPr marL="453390" lvl="1" indent="-226695">
              <a:lnSpc>
                <a:spcPts val="2940"/>
              </a:lnSpc>
              <a:spcBef>
                <a:spcPct val="0"/>
              </a:spcBef>
              <a:buFont typeface="Arial"/>
              <a:buChar char="•"/>
            </a:pPr>
            <a:r>
              <a:rPr lang="en-US" sz="2100">
                <a:solidFill>
                  <a:srgbClr val="331B0D"/>
                </a:solidFill>
                <a:latin typeface="Open Sauce"/>
                <a:sym typeface="Open Sauce"/>
              </a:rPr>
              <a:t>Improves performance</a:t>
            </a:r>
          </a:p>
          <a:p>
            <a:pPr marL="453390" lvl="1" indent="-226695">
              <a:lnSpc>
                <a:spcPts val="2940"/>
              </a:lnSpc>
              <a:spcBef>
                <a:spcPct val="0"/>
              </a:spcBef>
              <a:buFont typeface="Arial"/>
              <a:buChar char="•"/>
            </a:pPr>
            <a:r>
              <a:rPr lang="en-US" sz="2100">
                <a:solidFill>
                  <a:srgbClr val="331B0D"/>
                </a:solidFill>
                <a:latin typeface="Open Sauce"/>
              </a:rPr>
              <a:t>Increased personal development</a:t>
            </a:r>
          </a:p>
          <a:p>
            <a:pPr marL="453390" lvl="1" indent="-226695">
              <a:lnSpc>
                <a:spcPts val="2940"/>
              </a:lnSpc>
              <a:spcBef>
                <a:spcPct val="0"/>
              </a:spcBef>
              <a:buFont typeface="Arial"/>
              <a:buChar char="•"/>
            </a:pPr>
            <a:r>
              <a:rPr lang="en-US" sz="2100">
                <a:solidFill>
                  <a:srgbClr val="331B0D"/>
                </a:solidFill>
                <a:latin typeface="Open Sauce"/>
              </a:rPr>
              <a:t>Stronger relationships </a:t>
            </a:r>
          </a:p>
          <a:p>
            <a:pPr marL="453390" lvl="1" indent="-226695">
              <a:lnSpc>
                <a:spcPts val="2940"/>
              </a:lnSpc>
              <a:spcBef>
                <a:spcPct val="0"/>
              </a:spcBef>
              <a:buFont typeface="Arial"/>
              <a:buChar char="•"/>
            </a:pPr>
            <a:r>
              <a:rPr lang="en-US" sz="2100">
                <a:solidFill>
                  <a:srgbClr val="331B0D"/>
                </a:solidFill>
                <a:latin typeface="Open Sauce"/>
              </a:rPr>
              <a:t>Boosts motivation and drive</a:t>
            </a:r>
          </a:p>
          <a:p>
            <a:pPr marL="453390" lvl="1" indent="-226695">
              <a:lnSpc>
                <a:spcPts val="2940"/>
              </a:lnSpc>
              <a:spcBef>
                <a:spcPct val="0"/>
              </a:spcBef>
              <a:buFont typeface="Arial"/>
              <a:buChar char="•"/>
            </a:pPr>
            <a:r>
              <a:rPr lang="en-US" sz="2100">
                <a:solidFill>
                  <a:srgbClr val="331B0D"/>
                </a:solidFill>
                <a:latin typeface="Open Sauce"/>
              </a:rPr>
              <a:t>Error handling and prevention</a:t>
            </a:r>
          </a:p>
        </p:txBody>
      </p:sp>
      <p:pic>
        <p:nvPicPr>
          <p:cNvPr id="11" name="Picture 10" descr="customer-feedback.jpg">
            <a:extLst>
              <a:ext uri="{FF2B5EF4-FFF2-40B4-BE49-F238E27FC236}">
                <a16:creationId xmlns:a16="http://schemas.microsoft.com/office/drawing/2014/main" id="{41069FEB-BF8F-5517-29B2-655C5DFFEF8E}"/>
              </a:ext>
            </a:extLst>
          </p:cNvPr>
          <p:cNvPicPr>
            <a:picLocks noChangeAspect="1"/>
          </p:cNvPicPr>
          <p:nvPr/>
        </p:nvPicPr>
        <p:blipFill>
          <a:blip r:embed="rId3"/>
          <a:stretch>
            <a:fillRect/>
          </a:stretch>
        </p:blipFill>
        <p:spPr>
          <a:xfrm>
            <a:off x="-2583" y="1620137"/>
            <a:ext cx="9284776" cy="59618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10D9-7EA5-B046-029E-2D221926EE7C}"/>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810D0C2-B7EF-9F65-2E11-68FC03B02FB7}"/>
              </a:ext>
            </a:extLst>
          </p:cNvPr>
          <p:cNvSpPr txBox="1"/>
          <p:nvPr/>
        </p:nvSpPr>
        <p:spPr>
          <a:xfrm>
            <a:off x="13593212" y="133582"/>
            <a:ext cx="4671668" cy="461665"/>
          </a:xfrm>
          <a:prstGeom prst="rect">
            <a:avLst/>
          </a:prstGeom>
        </p:spPr>
        <p:txBody>
          <a:bodyPr wrap="square" lIns="0" tIns="0" rIns="0" bIns="0" rtlCol="0" anchor="t">
            <a:spAutoFit/>
          </a:bodyPr>
          <a:lstStyle/>
          <a:p>
            <a:pPr>
              <a:lnSpc>
                <a:spcPts val="1800"/>
              </a:lnSpc>
              <a:spcBef>
                <a:spcPct val="0"/>
              </a:spcBef>
            </a:pPr>
            <a:r>
              <a:rPr lang="en-US" b="1" spc="179">
                <a:solidFill>
                  <a:srgbClr val="3F3F3F"/>
                </a:solidFill>
                <a:latin typeface="Calibri"/>
                <a:ea typeface="Calibri"/>
                <a:cs typeface="Calibri"/>
              </a:rPr>
              <a:t>Onyinye Precious Aghamelu  </a:t>
            </a:r>
            <a:endParaRPr lang="en-US">
              <a:solidFill>
                <a:srgbClr val="3F3F3F"/>
              </a:solidFill>
              <a:latin typeface="Calibri"/>
              <a:ea typeface="Calibri"/>
              <a:cs typeface="Calibri"/>
            </a:endParaRPr>
          </a:p>
          <a:p>
            <a:pPr>
              <a:lnSpc>
                <a:spcPts val="1800"/>
              </a:lnSpc>
              <a:spcBef>
                <a:spcPct val="0"/>
              </a:spcBef>
            </a:pPr>
            <a:r>
              <a:rPr lang="en-US" b="1" spc="179">
                <a:solidFill>
                  <a:srgbClr val="3F3F3F"/>
                </a:solidFill>
                <a:latin typeface="Calibri"/>
                <a:ea typeface="Calibri"/>
                <a:cs typeface="Calibri"/>
              </a:rPr>
              <a:t>Email - oa287@student.le.ac.uk</a:t>
            </a:r>
            <a:endParaRPr lang="en-US" i="1">
              <a:solidFill>
                <a:srgbClr val="3F3F3F"/>
              </a:solidFill>
              <a:latin typeface="Calibri"/>
              <a:ea typeface="Calibri"/>
              <a:cs typeface="Calibri"/>
            </a:endParaRPr>
          </a:p>
        </p:txBody>
      </p:sp>
      <p:sp>
        <p:nvSpPr>
          <p:cNvPr id="13" name="TextBox 13">
            <a:extLst>
              <a:ext uri="{FF2B5EF4-FFF2-40B4-BE49-F238E27FC236}">
                <a16:creationId xmlns:a16="http://schemas.microsoft.com/office/drawing/2014/main" id="{3A113B8D-6027-858C-D7D5-A76C05A80554}"/>
              </a:ext>
            </a:extLst>
          </p:cNvPr>
          <p:cNvSpPr txBox="1"/>
          <p:nvPr/>
        </p:nvSpPr>
        <p:spPr>
          <a:xfrm>
            <a:off x="389264" y="973863"/>
            <a:ext cx="10221060" cy="590290"/>
          </a:xfrm>
          <a:prstGeom prst="rect">
            <a:avLst/>
          </a:prstGeom>
        </p:spPr>
        <p:txBody>
          <a:bodyPr wrap="square" lIns="0" tIns="0" rIns="0" bIns="0" rtlCol="0" anchor="t">
            <a:spAutoFit/>
          </a:bodyPr>
          <a:lstStyle/>
          <a:p>
            <a:pPr>
              <a:lnSpc>
                <a:spcPts val="4800"/>
              </a:lnSpc>
            </a:pPr>
            <a:r>
              <a:rPr lang="en-US" sz="3800" i="1" spc="-288">
                <a:solidFill>
                  <a:srgbClr val="3F3F3F"/>
                </a:solidFill>
                <a:latin typeface="Calibri"/>
                <a:ea typeface="Calibri"/>
                <a:cs typeface="Calibri"/>
                <a:sym typeface="Open Sauce"/>
              </a:rPr>
              <a:t>Software Design choices and why we chose them:</a:t>
            </a:r>
            <a:endParaRPr lang="en-US" sz="3800" i="1">
              <a:solidFill>
                <a:srgbClr val="3F3F3F"/>
              </a:solidFill>
              <a:latin typeface="Calibri"/>
              <a:ea typeface="Calibri"/>
              <a:cs typeface="Calibri"/>
            </a:endParaRPr>
          </a:p>
        </p:txBody>
      </p:sp>
      <p:sp>
        <p:nvSpPr>
          <p:cNvPr id="7" name="Subtitle 3">
            <a:extLst>
              <a:ext uri="{FF2B5EF4-FFF2-40B4-BE49-F238E27FC236}">
                <a16:creationId xmlns:a16="http://schemas.microsoft.com/office/drawing/2014/main" id="{F0CC0C5E-06B6-690A-5D64-957898E0ADB7}"/>
              </a:ext>
            </a:extLst>
          </p:cNvPr>
          <p:cNvSpPr>
            <a:spLocks noGrp="1"/>
          </p:cNvSpPr>
          <p:nvPr/>
        </p:nvSpPr>
        <p:spPr>
          <a:xfrm>
            <a:off x="2575904" y="6740948"/>
            <a:ext cx="4594860" cy="1011393"/>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a:solidFill>
                  <a:srgbClr val="3F3F3F"/>
                </a:solidFill>
                <a:ea typeface="Calibri"/>
                <a:cs typeface="Calibri"/>
              </a:rPr>
              <a:t>HTML &amp; CSS</a:t>
            </a:r>
          </a:p>
          <a:p>
            <a:pPr algn="l"/>
            <a:r>
              <a:rPr lang="en-US" sz="2200">
                <a:solidFill>
                  <a:schemeClr val="tx1">
                    <a:lumMod val="65000"/>
                    <a:lumOff val="35000"/>
                  </a:schemeClr>
                </a:solidFill>
                <a:ea typeface="Calibri"/>
                <a:cs typeface="Calibri"/>
              </a:rPr>
              <a:t>Frontend structing &amp; styling</a:t>
            </a:r>
          </a:p>
        </p:txBody>
      </p:sp>
      <p:sp>
        <p:nvSpPr>
          <p:cNvPr id="8" name="Subtitle 3">
            <a:extLst>
              <a:ext uri="{FF2B5EF4-FFF2-40B4-BE49-F238E27FC236}">
                <a16:creationId xmlns:a16="http://schemas.microsoft.com/office/drawing/2014/main" id="{87B6D3AE-E2A7-277E-4C62-D3DBC23F7AE5}"/>
              </a:ext>
            </a:extLst>
          </p:cNvPr>
          <p:cNvSpPr>
            <a:spLocks noGrp="1"/>
          </p:cNvSpPr>
          <p:nvPr/>
        </p:nvSpPr>
        <p:spPr>
          <a:xfrm>
            <a:off x="9809359" y="2513252"/>
            <a:ext cx="6720840" cy="582077"/>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a:solidFill>
                  <a:srgbClr val="3F3F3F"/>
                </a:solidFill>
                <a:ea typeface="Calibri"/>
                <a:cs typeface="Calibri"/>
              </a:rPr>
              <a:t>  </a:t>
            </a:r>
            <a:r>
              <a:rPr lang="en-US" b="1">
                <a:solidFill>
                  <a:srgbClr val="3F3F3F"/>
                </a:solidFill>
                <a:ea typeface="Calibri"/>
                <a:cs typeface="Calibri"/>
              </a:rPr>
              <a:t>Platforms and tools used:</a:t>
            </a:r>
            <a:endParaRPr lang="en-US" b="1">
              <a:ea typeface="Calibri"/>
              <a:cs typeface="Calibri"/>
            </a:endParaRPr>
          </a:p>
        </p:txBody>
      </p:sp>
      <p:sp>
        <p:nvSpPr>
          <p:cNvPr id="9" name="Title 8">
            <a:extLst>
              <a:ext uri="{FF2B5EF4-FFF2-40B4-BE49-F238E27FC236}">
                <a16:creationId xmlns:a16="http://schemas.microsoft.com/office/drawing/2014/main" id="{003D0133-B90D-0A18-8601-8E0B682B1CF5}"/>
              </a:ext>
            </a:extLst>
          </p:cNvPr>
          <p:cNvSpPr>
            <a:spLocks noGrp="1"/>
          </p:cNvSpPr>
          <p:nvPr>
            <p:ph type="title"/>
          </p:nvPr>
        </p:nvSpPr>
        <p:spPr>
          <a:xfrm>
            <a:off x="4736306" y="1565837"/>
            <a:ext cx="8229600" cy="564357"/>
          </a:xfrm>
        </p:spPr>
        <p:txBody>
          <a:bodyPr>
            <a:noAutofit/>
          </a:bodyPr>
          <a:lstStyle/>
          <a:p>
            <a:r>
              <a:rPr lang="en-US" sz="3200" b="1">
                <a:solidFill>
                  <a:schemeClr val="accent6">
                    <a:lumMod val="76000"/>
                  </a:schemeClr>
                </a:solidFill>
                <a:latin typeface="Calibri"/>
                <a:ea typeface="Calibri"/>
                <a:cs typeface="Calibri"/>
              </a:rPr>
              <a:t>The technologies used:</a:t>
            </a:r>
          </a:p>
        </p:txBody>
      </p:sp>
      <p:pic>
        <p:nvPicPr>
          <p:cNvPr id="20" name="Picture 19" descr="A green logo with black background&#10;&#10;AI-generated content may be incorrect.">
            <a:extLst>
              <a:ext uri="{FF2B5EF4-FFF2-40B4-BE49-F238E27FC236}">
                <a16:creationId xmlns:a16="http://schemas.microsoft.com/office/drawing/2014/main" id="{A5D7AF5B-4CB7-9EAC-B5DE-32FD15C4F74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388575" y="3373048"/>
            <a:ext cx="2184560" cy="1051100"/>
          </a:xfrm>
          <a:prstGeom prst="rect">
            <a:avLst/>
          </a:prstGeom>
        </p:spPr>
      </p:pic>
      <p:pic>
        <p:nvPicPr>
          <p:cNvPr id="2" name="Picture 1" descr="A logo with orange and yellow triangles&#10;&#10;AI-generated content may be incorrect.">
            <a:extLst>
              <a:ext uri="{FF2B5EF4-FFF2-40B4-BE49-F238E27FC236}">
                <a16:creationId xmlns:a16="http://schemas.microsoft.com/office/drawing/2014/main" id="{02A7D90E-6E8F-D0A6-26F4-4DD9F14555D2}"/>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9375458" y="4823459"/>
            <a:ext cx="1550194" cy="1501617"/>
          </a:xfrm>
          <a:prstGeom prst="rect">
            <a:avLst/>
          </a:prstGeom>
        </p:spPr>
      </p:pic>
      <p:pic>
        <p:nvPicPr>
          <p:cNvPr id="12" name="Picture 11" descr="A logo with colorful squares&#10;&#10;AI-generated content may be incorrect.">
            <a:extLst>
              <a:ext uri="{FF2B5EF4-FFF2-40B4-BE49-F238E27FC236}">
                <a16:creationId xmlns:a16="http://schemas.microsoft.com/office/drawing/2014/main" id="{299F2C7C-3076-1E01-4CCA-AB27D50965C3}"/>
              </a:ext>
            </a:extLst>
          </p:cNvPr>
          <p:cNvPicPr>
            <a:picLocks noChangeAspect="1"/>
          </p:cNvPicPr>
          <p:nvPr/>
        </p:nvPicPr>
        <p:blipFill>
          <a:blip r:embed="rId6">
            <a:extLst>
              <a:ext uri="{837473B0-CC2E-450A-ABE3-18F120FF3D39}">
                <a1611:picAttrSrcUrl xmlns:a1611="http://schemas.microsoft.com/office/drawing/2016/11/main" r:id="rId5"/>
              </a:ext>
            </a:extLst>
          </a:blip>
          <a:stretch>
            <a:fillRect/>
          </a:stretch>
        </p:blipFill>
        <p:spPr>
          <a:xfrm>
            <a:off x="9135428" y="3130392"/>
            <a:ext cx="1785939" cy="1294449"/>
          </a:xfrm>
          <a:prstGeom prst="rect">
            <a:avLst/>
          </a:prstGeom>
        </p:spPr>
      </p:pic>
      <p:pic>
        <p:nvPicPr>
          <p:cNvPr id="29" name="Picture 28" descr="A blue and white logo&#10;&#10;AI-generated content may be incorrect.">
            <a:extLst>
              <a:ext uri="{FF2B5EF4-FFF2-40B4-BE49-F238E27FC236}">
                <a16:creationId xmlns:a16="http://schemas.microsoft.com/office/drawing/2014/main" id="{D560C3C6-BBDD-B387-D946-E686B8813E27}"/>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438626" y="6739414"/>
            <a:ext cx="1348739" cy="1331594"/>
          </a:xfrm>
          <a:prstGeom prst="rect">
            <a:avLst/>
          </a:prstGeom>
        </p:spPr>
      </p:pic>
      <p:pic>
        <p:nvPicPr>
          <p:cNvPr id="32" name="Picture 31" descr="A green circle with a white leaf&#10;&#10;AI-generated content may be incorrect.">
            <a:extLst>
              <a:ext uri="{FF2B5EF4-FFF2-40B4-BE49-F238E27FC236}">
                <a16:creationId xmlns:a16="http://schemas.microsoft.com/office/drawing/2014/main" id="{92C10479-404F-87C7-1087-443A63A8A714}"/>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384238" y="5017674"/>
            <a:ext cx="1410368" cy="112176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863FFE1D-344A-7B9E-B5F9-71C803C8980A}"/>
              </a:ext>
            </a:extLst>
          </p:cNvPr>
          <p:cNvPicPr>
            <a:picLocks noChangeAspect="1"/>
          </p:cNvPicPr>
          <p:nvPr/>
        </p:nvPicPr>
        <p:blipFill>
          <a:blip r:embed="rId11">
            <a:extLst>
              <a:ext uri="{837473B0-CC2E-450A-ABE3-18F120FF3D39}">
                <a1611:picAttrSrcUrl xmlns:a1611="http://schemas.microsoft.com/office/drawing/2016/11/main" r:id="rId12"/>
              </a:ext>
            </a:extLst>
          </a:blip>
          <a:stretch>
            <a:fillRect/>
          </a:stretch>
        </p:blipFill>
        <p:spPr>
          <a:xfrm>
            <a:off x="9374505" y="6435089"/>
            <a:ext cx="4055269" cy="1318737"/>
          </a:xfrm>
          <a:prstGeom prst="rect">
            <a:avLst/>
          </a:prstGeom>
        </p:spPr>
      </p:pic>
      <p:sp>
        <p:nvSpPr>
          <p:cNvPr id="5" name="Subtitle 3">
            <a:extLst>
              <a:ext uri="{FF2B5EF4-FFF2-40B4-BE49-F238E27FC236}">
                <a16:creationId xmlns:a16="http://schemas.microsoft.com/office/drawing/2014/main" id="{B470BBE2-A9A0-D939-F30A-A0EBD154A92C}"/>
              </a:ext>
            </a:extLst>
          </p:cNvPr>
          <p:cNvSpPr>
            <a:spLocks noGrp="1"/>
          </p:cNvSpPr>
          <p:nvPr/>
        </p:nvSpPr>
        <p:spPr>
          <a:xfrm>
            <a:off x="736476" y="2515057"/>
            <a:ext cx="6400800" cy="60853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b="1">
                <a:solidFill>
                  <a:srgbClr val="3F3F3F"/>
                </a:solidFill>
                <a:ea typeface="Calibri"/>
                <a:cs typeface="Calibri"/>
              </a:rPr>
              <a:t>The Programming languages used:</a:t>
            </a:r>
            <a:r>
              <a:rPr lang="en-US">
                <a:solidFill>
                  <a:srgbClr val="3F3F3F"/>
                </a:solidFill>
                <a:ea typeface="Calibri"/>
                <a:cs typeface="Calibri"/>
              </a:rPr>
              <a:t> </a:t>
            </a:r>
          </a:p>
          <a:p>
            <a:pPr algn="l"/>
            <a:endParaRPr lang="en-US">
              <a:solidFill>
                <a:srgbClr val="3F3F3F"/>
              </a:solidFill>
              <a:ea typeface="Calibri"/>
              <a:cs typeface="Calibri"/>
            </a:endParaRPr>
          </a:p>
        </p:txBody>
      </p:sp>
      <p:graphicFrame>
        <p:nvGraphicFramePr>
          <p:cNvPr id="24" name="Content Placeholder 23">
            <a:extLst>
              <a:ext uri="{FF2B5EF4-FFF2-40B4-BE49-F238E27FC236}">
                <a16:creationId xmlns:a16="http://schemas.microsoft.com/office/drawing/2014/main" id="{74C73B95-30F6-5435-E670-19638B8580A3}"/>
              </a:ext>
            </a:extLst>
          </p:cNvPr>
          <p:cNvGraphicFramePr>
            <a:graphicFrameLocks noGrp="1"/>
          </p:cNvGraphicFramePr>
          <p:nvPr>
            <p:ph idx="1"/>
            <p:extLst>
              <p:ext uri="{D42A27DB-BD31-4B8C-83A1-F6EECF244321}">
                <p14:modId xmlns:p14="http://schemas.microsoft.com/office/powerpoint/2010/main" val="3864235953"/>
              </p:ext>
            </p:extLst>
          </p:nvPr>
        </p:nvGraphicFramePr>
        <p:xfrm>
          <a:off x="1108710" y="8858250"/>
          <a:ext cx="14367510" cy="61690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7" name="Subtitle 3">
            <a:extLst>
              <a:ext uri="{FF2B5EF4-FFF2-40B4-BE49-F238E27FC236}">
                <a16:creationId xmlns:a16="http://schemas.microsoft.com/office/drawing/2014/main" id="{14D832A8-9420-6BA2-DFF8-32F99EE04F1E}"/>
              </a:ext>
            </a:extLst>
          </p:cNvPr>
          <p:cNvSpPr>
            <a:spLocks noGrp="1"/>
          </p:cNvSpPr>
          <p:nvPr/>
        </p:nvSpPr>
        <p:spPr>
          <a:xfrm>
            <a:off x="2856440" y="3400981"/>
            <a:ext cx="4309110" cy="1023425"/>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a:solidFill>
                  <a:srgbClr val="3F3F3F"/>
                </a:solidFill>
                <a:ea typeface="Calibri"/>
                <a:cs typeface="Calibri"/>
              </a:rPr>
              <a:t>Java + Spring boot</a:t>
            </a:r>
            <a:endParaRPr lang="en-US"/>
          </a:p>
          <a:p>
            <a:pPr algn="l"/>
            <a:r>
              <a:rPr lang="en-US" sz="2200">
                <a:solidFill>
                  <a:schemeClr val="tx1">
                    <a:lumMod val="65000"/>
                    <a:lumOff val="35000"/>
                  </a:schemeClr>
                </a:solidFill>
                <a:ea typeface="Calibri"/>
                <a:cs typeface="Calibri"/>
              </a:rPr>
              <a:t>Backend Framework</a:t>
            </a:r>
          </a:p>
        </p:txBody>
      </p:sp>
      <p:sp>
        <p:nvSpPr>
          <p:cNvPr id="19" name="Subtitle 3">
            <a:extLst>
              <a:ext uri="{FF2B5EF4-FFF2-40B4-BE49-F238E27FC236}">
                <a16:creationId xmlns:a16="http://schemas.microsoft.com/office/drawing/2014/main" id="{EB4BBC2E-06B6-7379-B0CB-458BD3E3A625}"/>
              </a:ext>
            </a:extLst>
          </p:cNvPr>
          <p:cNvSpPr>
            <a:spLocks noGrp="1"/>
          </p:cNvSpPr>
          <p:nvPr/>
        </p:nvSpPr>
        <p:spPr>
          <a:xfrm>
            <a:off x="2572896" y="5138141"/>
            <a:ext cx="4594860" cy="1034253"/>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a:solidFill>
                  <a:srgbClr val="3F3F3F"/>
                </a:solidFill>
                <a:ea typeface="Calibri"/>
                <a:cs typeface="Calibri"/>
              </a:rPr>
              <a:t>JSP / </a:t>
            </a:r>
            <a:r>
              <a:rPr lang="en-US" err="1">
                <a:solidFill>
                  <a:srgbClr val="3F3F3F"/>
                </a:solidFill>
                <a:ea typeface="Calibri"/>
                <a:cs typeface="Calibri"/>
              </a:rPr>
              <a:t>Thymeleaf</a:t>
            </a:r>
            <a:endParaRPr lang="en-US">
              <a:solidFill>
                <a:srgbClr val="3F3F3F"/>
              </a:solidFill>
              <a:ea typeface="Calibri"/>
              <a:cs typeface="Calibri"/>
            </a:endParaRPr>
          </a:p>
          <a:p>
            <a:pPr algn="l"/>
            <a:r>
              <a:rPr lang="en-US" sz="2200">
                <a:solidFill>
                  <a:schemeClr val="tx1">
                    <a:lumMod val="65000"/>
                    <a:lumOff val="35000"/>
                  </a:schemeClr>
                </a:solidFill>
                <a:ea typeface="Calibri"/>
                <a:cs typeface="Calibri"/>
              </a:rPr>
              <a:t>Server-side templating</a:t>
            </a:r>
          </a:p>
        </p:txBody>
      </p:sp>
      <p:sp>
        <p:nvSpPr>
          <p:cNvPr id="21" name="Subtitle 3">
            <a:extLst>
              <a:ext uri="{FF2B5EF4-FFF2-40B4-BE49-F238E27FC236}">
                <a16:creationId xmlns:a16="http://schemas.microsoft.com/office/drawing/2014/main" id="{BEFE4BB3-EA25-39D2-5B85-C1D643120A2D}"/>
              </a:ext>
            </a:extLst>
          </p:cNvPr>
          <p:cNvSpPr>
            <a:spLocks noGrp="1"/>
          </p:cNvSpPr>
          <p:nvPr/>
        </p:nvSpPr>
        <p:spPr>
          <a:xfrm>
            <a:off x="11535289" y="7245271"/>
            <a:ext cx="6400800" cy="467777"/>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200">
                <a:solidFill>
                  <a:schemeClr val="tx1">
                    <a:lumMod val="65000"/>
                    <a:lumOff val="35000"/>
                  </a:schemeClr>
                </a:solidFill>
                <a:ea typeface="Calibri"/>
                <a:cs typeface="Calibri"/>
              </a:rPr>
              <a:t>Communications + Meetings</a:t>
            </a:r>
          </a:p>
        </p:txBody>
      </p:sp>
      <p:sp>
        <p:nvSpPr>
          <p:cNvPr id="22" name="Subtitle 3">
            <a:extLst>
              <a:ext uri="{FF2B5EF4-FFF2-40B4-BE49-F238E27FC236}">
                <a16:creationId xmlns:a16="http://schemas.microsoft.com/office/drawing/2014/main" id="{95AED56F-1833-E4A4-54FA-160B88436812}"/>
              </a:ext>
            </a:extLst>
          </p:cNvPr>
          <p:cNvSpPr>
            <a:spLocks noGrp="1"/>
          </p:cNvSpPr>
          <p:nvPr/>
        </p:nvSpPr>
        <p:spPr>
          <a:xfrm>
            <a:off x="11535289" y="5187871"/>
            <a:ext cx="5257800" cy="1130717"/>
          </a:xfrm>
          <a:prstGeom prst="rect">
            <a:avLst/>
          </a:prstGeom>
        </p:spPr>
        <p:txBody>
          <a:bodyPr vert="horz" lIns="91440" tIns="45720" rIns="91440" bIns="45720" rtlCol="0" anchor="t">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a:solidFill>
                  <a:srgbClr val="3F3F3F"/>
                </a:solidFill>
                <a:ea typeface="Calibri"/>
                <a:cs typeface="Calibri"/>
              </a:rPr>
              <a:t>Gitlab</a:t>
            </a:r>
            <a:br>
              <a:rPr lang="en-US">
                <a:ea typeface="Calibri"/>
                <a:cs typeface="Calibri"/>
              </a:rPr>
            </a:br>
            <a:r>
              <a:rPr lang="en-US" sz="2200">
                <a:solidFill>
                  <a:schemeClr val="tx1">
                    <a:lumMod val="65000"/>
                    <a:lumOff val="35000"/>
                  </a:schemeClr>
                </a:solidFill>
                <a:ea typeface="Calibri"/>
                <a:cs typeface="Calibri"/>
              </a:rPr>
              <a:t>Version control &amp; scrum board</a:t>
            </a:r>
          </a:p>
        </p:txBody>
      </p:sp>
      <p:sp>
        <p:nvSpPr>
          <p:cNvPr id="23" name="Subtitle 3">
            <a:extLst>
              <a:ext uri="{FF2B5EF4-FFF2-40B4-BE49-F238E27FC236}">
                <a16:creationId xmlns:a16="http://schemas.microsoft.com/office/drawing/2014/main" id="{EB9C5997-FA26-DB3F-F0F7-5B2841B7719E}"/>
              </a:ext>
            </a:extLst>
          </p:cNvPr>
          <p:cNvSpPr>
            <a:spLocks noGrp="1"/>
          </p:cNvSpPr>
          <p:nvPr/>
        </p:nvSpPr>
        <p:spPr>
          <a:xfrm>
            <a:off x="11535289" y="3404791"/>
            <a:ext cx="5189220" cy="1279307"/>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a:solidFill>
                  <a:srgbClr val="3F3F3F"/>
                </a:solidFill>
                <a:ea typeface="Calibri"/>
                <a:cs typeface="Calibri"/>
              </a:rPr>
              <a:t>IntelliJ IDEA</a:t>
            </a:r>
          </a:p>
          <a:p>
            <a:pPr algn="l"/>
            <a:r>
              <a:rPr lang="en-US" sz="2200">
                <a:solidFill>
                  <a:schemeClr val="tx1">
                    <a:lumMod val="65000"/>
                    <a:lumOff val="35000"/>
                  </a:schemeClr>
                </a:solidFill>
                <a:ea typeface="Calibri"/>
                <a:cs typeface="Calibri"/>
              </a:rPr>
              <a:t>Java IDE with spring framework</a:t>
            </a:r>
            <a:r>
              <a:rPr lang="en-US">
                <a:solidFill>
                  <a:srgbClr val="3F3F3F"/>
                </a:solidFill>
                <a:ea typeface="Calibri"/>
                <a:cs typeface="Calibri"/>
              </a:rPr>
              <a:t> </a:t>
            </a:r>
            <a:br>
              <a:rPr lang="en-US">
                <a:ea typeface="Calibri"/>
                <a:cs typeface="Calibri"/>
              </a:rPr>
            </a:br>
            <a:endParaRPr lang="en-US">
              <a:solidFill>
                <a:srgbClr val="3F3F3F"/>
              </a:solidFill>
              <a:ea typeface="Calibri"/>
              <a:cs typeface="Calibri"/>
            </a:endParaRPr>
          </a:p>
        </p:txBody>
      </p:sp>
    </p:spTree>
    <p:extLst>
      <p:ext uri="{BB962C8B-B14F-4D97-AF65-F5344CB8AC3E}">
        <p14:creationId xmlns:p14="http://schemas.microsoft.com/office/powerpoint/2010/main" val="3730221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8408F-E755-ADB8-AD90-5A97419A484F}"/>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2686062-AD8C-91FF-4E6B-EF59F88C3C5D}"/>
              </a:ext>
            </a:extLst>
          </p:cNvPr>
          <p:cNvSpPr txBox="1"/>
          <p:nvPr/>
        </p:nvSpPr>
        <p:spPr>
          <a:xfrm>
            <a:off x="13593212" y="133582"/>
            <a:ext cx="4671668" cy="461665"/>
          </a:xfrm>
          <a:prstGeom prst="rect">
            <a:avLst/>
          </a:prstGeom>
        </p:spPr>
        <p:txBody>
          <a:bodyPr wrap="square" lIns="0" tIns="0" rIns="0" bIns="0" rtlCol="0" anchor="t">
            <a:spAutoFit/>
          </a:bodyPr>
          <a:lstStyle/>
          <a:p>
            <a:pPr>
              <a:lnSpc>
                <a:spcPts val="1800"/>
              </a:lnSpc>
              <a:spcBef>
                <a:spcPct val="0"/>
              </a:spcBef>
            </a:pPr>
            <a:r>
              <a:rPr lang="en-US" b="1" spc="179">
                <a:solidFill>
                  <a:srgbClr val="3F3F3F"/>
                </a:solidFill>
                <a:latin typeface="Calibri"/>
                <a:ea typeface="Calibri"/>
                <a:cs typeface="Calibri"/>
              </a:rPr>
              <a:t>Onyinye Precious Aghamelu  </a:t>
            </a:r>
            <a:endParaRPr lang="en-US">
              <a:solidFill>
                <a:srgbClr val="3F3F3F"/>
              </a:solidFill>
              <a:latin typeface="Calibri"/>
              <a:ea typeface="Calibri"/>
              <a:cs typeface="Calibri"/>
            </a:endParaRPr>
          </a:p>
          <a:p>
            <a:pPr>
              <a:lnSpc>
                <a:spcPts val="1800"/>
              </a:lnSpc>
              <a:spcBef>
                <a:spcPct val="0"/>
              </a:spcBef>
            </a:pPr>
            <a:r>
              <a:rPr lang="en-US" b="1" spc="179">
                <a:solidFill>
                  <a:srgbClr val="3F3F3F"/>
                </a:solidFill>
                <a:latin typeface="Calibri"/>
                <a:ea typeface="Calibri"/>
                <a:cs typeface="Calibri"/>
              </a:rPr>
              <a:t>Email - oa287@student.le.ac.uk</a:t>
            </a:r>
            <a:endParaRPr lang="en-US" i="1">
              <a:solidFill>
                <a:srgbClr val="3F3F3F"/>
              </a:solidFill>
              <a:latin typeface="Calibri"/>
              <a:ea typeface="Calibri"/>
              <a:cs typeface="Calibri"/>
            </a:endParaRPr>
          </a:p>
        </p:txBody>
      </p:sp>
      <p:sp>
        <p:nvSpPr>
          <p:cNvPr id="13" name="TextBox 13">
            <a:extLst>
              <a:ext uri="{FF2B5EF4-FFF2-40B4-BE49-F238E27FC236}">
                <a16:creationId xmlns:a16="http://schemas.microsoft.com/office/drawing/2014/main" id="{23C10C05-A909-9F62-03CC-924836A168DA}"/>
              </a:ext>
            </a:extLst>
          </p:cNvPr>
          <p:cNvSpPr txBox="1"/>
          <p:nvPr/>
        </p:nvSpPr>
        <p:spPr>
          <a:xfrm>
            <a:off x="286025" y="826379"/>
            <a:ext cx="10221060" cy="590290"/>
          </a:xfrm>
          <a:prstGeom prst="rect">
            <a:avLst/>
          </a:prstGeom>
        </p:spPr>
        <p:txBody>
          <a:bodyPr wrap="square" lIns="0" tIns="0" rIns="0" bIns="0" rtlCol="0" anchor="t">
            <a:spAutoFit/>
          </a:bodyPr>
          <a:lstStyle/>
          <a:p>
            <a:pPr>
              <a:lnSpc>
                <a:spcPts val="4800"/>
              </a:lnSpc>
            </a:pPr>
            <a:r>
              <a:rPr lang="en-US" sz="3800" i="1" spc="-288">
                <a:solidFill>
                  <a:srgbClr val="3F3F3F"/>
                </a:solidFill>
                <a:latin typeface="Calibri"/>
                <a:ea typeface="Calibri"/>
                <a:cs typeface="Calibri"/>
                <a:sym typeface="Open Sauce"/>
              </a:rPr>
              <a:t>Software Design choices and why we chose them:</a:t>
            </a:r>
            <a:endParaRPr lang="en-US" sz="3800" i="1">
              <a:solidFill>
                <a:srgbClr val="3F3F3F"/>
              </a:solidFill>
              <a:latin typeface="Calibri"/>
              <a:ea typeface="Calibri"/>
              <a:cs typeface="Calibri"/>
            </a:endParaRPr>
          </a:p>
        </p:txBody>
      </p:sp>
      <p:sp>
        <p:nvSpPr>
          <p:cNvPr id="7" name="Subtitle 3">
            <a:extLst>
              <a:ext uri="{FF2B5EF4-FFF2-40B4-BE49-F238E27FC236}">
                <a16:creationId xmlns:a16="http://schemas.microsoft.com/office/drawing/2014/main" id="{206D8B57-722F-2846-0FA4-D5B29C772347}"/>
              </a:ext>
            </a:extLst>
          </p:cNvPr>
          <p:cNvSpPr>
            <a:spLocks noGrp="1"/>
          </p:cNvSpPr>
          <p:nvPr/>
        </p:nvSpPr>
        <p:spPr>
          <a:xfrm>
            <a:off x="1756977" y="3127891"/>
            <a:ext cx="6454519" cy="1614996"/>
          </a:xfrm>
          <a:prstGeom prst="rect">
            <a:avLst/>
          </a:prstGeom>
          <a:solidFill>
            <a:schemeClr val="accent3">
              <a:lumMod val="40000"/>
              <a:lumOff val="60000"/>
            </a:schemeClr>
          </a:solidFill>
        </p:spPr>
        <p:txBody>
          <a:bodyPr vert="horz" lIns="91440" tIns="45720" rIns="91440" bIns="45720" rtlCol="0" anchor="t">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b="1">
                <a:solidFill>
                  <a:srgbClr val="3F3F3F"/>
                </a:solidFill>
                <a:ea typeface="Calibri"/>
                <a:cs typeface="Calibri"/>
              </a:rPr>
              <a:t>Spring setup and starters:</a:t>
            </a:r>
          </a:p>
          <a:p>
            <a:pPr algn="l"/>
            <a:r>
              <a:rPr lang="en-US" sz="2500">
                <a:solidFill>
                  <a:srgbClr val="3F3F3F"/>
                </a:solidFill>
                <a:ea typeface="Calibri"/>
                <a:cs typeface="Calibri"/>
              </a:rPr>
              <a:t>Built-in security, OAuth2, JPAs, password encoding etc. This allowed us to on features not infrastructure </a:t>
            </a:r>
          </a:p>
        </p:txBody>
      </p:sp>
      <p:sp>
        <p:nvSpPr>
          <p:cNvPr id="8" name="Subtitle 3">
            <a:extLst>
              <a:ext uri="{FF2B5EF4-FFF2-40B4-BE49-F238E27FC236}">
                <a16:creationId xmlns:a16="http://schemas.microsoft.com/office/drawing/2014/main" id="{094DA1C8-77D8-F52B-E8E8-9E7E34BBF827}"/>
              </a:ext>
            </a:extLst>
          </p:cNvPr>
          <p:cNvSpPr>
            <a:spLocks noGrp="1"/>
          </p:cNvSpPr>
          <p:nvPr/>
        </p:nvSpPr>
        <p:spPr>
          <a:xfrm>
            <a:off x="1756962" y="5362272"/>
            <a:ext cx="6453682" cy="1611475"/>
          </a:xfrm>
          <a:prstGeom prst="rect">
            <a:avLst/>
          </a:prstGeom>
          <a:solidFill>
            <a:schemeClr val="accent6">
              <a:lumMod val="40000"/>
              <a:lumOff val="60000"/>
            </a:schemeClr>
          </a:solidFill>
        </p:spPr>
        <p:txBody>
          <a:bodyPr vert="horz" lIns="91440" tIns="45720" rIns="91440" bIns="45720" rtlCol="0" anchor="t">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a:solidFill>
                  <a:srgbClr val="3F3F3F"/>
                </a:solidFill>
                <a:ea typeface="Calibri"/>
                <a:cs typeface="Calibri"/>
              </a:rPr>
              <a:t>  </a:t>
            </a:r>
            <a:r>
              <a:rPr lang="en-US" b="1">
                <a:solidFill>
                  <a:srgbClr val="3F3F3F"/>
                </a:solidFill>
                <a:ea typeface="Calibri"/>
                <a:cs typeface="Calibri"/>
              </a:rPr>
              <a:t>Java static feature (debugging ):</a:t>
            </a:r>
            <a:endParaRPr lang="en-US" b="1"/>
          </a:p>
          <a:p>
            <a:pPr algn="l"/>
            <a:r>
              <a:rPr lang="en-US" sz="2500">
                <a:solidFill>
                  <a:srgbClr val="3F3F3F"/>
                </a:solidFill>
                <a:ea typeface="Calibri"/>
                <a:cs typeface="Calibri"/>
              </a:rPr>
              <a:t>Compiler catches bugs before running time, which was extremely critical with 6 contributors across services, model, and branches</a:t>
            </a:r>
          </a:p>
        </p:txBody>
      </p:sp>
      <p:sp>
        <p:nvSpPr>
          <p:cNvPr id="9" name="Title 8">
            <a:extLst>
              <a:ext uri="{FF2B5EF4-FFF2-40B4-BE49-F238E27FC236}">
                <a16:creationId xmlns:a16="http://schemas.microsoft.com/office/drawing/2014/main" id="{8FFEA682-1491-F932-C44C-A4826E980630}"/>
              </a:ext>
            </a:extLst>
          </p:cNvPr>
          <p:cNvSpPr>
            <a:spLocks noGrp="1"/>
          </p:cNvSpPr>
          <p:nvPr>
            <p:ph type="title"/>
          </p:nvPr>
        </p:nvSpPr>
        <p:spPr>
          <a:xfrm>
            <a:off x="4751054" y="1737723"/>
            <a:ext cx="8229600" cy="564357"/>
          </a:xfrm>
        </p:spPr>
        <p:txBody>
          <a:bodyPr>
            <a:noAutofit/>
          </a:bodyPr>
          <a:lstStyle/>
          <a:p>
            <a:r>
              <a:rPr lang="en-US" sz="3200" b="1">
                <a:solidFill>
                  <a:schemeClr val="accent6">
                    <a:lumMod val="76000"/>
                  </a:schemeClr>
                </a:solidFill>
                <a:latin typeface="Calibri"/>
                <a:ea typeface="Calibri"/>
                <a:cs typeface="Calibri"/>
              </a:rPr>
              <a:t>Why use Java + Spring boot ?</a:t>
            </a:r>
          </a:p>
        </p:txBody>
      </p:sp>
      <p:sp>
        <p:nvSpPr>
          <p:cNvPr id="10" name="Content Placeholder 9">
            <a:extLst>
              <a:ext uri="{FF2B5EF4-FFF2-40B4-BE49-F238E27FC236}">
                <a16:creationId xmlns:a16="http://schemas.microsoft.com/office/drawing/2014/main" id="{C22A639C-B43D-EA67-E607-2777555294F4}"/>
              </a:ext>
            </a:extLst>
          </p:cNvPr>
          <p:cNvSpPr>
            <a:spLocks noGrp="1"/>
          </p:cNvSpPr>
          <p:nvPr>
            <p:ph idx="1"/>
          </p:nvPr>
        </p:nvSpPr>
        <p:spPr>
          <a:xfrm>
            <a:off x="9461091" y="2783125"/>
            <a:ext cx="7897761" cy="6974194"/>
          </a:xfrm>
          <a:solidFill>
            <a:schemeClr val="bg1">
              <a:lumMod val="85000"/>
            </a:schemeClr>
          </a:solidFill>
        </p:spPr>
        <p:txBody>
          <a:bodyPr vert="horz" lIns="91440" tIns="45720" rIns="91440" bIns="45720" rtlCol="0" anchor="t">
            <a:normAutofit fontScale="92500" lnSpcReduction="10000"/>
          </a:bodyPr>
          <a:lstStyle/>
          <a:p>
            <a:pPr marL="0" indent="0" algn="ctr">
              <a:buNone/>
            </a:pPr>
            <a:r>
              <a:rPr lang="en-US" b="1">
                <a:solidFill>
                  <a:srgbClr val="FF0000"/>
                </a:solidFill>
                <a:ea typeface="Calibri"/>
                <a:cs typeface="Calibri"/>
              </a:rPr>
              <a:t>Vs JavaScript, Python or C++? </a:t>
            </a:r>
          </a:p>
          <a:p>
            <a:pPr marL="0" indent="0">
              <a:buNone/>
            </a:pPr>
            <a:endParaRPr lang="en-US" b="1">
              <a:ea typeface="Calibri"/>
              <a:cs typeface="Calibri"/>
            </a:endParaRPr>
          </a:p>
          <a:p>
            <a:pPr>
              <a:buFont typeface="Calibri" pitchFamily="34" charset="0"/>
              <a:buChar char="-"/>
            </a:pPr>
            <a:r>
              <a:rPr lang="en-US">
                <a:ea typeface="Calibri"/>
                <a:cs typeface="Calibri"/>
              </a:rPr>
              <a:t>Java offers more comfortability over </a:t>
            </a:r>
            <a:r>
              <a:rPr lang="en-US" b="1">
                <a:ea typeface="Calibri"/>
                <a:cs typeface="Calibri"/>
              </a:rPr>
              <a:t>C++.</a:t>
            </a:r>
          </a:p>
          <a:p>
            <a:pPr>
              <a:buFont typeface="Calibri" pitchFamily="34" charset="0"/>
              <a:buChar char="-"/>
            </a:pPr>
            <a:r>
              <a:rPr lang="en-US" b="1">
                <a:ea typeface="Calibri"/>
                <a:cs typeface="Calibri"/>
              </a:rPr>
              <a:t>Python</a:t>
            </a:r>
            <a:r>
              <a:rPr lang="en-US">
                <a:ea typeface="Calibri"/>
                <a:cs typeface="Calibri"/>
              </a:rPr>
              <a:t> was not suited for the logically complexities of user stories.</a:t>
            </a:r>
          </a:p>
          <a:p>
            <a:pPr>
              <a:buFont typeface="Calibri" pitchFamily="34" charset="0"/>
              <a:buChar char="-"/>
            </a:pPr>
            <a:r>
              <a:rPr lang="en-US" b="1">
                <a:ea typeface="Calibri"/>
                <a:cs typeface="Calibri"/>
              </a:rPr>
              <a:t>JavaScript (JS)</a:t>
            </a:r>
            <a:r>
              <a:rPr lang="en-US">
                <a:ea typeface="Calibri"/>
                <a:cs typeface="Calibri"/>
              </a:rPr>
              <a:t> does offer more flexibility on the client-side server. However, for our server-side architecture Java offered us more:</a:t>
            </a:r>
          </a:p>
          <a:p>
            <a:pPr>
              <a:buFont typeface="Calibri" pitchFamily="34" charset="0"/>
              <a:buChar char="-"/>
            </a:pPr>
            <a:endParaRPr lang="en-US">
              <a:ea typeface="Calibri"/>
              <a:cs typeface="Calibri"/>
            </a:endParaRPr>
          </a:p>
          <a:p>
            <a:pPr lvl="2">
              <a:buFont typeface="Wingdings" pitchFamily="34" charset="0"/>
              <a:buChar char="§"/>
            </a:pPr>
            <a:r>
              <a:rPr lang="en-US">
                <a:ea typeface="Calibri"/>
                <a:cs typeface="Calibri"/>
              </a:rPr>
              <a:t>Mature ecosystem</a:t>
            </a:r>
          </a:p>
          <a:p>
            <a:pPr lvl="2">
              <a:buFont typeface="Wingdings" pitchFamily="34" charset="0"/>
              <a:buChar char="§"/>
            </a:pPr>
            <a:r>
              <a:rPr lang="en-US">
                <a:ea typeface="Calibri"/>
                <a:cs typeface="Calibri"/>
              </a:rPr>
              <a:t>Team comfortability </a:t>
            </a:r>
          </a:p>
          <a:p>
            <a:pPr lvl="2">
              <a:buFont typeface="Wingdings" pitchFamily="34" charset="0"/>
              <a:buChar char="§"/>
            </a:pPr>
            <a:r>
              <a:rPr lang="en-US">
                <a:ea typeface="Calibri"/>
                <a:cs typeface="Calibri"/>
              </a:rPr>
              <a:t>Intelli j + GitLab linking </a:t>
            </a:r>
          </a:p>
          <a:p>
            <a:pPr lvl="2">
              <a:buFont typeface="Wingdings" pitchFamily="34" charset="0"/>
              <a:buChar char="§"/>
            </a:pPr>
            <a:r>
              <a:rPr lang="en-US">
                <a:ea typeface="Calibri"/>
                <a:cs typeface="Calibri"/>
              </a:rPr>
              <a:t>Gamified features creation ease</a:t>
            </a:r>
          </a:p>
          <a:p>
            <a:pPr marL="914400" lvl="2" indent="0">
              <a:buNone/>
            </a:pPr>
            <a:endParaRPr lang="en-US">
              <a:ea typeface="Calibri"/>
              <a:cs typeface="Calibri"/>
            </a:endParaRPr>
          </a:p>
          <a:p>
            <a:pPr marL="0" indent="0" algn="ctr">
              <a:buNone/>
            </a:pPr>
            <a:r>
              <a:rPr lang="en-US">
                <a:ea typeface="Calibri"/>
                <a:cs typeface="Calibri"/>
              </a:rPr>
              <a:t> </a:t>
            </a:r>
            <a:r>
              <a:rPr lang="en-US" sz="2800">
                <a:ea typeface="Calibri"/>
                <a:cs typeface="Calibri"/>
              </a:rPr>
              <a:t>Using predominantly Java allowed us to provide the backend robustness required for both sprints.</a:t>
            </a:r>
          </a:p>
        </p:txBody>
      </p:sp>
      <p:sp>
        <p:nvSpPr>
          <p:cNvPr id="15" name="Subtitle 3">
            <a:extLst>
              <a:ext uri="{FF2B5EF4-FFF2-40B4-BE49-F238E27FC236}">
                <a16:creationId xmlns:a16="http://schemas.microsoft.com/office/drawing/2014/main" id="{8D126A67-7089-64CC-AFE6-92BF6F22BE14}"/>
              </a:ext>
            </a:extLst>
          </p:cNvPr>
          <p:cNvSpPr>
            <a:spLocks noGrp="1"/>
          </p:cNvSpPr>
          <p:nvPr/>
        </p:nvSpPr>
        <p:spPr>
          <a:xfrm>
            <a:off x="1750806" y="7641008"/>
            <a:ext cx="6443975" cy="1874855"/>
          </a:xfrm>
          <a:prstGeom prst="rect">
            <a:avLst/>
          </a:prstGeom>
          <a:solidFill>
            <a:schemeClr val="accent3">
              <a:lumMod val="40000"/>
              <a:lumOff val="60000"/>
            </a:schemeClr>
          </a:solidFill>
        </p:spPr>
        <p:txBody>
          <a:bodyPr vert="horz" lIns="91440" tIns="45720" rIns="91440" bIns="45720" rtlCol="0" anchor="t">
            <a:normAutofit fontScale="925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a:solidFill>
                  <a:srgbClr val="3F3F3F"/>
                </a:solidFill>
                <a:ea typeface="Calibri"/>
                <a:cs typeface="Calibri"/>
              </a:rPr>
              <a:t>  I</a:t>
            </a:r>
            <a:r>
              <a:rPr lang="en-US" b="1">
                <a:solidFill>
                  <a:srgbClr val="3F3F3F"/>
                </a:solidFill>
                <a:ea typeface="Calibri"/>
                <a:cs typeface="Calibri"/>
              </a:rPr>
              <a:t>ntelli j + Spring + Java integration:</a:t>
            </a:r>
            <a:endParaRPr lang="en-US" b="1"/>
          </a:p>
          <a:p>
            <a:pPr algn="l"/>
            <a:r>
              <a:rPr lang="en-US" sz="2300">
                <a:solidFill>
                  <a:srgbClr val="3F3F3F"/>
                </a:solidFill>
                <a:ea typeface="Calibri"/>
                <a:cs typeface="Calibri"/>
              </a:rPr>
              <a:t>Java being native allowed for native IDE integration, such as; refactoring, debugging and auto-completion that other programming languages lacked in this ecosystem</a:t>
            </a:r>
          </a:p>
        </p:txBody>
      </p:sp>
      <p:pic>
        <p:nvPicPr>
          <p:cNvPr id="2" name="Picture 1" descr="A blue cylinder with black lines&#10;&#10;AI-generated content may be incorrect.">
            <a:extLst>
              <a:ext uri="{FF2B5EF4-FFF2-40B4-BE49-F238E27FC236}">
                <a16:creationId xmlns:a16="http://schemas.microsoft.com/office/drawing/2014/main" id="{278AFB13-A6AE-B450-E153-C40E8105A85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26527" y="3387157"/>
            <a:ext cx="1080588" cy="1097775"/>
          </a:xfrm>
          <a:prstGeom prst="rect">
            <a:avLst/>
          </a:prstGeom>
        </p:spPr>
      </p:pic>
      <p:pic>
        <p:nvPicPr>
          <p:cNvPr id="6" name="Picture 5" descr="G Wagon 4k Wallpaper For Laptop PNG Transparent Images Free Download ...">
            <a:extLst>
              <a:ext uri="{FF2B5EF4-FFF2-40B4-BE49-F238E27FC236}">
                <a16:creationId xmlns:a16="http://schemas.microsoft.com/office/drawing/2014/main" id="{4A22E5DE-4001-9204-5A3F-B454C1C95B74}"/>
              </a:ext>
            </a:extLst>
          </p:cNvPr>
          <p:cNvPicPr>
            <a:picLocks noChangeAspect="1"/>
          </p:cNvPicPr>
          <p:nvPr/>
        </p:nvPicPr>
        <p:blipFill>
          <a:blip r:embed="rId4"/>
          <a:stretch>
            <a:fillRect/>
          </a:stretch>
        </p:blipFill>
        <p:spPr>
          <a:xfrm>
            <a:off x="236333" y="7889279"/>
            <a:ext cx="1289102" cy="1435198"/>
          </a:xfrm>
          <a:prstGeom prst="rect">
            <a:avLst/>
          </a:prstGeom>
        </p:spPr>
      </p:pic>
      <p:pic>
        <p:nvPicPr>
          <p:cNvPr id="4" name="Picture 3">
            <a:extLst>
              <a:ext uri="{FF2B5EF4-FFF2-40B4-BE49-F238E27FC236}">
                <a16:creationId xmlns:a16="http://schemas.microsoft.com/office/drawing/2014/main" id="{AF336EAC-223D-3AB0-0F04-7180BB9FCFD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3723" y="5653838"/>
            <a:ext cx="1657133" cy="1033287"/>
          </a:xfrm>
          <a:prstGeom prst="rect">
            <a:avLst/>
          </a:prstGeom>
        </p:spPr>
      </p:pic>
    </p:spTree>
    <p:extLst>
      <p:ext uri="{BB962C8B-B14F-4D97-AF65-F5344CB8AC3E}">
        <p14:creationId xmlns:p14="http://schemas.microsoft.com/office/powerpoint/2010/main" val="1599133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E9E4-DEF3-C7F8-D1B8-76ECC8264B5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A816ECF4-B5DE-9257-26D6-42B0F6DF6D55}"/>
              </a:ext>
            </a:extLst>
          </p:cNvPr>
          <p:cNvSpPr txBox="1"/>
          <p:nvPr/>
        </p:nvSpPr>
        <p:spPr>
          <a:xfrm>
            <a:off x="13593212" y="133582"/>
            <a:ext cx="4671668" cy="461665"/>
          </a:xfrm>
          <a:prstGeom prst="rect">
            <a:avLst/>
          </a:prstGeom>
        </p:spPr>
        <p:txBody>
          <a:bodyPr wrap="square" lIns="0" tIns="0" rIns="0" bIns="0" rtlCol="0" anchor="t">
            <a:spAutoFit/>
          </a:bodyPr>
          <a:lstStyle/>
          <a:p>
            <a:pPr>
              <a:lnSpc>
                <a:spcPts val="1800"/>
              </a:lnSpc>
              <a:spcBef>
                <a:spcPct val="0"/>
              </a:spcBef>
            </a:pPr>
            <a:r>
              <a:rPr lang="en-US" b="1" spc="179">
                <a:solidFill>
                  <a:srgbClr val="3F3F3F"/>
                </a:solidFill>
                <a:latin typeface="Calibri"/>
                <a:ea typeface="Calibri"/>
                <a:cs typeface="Calibri"/>
              </a:rPr>
              <a:t>Onyinye Precious Aghamelu  </a:t>
            </a:r>
            <a:endParaRPr lang="en-US">
              <a:solidFill>
                <a:srgbClr val="3F3F3F"/>
              </a:solidFill>
              <a:latin typeface="Calibri"/>
              <a:ea typeface="Calibri"/>
              <a:cs typeface="Calibri"/>
            </a:endParaRPr>
          </a:p>
          <a:p>
            <a:pPr>
              <a:lnSpc>
                <a:spcPts val="1800"/>
              </a:lnSpc>
              <a:spcBef>
                <a:spcPct val="0"/>
              </a:spcBef>
            </a:pPr>
            <a:r>
              <a:rPr lang="en-US" b="1" spc="179">
                <a:solidFill>
                  <a:srgbClr val="3F3F3F"/>
                </a:solidFill>
                <a:latin typeface="Calibri"/>
                <a:ea typeface="Calibri"/>
                <a:cs typeface="Calibri"/>
              </a:rPr>
              <a:t>Email - oa287@student.le.ac.uk</a:t>
            </a:r>
            <a:endParaRPr lang="en-US" i="1">
              <a:solidFill>
                <a:srgbClr val="3F3F3F"/>
              </a:solidFill>
              <a:latin typeface="Calibri"/>
              <a:ea typeface="Calibri"/>
              <a:cs typeface="Calibri"/>
            </a:endParaRPr>
          </a:p>
        </p:txBody>
      </p:sp>
      <p:sp>
        <p:nvSpPr>
          <p:cNvPr id="13" name="TextBox 13">
            <a:extLst>
              <a:ext uri="{FF2B5EF4-FFF2-40B4-BE49-F238E27FC236}">
                <a16:creationId xmlns:a16="http://schemas.microsoft.com/office/drawing/2014/main" id="{0FAA4B8F-4110-203D-973F-1C5C12ACD7F4}"/>
              </a:ext>
            </a:extLst>
          </p:cNvPr>
          <p:cNvSpPr txBox="1"/>
          <p:nvPr/>
        </p:nvSpPr>
        <p:spPr>
          <a:xfrm>
            <a:off x="389264" y="973863"/>
            <a:ext cx="10221060" cy="590290"/>
          </a:xfrm>
          <a:prstGeom prst="rect">
            <a:avLst/>
          </a:prstGeom>
        </p:spPr>
        <p:txBody>
          <a:bodyPr wrap="square" lIns="0" tIns="0" rIns="0" bIns="0" rtlCol="0" anchor="t">
            <a:spAutoFit/>
          </a:bodyPr>
          <a:lstStyle/>
          <a:p>
            <a:pPr>
              <a:lnSpc>
                <a:spcPts val="4800"/>
              </a:lnSpc>
            </a:pPr>
            <a:r>
              <a:rPr lang="en-US" sz="3800" i="1" spc="-288">
                <a:solidFill>
                  <a:srgbClr val="3F3F3F"/>
                </a:solidFill>
                <a:latin typeface="Calibri"/>
                <a:ea typeface="Calibri"/>
                <a:cs typeface="Calibri"/>
                <a:sym typeface="Open Sauce"/>
              </a:rPr>
              <a:t>Software Design choices and why we chose them:</a:t>
            </a:r>
            <a:endParaRPr lang="en-US" sz="3800" i="1">
              <a:solidFill>
                <a:srgbClr val="3F3F3F"/>
              </a:solidFill>
              <a:latin typeface="Calibri"/>
              <a:ea typeface="Calibri"/>
              <a:cs typeface="Calibri"/>
            </a:endParaRPr>
          </a:p>
        </p:txBody>
      </p:sp>
      <p:sp>
        <p:nvSpPr>
          <p:cNvPr id="9" name="Title 8">
            <a:extLst>
              <a:ext uri="{FF2B5EF4-FFF2-40B4-BE49-F238E27FC236}">
                <a16:creationId xmlns:a16="http://schemas.microsoft.com/office/drawing/2014/main" id="{997FC504-042D-F13D-5E8A-B7100AB9C6A9}"/>
              </a:ext>
            </a:extLst>
          </p:cNvPr>
          <p:cNvSpPr>
            <a:spLocks noGrp="1"/>
          </p:cNvSpPr>
          <p:nvPr>
            <p:ph type="title"/>
          </p:nvPr>
        </p:nvSpPr>
        <p:spPr>
          <a:xfrm>
            <a:off x="1295400" y="1931988"/>
            <a:ext cx="16459200" cy="638175"/>
          </a:xfrm>
        </p:spPr>
        <p:txBody>
          <a:bodyPr>
            <a:noAutofit/>
          </a:bodyPr>
          <a:lstStyle/>
          <a:p>
            <a:r>
              <a:rPr lang="en-US" sz="3200" b="1">
                <a:solidFill>
                  <a:schemeClr val="accent6">
                    <a:lumMod val="76000"/>
                  </a:schemeClr>
                </a:solidFill>
                <a:latin typeface="Calibri"/>
                <a:ea typeface="Calibri"/>
                <a:cs typeface="Calibri"/>
              </a:rPr>
              <a:t>Frontend + Client-side rendering and Platforms justifications:</a:t>
            </a:r>
          </a:p>
        </p:txBody>
      </p:sp>
      <p:graphicFrame>
        <p:nvGraphicFramePr>
          <p:cNvPr id="2" name="Content Placeholder 1">
            <a:extLst>
              <a:ext uri="{FF2B5EF4-FFF2-40B4-BE49-F238E27FC236}">
                <a16:creationId xmlns:a16="http://schemas.microsoft.com/office/drawing/2014/main" id="{D50CA49A-B296-82F3-0D82-666555770480}"/>
              </a:ext>
            </a:extLst>
          </p:cNvPr>
          <p:cNvGraphicFramePr>
            <a:graphicFrameLocks noGrp="1"/>
          </p:cNvGraphicFramePr>
          <p:nvPr>
            <p:ph sz="half" idx="1"/>
            <p:extLst>
              <p:ext uri="{D42A27DB-BD31-4B8C-83A1-F6EECF244321}">
                <p14:modId xmlns:p14="http://schemas.microsoft.com/office/powerpoint/2010/main" val="4157219626"/>
              </p:ext>
            </p:extLst>
          </p:nvPr>
        </p:nvGraphicFramePr>
        <p:xfrm>
          <a:off x="533400" y="2924175"/>
          <a:ext cx="17230725" cy="14684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65" name="Content Placeholder 864">
            <a:extLst>
              <a:ext uri="{FF2B5EF4-FFF2-40B4-BE49-F238E27FC236}">
                <a16:creationId xmlns:a16="http://schemas.microsoft.com/office/drawing/2014/main" id="{8191B43F-6366-864D-4D14-A54236BE5088}"/>
              </a:ext>
            </a:extLst>
          </p:cNvPr>
          <p:cNvSpPr>
            <a:spLocks noGrp="1"/>
          </p:cNvSpPr>
          <p:nvPr>
            <p:ph sz="half" idx="2"/>
          </p:nvPr>
        </p:nvSpPr>
        <p:spPr>
          <a:xfrm>
            <a:off x="695325" y="5495925"/>
            <a:ext cx="7743825" cy="4525963"/>
          </a:xfrm>
          <a:solidFill>
            <a:schemeClr val="accent6">
              <a:lumMod val="40000"/>
              <a:lumOff val="60000"/>
            </a:schemeClr>
          </a:solidFill>
        </p:spPr>
        <p:txBody>
          <a:bodyPr vert="horz" lIns="91440" tIns="45720" rIns="91440" bIns="45720" rtlCol="0" anchor="t">
            <a:normAutofit fontScale="92500" lnSpcReduction="10000"/>
          </a:bodyPr>
          <a:lstStyle/>
          <a:p>
            <a:pPr marL="0" indent="0" algn="ctr">
              <a:buNone/>
            </a:pPr>
            <a:r>
              <a:rPr lang="en-US" b="1">
                <a:solidFill>
                  <a:srgbClr val="0070C0"/>
                </a:solidFill>
                <a:ea typeface="Calibri"/>
                <a:cs typeface="Calibri"/>
              </a:rPr>
              <a:t>What allowed for Team collaboration?</a:t>
            </a:r>
          </a:p>
          <a:p>
            <a:pPr marL="0" indent="0" algn="ctr">
              <a:buNone/>
            </a:pPr>
            <a:endParaRPr lang="en-US">
              <a:ea typeface="Calibri"/>
              <a:cs typeface="Calibri"/>
            </a:endParaRPr>
          </a:p>
          <a:p>
            <a:pPr>
              <a:buFont typeface="Wingdings" pitchFamily="34" charset="0"/>
              <a:buChar char="v"/>
            </a:pPr>
            <a:r>
              <a:rPr lang="en-US" b="1">
                <a:ea typeface="Calibri"/>
                <a:cs typeface="Calibri"/>
              </a:rPr>
              <a:t>Intelli J</a:t>
            </a:r>
            <a:r>
              <a:rPr lang="en-US">
                <a:ea typeface="Calibri"/>
                <a:cs typeface="Calibri"/>
              </a:rPr>
              <a:t> allowed for built-in spring support, database integration, while also offering "Code with me" sessions</a:t>
            </a:r>
          </a:p>
          <a:p>
            <a:pPr>
              <a:buFont typeface="Wingdings" pitchFamily="34" charset="0"/>
              <a:buChar char="v"/>
            </a:pPr>
            <a:r>
              <a:rPr lang="en-US" b="1">
                <a:ea typeface="Calibri"/>
                <a:cs typeface="Calibri"/>
              </a:rPr>
              <a:t>Gitlab</a:t>
            </a:r>
            <a:r>
              <a:rPr lang="en-US">
                <a:ea typeface="Calibri"/>
                <a:cs typeface="Calibri"/>
              </a:rPr>
              <a:t> allowed for ease of coding and debugging across everyone's platform due to separate but linked branches, merge request, resolving conflicts etc.</a:t>
            </a:r>
          </a:p>
          <a:p>
            <a:pPr>
              <a:buFont typeface="Wingdings" pitchFamily="34" charset="0"/>
              <a:buChar char="v"/>
            </a:pPr>
            <a:r>
              <a:rPr lang="en-US">
                <a:ea typeface="Calibri"/>
                <a:cs typeface="Calibri"/>
              </a:rPr>
              <a:t>Meetings on </a:t>
            </a:r>
            <a:r>
              <a:rPr lang="en-US" b="1">
                <a:ea typeface="Calibri"/>
                <a:cs typeface="Calibri"/>
              </a:rPr>
              <a:t>Microsoft Teams</a:t>
            </a:r>
            <a:r>
              <a:rPr lang="en-US">
                <a:ea typeface="Calibri"/>
                <a:cs typeface="Calibri"/>
              </a:rPr>
              <a:t> strengthened </a:t>
            </a:r>
            <a:r>
              <a:rPr lang="en-US" err="1">
                <a:ea typeface="Calibri"/>
                <a:cs typeface="Calibri"/>
              </a:rPr>
              <a:t>our</a:t>
            </a:r>
            <a:r>
              <a:rPr lang="en-US">
                <a:ea typeface="Calibri"/>
                <a:cs typeface="Calibri"/>
              </a:rPr>
              <a:t> team collaboration, as scheduled meetings was used to track progress. </a:t>
            </a:r>
          </a:p>
        </p:txBody>
      </p:sp>
      <p:sp>
        <p:nvSpPr>
          <p:cNvPr id="921" name="Title 8">
            <a:extLst>
              <a:ext uri="{FF2B5EF4-FFF2-40B4-BE49-F238E27FC236}">
                <a16:creationId xmlns:a16="http://schemas.microsoft.com/office/drawing/2014/main" id="{214DDFCA-BC06-90E0-22FF-E0DBC7A7691D}"/>
              </a:ext>
            </a:extLst>
          </p:cNvPr>
          <p:cNvSpPr txBox="1">
            <a:spLocks/>
          </p:cNvSpPr>
          <p:nvPr/>
        </p:nvSpPr>
        <p:spPr>
          <a:xfrm>
            <a:off x="5010150" y="4799013"/>
            <a:ext cx="8277225" cy="3429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200" b="1">
                <a:solidFill>
                  <a:srgbClr val="3F3F3F"/>
                </a:solidFill>
                <a:latin typeface="Calibri"/>
                <a:ea typeface="Calibri"/>
                <a:cs typeface="Calibri"/>
              </a:rPr>
              <a:t>Justifications for Platform choices</a:t>
            </a:r>
          </a:p>
        </p:txBody>
      </p:sp>
      <p:sp>
        <p:nvSpPr>
          <p:cNvPr id="938" name="Content Placeholder 864">
            <a:extLst>
              <a:ext uri="{FF2B5EF4-FFF2-40B4-BE49-F238E27FC236}">
                <a16:creationId xmlns:a16="http://schemas.microsoft.com/office/drawing/2014/main" id="{9694BE2E-16CE-E968-95C4-BE474CFC1307}"/>
              </a:ext>
            </a:extLst>
          </p:cNvPr>
          <p:cNvSpPr txBox="1">
            <a:spLocks/>
          </p:cNvSpPr>
          <p:nvPr/>
        </p:nvSpPr>
        <p:spPr>
          <a:xfrm>
            <a:off x="9639300" y="5495925"/>
            <a:ext cx="7800975" cy="4525963"/>
          </a:xfrm>
          <a:prstGeom prst="rect">
            <a:avLst/>
          </a:prstGeom>
          <a:solidFill>
            <a:schemeClr val="accent6">
              <a:lumMod val="40000"/>
              <a:lumOff val="60000"/>
            </a:schemeClr>
          </a:solidFill>
        </p:spPr>
        <p:txBody>
          <a:bodyPr vert="horz" lIns="91440" tIns="45720" rIns="91440" bIns="45720" rtlCol="0" anchor="t">
            <a:normAutofit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ctr">
              <a:buNone/>
            </a:pPr>
            <a:r>
              <a:rPr lang="en-US" sz="2600" b="1">
                <a:solidFill>
                  <a:srgbClr val="FF0000"/>
                </a:solidFill>
                <a:ea typeface="Calibri"/>
                <a:cs typeface="Calibri"/>
              </a:rPr>
              <a:t>Why didn't other popular platforms work?</a:t>
            </a:r>
          </a:p>
          <a:p>
            <a:pPr marL="0" indent="0" algn="ctr">
              <a:buNone/>
            </a:pPr>
            <a:endParaRPr lang="en-US">
              <a:ea typeface="Calibri"/>
              <a:cs typeface="Calibri"/>
            </a:endParaRPr>
          </a:p>
          <a:p>
            <a:pPr>
              <a:buFont typeface="Wingdings" pitchFamily="34" charset="0"/>
              <a:buChar char="v"/>
            </a:pPr>
            <a:r>
              <a:rPr lang="en-US">
                <a:ea typeface="Calibri"/>
                <a:cs typeface="Calibri"/>
              </a:rPr>
              <a:t>While with </a:t>
            </a:r>
            <a:r>
              <a:rPr lang="en-US" b="1">
                <a:ea typeface="Calibri"/>
                <a:cs typeface="Calibri"/>
              </a:rPr>
              <a:t>VS code</a:t>
            </a:r>
            <a:r>
              <a:rPr lang="en-US">
                <a:ea typeface="Calibri"/>
                <a:cs typeface="Calibri"/>
              </a:rPr>
              <a:t> (as a coding platform), the spring support and database integration – although achievable – would require more steps.</a:t>
            </a:r>
          </a:p>
          <a:p>
            <a:pPr>
              <a:buFont typeface="Wingdings" pitchFamily="34" charset="0"/>
              <a:buChar char="v"/>
            </a:pPr>
            <a:r>
              <a:rPr lang="en-US" b="1">
                <a:ea typeface="Calibri"/>
                <a:cs typeface="Calibri"/>
              </a:rPr>
              <a:t>VS Code </a:t>
            </a:r>
            <a:r>
              <a:rPr lang="en-US">
                <a:ea typeface="Calibri"/>
                <a:cs typeface="Calibri"/>
              </a:rPr>
              <a:t>offers GitLab access but lacks the native Spring integration IntelliJ provides.</a:t>
            </a:r>
          </a:p>
          <a:p>
            <a:pPr>
              <a:buFont typeface="Wingdings" pitchFamily="34" charset="0"/>
              <a:buChar char="v"/>
            </a:pPr>
            <a:r>
              <a:rPr lang="en-US">
                <a:ea typeface="Calibri"/>
                <a:cs typeface="Calibri"/>
              </a:rPr>
              <a:t>Teams was just an easier choice as we already owned Teams accounts and apps like </a:t>
            </a:r>
            <a:r>
              <a:rPr lang="en-US" b="1">
                <a:ea typeface="Calibri"/>
                <a:cs typeface="Calibri"/>
              </a:rPr>
              <a:t>Zoom</a:t>
            </a:r>
            <a:r>
              <a:rPr lang="en-US">
                <a:ea typeface="Calibri"/>
                <a:cs typeface="Calibri"/>
              </a:rPr>
              <a:t>, would be rather cumbersome.</a:t>
            </a:r>
          </a:p>
        </p:txBody>
      </p:sp>
      <p:pic>
        <p:nvPicPr>
          <p:cNvPr id="1118" name="Graphic 1117" descr="Cheers with solid fill">
            <a:extLst>
              <a:ext uri="{FF2B5EF4-FFF2-40B4-BE49-F238E27FC236}">
                <a16:creationId xmlns:a16="http://schemas.microsoft.com/office/drawing/2014/main" id="{19DCF535-BB6A-9DA3-7F3B-5601E608261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39300" y="5495925"/>
            <a:ext cx="819150" cy="819150"/>
          </a:xfrm>
          <a:prstGeom prst="rect">
            <a:avLst/>
          </a:prstGeom>
        </p:spPr>
      </p:pic>
      <p:pic>
        <p:nvPicPr>
          <p:cNvPr id="1119" name="Graphic 1118" descr="Users with solid fill">
            <a:extLst>
              <a:ext uri="{FF2B5EF4-FFF2-40B4-BE49-F238E27FC236}">
                <a16:creationId xmlns:a16="http://schemas.microsoft.com/office/drawing/2014/main" id="{37E9CE25-AB23-8215-4129-E04C6467CD2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8200" y="5448300"/>
            <a:ext cx="914400" cy="914400"/>
          </a:xfrm>
          <a:prstGeom prst="rect">
            <a:avLst/>
          </a:prstGeom>
        </p:spPr>
      </p:pic>
    </p:spTree>
    <p:extLst>
      <p:ext uri="{BB962C8B-B14F-4D97-AF65-F5344CB8AC3E}">
        <p14:creationId xmlns:p14="http://schemas.microsoft.com/office/powerpoint/2010/main" val="2529166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4349C-3333-A52D-2DFC-E7B613604E4E}"/>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92BC0166-AD15-EF33-F7D9-3E522D49A7B0}"/>
              </a:ext>
            </a:extLst>
          </p:cNvPr>
          <p:cNvSpPr txBox="1"/>
          <p:nvPr/>
        </p:nvSpPr>
        <p:spPr>
          <a:xfrm>
            <a:off x="13593212" y="133582"/>
            <a:ext cx="4671668" cy="461665"/>
          </a:xfrm>
          <a:prstGeom prst="rect">
            <a:avLst/>
          </a:prstGeom>
        </p:spPr>
        <p:txBody>
          <a:bodyPr wrap="square" lIns="0" tIns="0" rIns="0" bIns="0" rtlCol="0" anchor="t">
            <a:spAutoFit/>
          </a:bodyPr>
          <a:lstStyle/>
          <a:p>
            <a:pPr>
              <a:lnSpc>
                <a:spcPts val="1800"/>
              </a:lnSpc>
              <a:spcBef>
                <a:spcPct val="0"/>
              </a:spcBef>
            </a:pPr>
            <a:r>
              <a:rPr lang="en-US" b="1" spc="179">
                <a:solidFill>
                  <a:srgbClr val="3F3F3F"/>
                </a:solidFill>
                <a:latin typeface="Calibri"/>
                <a:ea typeface="Calibri"/>
                <a:cs typeface="Calibri"/>
              </a:rPr>
              <a:t>Onyinye Precious Aghamelu  </a:t>
            </a:r>
            <a:endParaRPr lang="en-US">
              <a:solidFill>
                <a:srgbClr val="3F3F3F"/>
              </a:solidFill>
              <a:latin typeface="Calibri"/>
              <a:ea typeface="Calibri"/>
              <a:cs typeface="Calibri"/>
            </a:endParaRPr>
          </a:p>
          <a:p>
            <a:pPr>
              <a:lnSpc>
                <a:spcPts val="1800"/>
              </a:lnSpc>
              <a:spcBef>
                <a:spcPct val="0"/>
              </a:spcBef>
            </a:pPr>
            <a:r>
              <a:rPr lang="en-US" b="1" spc="179">
                <a:solidFill>
                  <a:srgbClr val="3F3F3F"/>
                </a:solidFill>
                <a:latin typeface="Calibri"/>
                <a:ea typeface="Calibri"/>
                <a:cs typeface="Calibri"/>
              </a:rPr>
              <a:t>Email - oa287@student.le.ac.uk</a:t>
            </a:r>
            <a:endParaRPr lang="en-US" i="1">
              <a:solidFill>
                <a:srgbClr val="3F3F3F"/>
              </a:solidFill>
              <a:latin typeface="Calibri"/>
              <a:ea typeface="Calibri"/>
              <a:cs typeface="Calibri"/>
            </a:endParaRPr>
          </a:p>
        </p:txBody>
      </p:sp>
      <p:sp>
        <p:nvSpPr>
          <p:cNvPr id="13" name="TextBox 13">
            <a:extLst>
              <a:ext uri="{FF2B5EF4-FFF2-40B4-BE49-F238E27FC236}">
                <a16:creationId xmlns:a16="http://schemas.microsoft.com/office/drawing/2014/main" id="{D552109B-B408-B204-B8BA-109623D0F15B}"/>
              </a:ext>
            </a:extLst>
          </p:cNvPr>
          <p:cNvSpPr txBox="1"/>
          <p:nvPr/>
        </p:nvSpPr>
        <p:spPr>
          <a:xfrm>
            <a:off x="36839" y="592863"/>
            <a:ext cx="10573485" cy="590290"/>
          </a:xfrm>
          <a:prstGeom prst="rect">
            <a:avLst/>
          </a:prstGeom>
        </p:spPr>
        <p:txBody>
          <a:bodyPr wrap="square" lIns="0" tIns="0" rIns="0" bIns="0" rtlCol="0" anchor="t">
            <a:spAutoFit/>
          </a:bodyPr>
          <a:lstStyle/>
          <a:p>
            <a:pPr>
              <a:lnSpc>
                <a:spcPts val="4800"/>
              </a:lnSpc>
            </a:pPr>
            <a:r>
              <a:rPr lang="en-US" sz="3800" i="1" spc="-288">
                <a:solidFill>
                  <a:srgbClr val="3F3F3F"/>
                </a:solidFill>
                <a:latin typeface="Calibri"/>
                <a:ea typeface="Calibri"/>
                <a:cs typeface="Calibri"/>
                <a:sym typeface="Open Sauce"/>
              </a:rPr>
              <a:t>Software Design choices and why we chose them:</a:t>
            </a:r>
            <a:endParaRPr lang="en-US" sz="3800" i="1">
              <a:solidFill>
                <a:srgbClr val="3F3F3F"/>
              </a:solidFill>
              <a:latin typeface="Calibri"/>
              <a:ea typeface="Calibri"/>
              <a:cs typeface="Calibri"/>
            </a:endParaRPr>
          </a:p>
        </p:txBody>
      </p:sp>
      <p:sp>
        <p:nvSpPr>
          <p:cNvPr id="9" name="Title 8">
            <a:extLst>
              <a:ext uri="{FF2B5EF4-FFF2-40B4-BE49-F238E27FC236}">
                <a16:creationId xmlns:a16="http://schemas.microsoft.com/office/drawing/2014/main" id="{B51D2609-CB81-9220-4100-62EE7ACA57EE}"/>
              </a:ext>
            </a:extLst>
          </p:cNvPr>
          <p:cNvSpPr>
            <a:spLocks noGrp="1"/>
          </p:cNvSpPr>
          <p:nvPr>
            <p:ph type="title"/>
          </p:nvPr>
        </p:nvSpPr>
        <p:spPr>
          <a:xfrm>
            <a:off x="4736306" y="1534318"/>
            <a:ext cx="8229600" cy="564357"/>
          </a:xfrm>
        </p:spPr>
        <p:txBody>
          <a:bodyPr>
            <a:noAutofit/>
          </a:bodyPr>
          <a:lstStyle/>
          <a:p>
            <a:r>
              <a:rPr lang="en-US" sz="3200" b="1">
                <a:solidFill>
                  <a:schemeClr val="accent6">
                    <a:lumMod val="76000"/>
                  </a:schemeClr>
                </a:solidFill>
                <a:latin typeface="Calibri"/>
                <a:ea typeface="Calibri"/>
                <a:cs typeface="Calibri"/>
              </a:rPr>
              <a:t>Reflection:</a:t>
            </a:r>
            <a:endParaRPr lang="en-US" sz="3200">
              <a:solidFill>
                <a:schemeClr val="accent6">
                  <a:lumMod val="76000"/>
                </a:schemeClr>
              </a:solidFill>
              <a:latin typeface="Calibri"/>
              <a:ea typeface="Calibri"/>
              <a:cs typeface="Calibri"/>
            </a:endParaRPr>
          </a:p>
        </p:txBody>
      </p:sp>
      <p:sp>
        <p:nvSpPr>
          <p:cNvPr id="10" name="Content Placeholder 9">
            <a:extLst>
              <a:ext uri="{FF2B5EF4-FFF2-40B4-BE49-F238E27FC236}">
                <a16:creationId xmlns:a16="http://schemas.microsoft.com/office/drawing/2014/main" id="{A69A272D-35B0-FE1B-90FF-659944AA5175}"/>
              </a:ext>
            </a:extLst>
          </p:cNvPr>
          <p:cNvSpPr>
            <a:spLocks noGrp="1"/>
          </p:cNvSpPr>
          <p:nvPr>
            <p:ph idx="1"/>
          </p:nvPr>
        </p:nvSpPr>
        <p:spPr>
          <a:xfrm>
            <a:off x="514830" y="3483537"/>
            <a:ext cx="8075919" cy="1457912"/>
          </a:xfrm>
          <a:solidFill>
            <a:schemeClr val="accent3">
              <a:lumMod val="20000"/>
              <a:lumOff val="80000"/>
            </a:schemeClr>
          </a:solidFill>
        </p:spPr>
        <p:txBody>
          <a:bodyPr vert="horz" lIns="91440" tIns="45720" rIns="91440" bIns="45720" rtlCol="0" anchor="t">
            <a:normAutofit/>
          </a:bodyPr>
          <a:lstStyle/>
          <a:p>
            <a:pPr>
              <a:buFont typeface="Wingdings" pitchFamily="34" charset="0"/>
              <a:buChar char="ü"/>
            </a:pPr>
            <a:r>
              <a:rPr lang="en-US" sz="2600">
                <a:ea typeface="Calibri"/>
                <a:cs typeface="Calibri"/>
              </a:rPr>
              <a:t>Employ more JavaScript for async interactions and more UI animations. As I </a:t>
            </a:r>
            <a:r>
              <a:rPr lang="en-US" sz="2600" err="1">
                <a:ea typeface="Calibri"/>
                <a:cs typeface="Calibri"/>
              </a:rPr>
              <a:t>recognise</a:t>
            </a:r>
            <a:r>
              <a:rPr lang="en-US" sz="2600">
                <a:ea typeface="Calibri"/>
                <a:cs typeface="Calibri"/>
              </a:rPr>
              <a:t> how important that would have been in a gamified webapp.</a:t>
            </a:r>
            <a:endParaRPr lang="en-US"/>
          </a:p>
        </p:txBody>
      </p:sp>
      <p:sp>
        <p:nvSpPr>
          <p:cNvPr id="17" name="Content Placeholder 9">
            <a:extLst>
              <a:ext uri="{FF2B5EF4-FFF2-40B4-BE49-F238E27FC236}">
                <a16:creationId xmlns:a16="http://schemas.microsoft.com/office/drawing/2014/main" id="{791B369C-095C-5C4B-5240-8B99EAFDF034}"/>
              </a:ext>
            </a:extLst>
          </p:cNvPr>
          <p:cNvSpPr txBox="1">
            <a:spLocks/>
          </p:cNvSpPr>
          <p:nvPr/>
        </p:nvSpPr>
        <p:spPr>
          <a:xfrm>
            <a:off x="9144000" y="2562766"/>
            <a:ext cx="8421624" cy="6230718"/>
          </a:xfrm>
          <a:prstGeom prst="rect">
            <a:avLst/>
          </a:prstGeom>
          <a:solidFill>
            <a:schemeClr val="bg2"/>
          </a:solidFill>
        </p:spPr>
        <p:txBody>
          <a:bodyPr vert="horz" lIns="91440" tIns="45720" rIns="91440" bIns="45720" rtlCol="0" anchor="t">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a:p>
            <a:pPr marL="0" indent="0">
              <a:buNone/>
            </a:pPr>
            <a:endParaRPr lang="en-US">
              <a:ea typeface="Calibri"/>
              <a:cs typeface="Calibri"/>
            </a:endParaRPr>
          </a:p>
          <a:p>
            <a:pPr marL="0" indent="0" algn="ctr">
              <a:buNone/>
            </a:pPr>
            <a:r>
              <a:rPr lang="en-US" b="1">
                <a:solidFill>
                  <a:schemeClr val="tx1">
                    <a:lumMod val="65000"/>
                    <a:lumOff val="35000"/>
                  </a:schemeClr>
                </a:solidFill>
                <a:ea typeface="Calibri"/>
                <a:cs typeface="Calibri"/>
              </a:rPr>
              <a:t>Any Key Takeaway?</a:t>
            </a:r>
          </a:p>
          <a:p>
            <a:pPr>
              <a:buFont typeface="Wingdings" pitchFamily="34" charset="0"/>
              <a:buChar char="v"/>
            </a:pPr>
            <a:r>
              <a:rPr lang="en-US">
                <a:ea typeface="Calibri"/>
                <a:cs typeface="Calibri"/>
              </a:rPr>
              <a:t> Learnt more about the industry standards and relevance of web development, especially when It came to the usage of:</a:t>
            </a:r>
          </a:p>
          <a:p>
            <a:pPr lvl="1">
              <a:buFont typeface="Courier New" pitchFamily="34" charset="0"/>
              <a:buChar char="o"/>
            </a:pPr>
            <a:r>
              <a:rPr lang="en-US">
                <a:ea typeface="Calibri"/>
                <a:cs typeface="Calibri"/>
              </a:rPr>
              <a:t>Gitlab + Scrum </a:t>
            </a:r>
          </a:p>
          <a:p>
            <a:pPr lvl="1">
              <a:buFont typeface="Courier New" pitchFamily="34" charset="0"/>
              <a:buChar char="o"/>
            </a:pPr>
            <a:r>
              <a:rPr lang="en-US">
                <a:ea typeface="Calibri"/>
                <a:cs typeface="Calibri"/>
              </a:rPr>
              <a:t>JPA Repositories </a:t>
            </a:r>
          </a:p>
          <a:p>
            <a:pPr lvl="1">
              <a:buFont typeface="Courier New" pitchFamily="34" charset="0"/>
              <a:buChar char="o"/>
            </a:pPr>
            <a:r>
              <a:rPr lang="en-US">
                <a:ea typeface="Calibri"/>
                <a:cs typeface="Calibri"/>
              </a:rPr>
              <a:t>Usage of Intelli J and Spring frameworks</a:t>
            </a:r>
          </a:p>
          <a:p>
            <a:pPr lvl="1">
              <a:buFont typeface="Courier New" pitchFamily="34" charset="0"/>
              <a:buChar char="o"/>
            </a:pPr>
            <a:r>
              <a:rPr lang="en-US">
                <a:ea typeface="Calibri"/>
                <a:cs typeface="Calibri"/>
              </a:rPr>
              <a:t>Microsoft teams for hosting and scheduling meetings</a:t>
            </a:r>
          </a:p>
        </p:txBody>
      </p:sp>
      <p:pic>
        <p:nvPicPr>
          <p:cNvPr id="2" name="Picture 1" descr="Clipart - Incandescent light bulb">
            <a:extLst>
              <a:ext uri="{FF2B5EF4-FFF2-40B4-BE49-F238E27FC236}">
                <a16:creationId xmlns:a16="http://schemas.microsoft.com/office/drawing/2014/main" id="{EA3E084F-3CC7-F97F-00CB-1E240D300B5C}"/>
              </a:ext>
            </a:extLst>
          </p:cNvPr>
          <p:cNvPicPr>
            <a:picLocks noChangeAspect="1"/>
          </p:cNvPicPr>
          <p:nvPr/>
        </p:nvPicPr>
        <p:blipFill>
          <a:blip r:embed="rId2"/>
          <a:stretch>
            <a:fillRect/>
          </a:stretch>
        </p:blipFill>
        <p:spPr>
          <a:xfrm>
            <a:off x="12720210" y="2757377"/>
            <a:ext cx="1441564" cy="1953416"/>
          </a:xfrm>
          <a:prstGeom prst="rect">
            <a:avLst/>
          </a:prstGeom>
        </p:spPr>
      </p:pic>
      <p:sp>
        <p:nvSpPr>
          <p:cNvPr id="14" name="Content Placeholder 9">
            <a:extLst>
              <a:ext uri="{FF2B5EF4-FFF2-40B4-BE49-F238E27FC236}">
                <a16:creationId xmlns:a16="http://schemas.microsoft.com/office/drawing/2014/main" id="{7F9C1906-1337-872C-D010-CC80AB75A358}"/>
              </a:ext>
            </a:extLst>
          </p:cNvPr>
          <p:cNvSpPr txBox="1">
            <a:spLocks/>
          </p:cNvSpPr>
          <p:nvPr/>
        </p:nvSpPr>
        <p:spPr>
          <a:xfrm>
            <a:off x="513550" y="5357543"/>
            <a:ext cx="8066314" cy="1515541"/>
          </a:xfrm>
          <a:prstGeom prst="rect">
            <a:avLst/>
          </a:prstGeom>
          <a:solidFill>
            <a:schemeClr val="accent3">
              <a:lumMod val="20000"/>
              <a:lumOff val="80000"/>
            </a:schemeClr>
          </a:solidFill>
        </p:spPr>
        <p:txBody>
          <a:bodyPr vert="horz" lIns="91440" tIns="45720" rIns="91440" bIns="45720" rtlCol="0" anchor="t">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Wingdings" pitchFamily="34" charset="0"/>
              <a:buChar char="ü"/>
            </a:pPr>
            <a:r>
              <a:rPr lang="en-US" sz="2600">
                <a:ea typeface="+mn-lt"/>
                <a:cs typeface="+mn-lt"/>
              </a:rPr>
              <a:t>Exploring reusable component </a:t>
            </a:r>
            <a:r>
              <a:rPr lang="en-US" sz="2400">
                <a:ea typeface="+mn-lt"/>
                <a:cs typeface="+mn-lt"/>
              </a:rPr>
              <a:t>patterns</a:t>
            </a:r>
            <a:r>
              <a:rPr lang="en-US" sz="2600">
                <a:ea typeface="+mn-lt"/>
                <a:cs typeface="+mn-lt"/>
              </a:rPr>
              <a:t> earlier so we weren't repeating similar layouts across pages, as that was a problem I ran into far too late in my code development. </a:t>
            </a:r>
            <a:endParaRPr lang="en-US">
              <a:ea typeface="+mn-lt"/>
              <a:cs typeface="+mn-lt"/>
            </a:endParaRPr>
          </a:p>
        </p:txBody>
      </p:sp>
      <p:sp>
        <p:nvSpPr>
          <p:cNvPr id="16" name="Content Placeholder 9">
            <a:extLst>
              <a:ext uri="{FF2B5EF4-FFF2-40B4-BE49-F238E27FC236}">
                <a16:creationId xmlns:a16="http://schemas.microsoft.com/office/drawing/2014/main" id="{D7A399ED-A221-DEDC-060E-6B927AA1CD1D}"/>
              </a:ext>
            </a:extLst>
          </p:cNvPr>
          <p:cNvSpPr txBox="1">
            <a:spLocks/>
          </p:cNvSpPr>
          <p:nvPr/>
        </p:nvSpPr>
        <p:spPr>
          <a:xfrm>
            <a:off x="521330" y="7460953"/>
            <a:ext cx="8079569" cy="1328820"/>
          </a:xfrm>
          <a:prstGeom prst="rect">
            <a:avLst/>
          </a:prstGeom>
          <a:solidFill>
            <a:schemeClr val="accent3">
              <a:lumMod val="20000"/>
              <a:lumOff val="80000"/>
            </a:schemeClr>
          </a:solidFill>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Wingdings" pitchFamily="34" charset="0"/>
              <a:buChar char="ü"/>
            </a:pPr>
            <a:r>
              <a:rPr lang="en-US" sz="2600">
                <a:ea typeface="Calibri"/>
                <a:cs typeface="Calibri"/>
              </a:rPr>
              <a:t>Finally, Spend more time getting familiar with what Intelli J had to offer to allow for ease of code. </a:t>
            </a:r>
            <a:endParaRPr lang="en-US">
              <a:ea typeface="Calibri"/>
              <a:cs typeface="Calibri"/>
            </a:endParaRPr>
          </a:p>
        </p:txBody>
      </p:sp>
      <p:sp>
        <p:nvSpPr>
          <p:cNvPr id="19" name="Content Placeholder 9">
            <a:extLst>
              <a:ext uri="{FF2B5EF4-FFF2-40B4-BE49-F238E27FC236}">
                <a16:creationId xmlns:a16="http://schemas.microsoft.com/office/drawing/2014/main" id="{365DC85B-2D17-992A-A8E1-749F8F7A2076}"/>
              </a:ext>
            </a:extLst>
          </p:cNvPr>
          <p:cNvSpPr txBox="1">
            <a:spLocks/>
          </p:cNvSpPr>
          <p:nvPr/>
        </p:nvSpPr>
        <p:spPr>
          <a:xfrm>
            <a:off x="551970" y="2560173"/>
            <a:ext cx="8335255" cy="727929"/>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b="1">
                <a:ea typeface="Calibri"/>
                <a:cs typeface="Calibri"/>
              </a:rPr>
              <a:t>What would I reconsider and do differently?</a:t>
            </a:r>
            <a:br>
              <a:rPr lang="en-US">
                <a:ea typeface="Calibri"/>
                <a:cs typeface="Calibri"/>
              </a:rPr>
            </a:br>
            <a:endParaRPr lang="en-US" sz="800">
              <a:ea typeface="Calibri"/>
              <a:cs typeface="Calibri"/>
            </a:endParaRPr>
          </a:p>
        </p:txBody>
      </p:sp>
    </p:spTree>
    <p:extLst>
      <p:ext uri="{BB962C8B-B14F-4D97-AF65-F5344CB8AC3E}">
        <p14:creationId xmlns:p14="http://schemas.microsoft.com/office/powerpoint/2010/main" val="2851878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645CEEA-CB6D-AA12-EC53-D394E42602D4}"/>
              </a:ext>
            </a:extLst>
          </p:cNvPr>
          <p:cNvSpPr txBox="1"/>
          <p:nvPr/>
        </p:nvSpPr>
        <p:spPr>
          <a:xfrm>
            <a:off x="241701" y="311485"/>
            <a:ext cx="7017089" cy="3791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2E1C10"/>
                </a:solidFill>
                <a:latin typeface="Open Sauce Italics"/>
                <a:ea typeface="Calibri"/>
                <a:cs typeface="Calibri"/>
              </a:rPr>
              <a:t>How we communicated and what we learnt from this.</a:t>
            </a:r>
          </a:p>
        </p:txBody>
      </p:sp>
      <p:sp>
        <p:nvSpPr>
          <p:cNvPr id="8" name="TextBox 7">
            <a:extLst>
              <a:ext uri="{FF2B5EF4-FFF2-40B4-BE49-F238E27FC236}">
                <a16:creationId xmlns:a16="http://schemas.microsoft.com/office/drawing/2014/main" id="{17B3693F-3853-F1EA-4289-2BD8B648B282}"/>
              </a:ext>
            </a:extLst>
          </p:cNvPr>
          <p:cNvSpPr txBox="1"/>
          <p:nvPr/>
        </p:nvSpPr>
        <p:spPr>
          <a:xfrm>
            <a:off x="16835047" y="316325"/>
            <a:ext cx="38762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rgbClr val="2E1C10"/>
                </a:solidFill>
                <a:latin typeface="Open Sauce Italics"/>
                <a:ea typeface="Calibri"/>
                <a:cs typeface="Calibri"/>
              </a:rPr>
              <a:t>Rae</a:t>
            </a:r>
          </a:p>
        </p:txBody>
      </p:sp>
      <p:sp>
        <p:nvSpPr>
          <p:cNvPr id="9" name="TextBox 8">
            <a:extLst>
              <a:ext uri="{FF2B5EF4-FFF2-40B4-BE49-F238E27FC236}">
                <a16:creationId xmlns:a16="http://schemas.microsoft.com/office/drawing/2014/main" id="{E03F65F2-DA96-6D86-9A35-95852657B834}"/>
              </a:ext>
            </a:extLst>
          </p:cNvPr>
          <p:cNvSpPr txBox="1"/>
          <p:nvPr/>
        </p:nvSpPr>
        <p:spPr>
          <a:xfrm>
            <a:off x="247671" y="688962"/>
            <a:ext cx="15440501"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0">
                <a:solidFill>
                  <a:srgbClr val="867858"/>
                </a:solidFill>
                <a:latin typeface="Open Sauce Bold"/>
                <a:ea typeface="Calibri"/>
                <a:cs typeface="Calibri"/>
              </a:rPr>
              <a:t>Why communication matters in a group project: </a:t>
            </a:r>
          </a:p>
        </p:txBody>
      </p:sp>
      <p:sp>
        <p:nvSpPr>
          <p:cNvPr id="11" name="TextBox 10">
            <a:extLst>
              <a:ext uri="{FF2B5EF4-FFF2-40B4-BE49-F238E27FC236}">
                <a16:creationId xmlns:a16="http://schemas.microsoft.com/office/drawing/2014/main" id="{C9AAE313-B653-685D-18A1-5CE640E65B5D}"/>
              </a:ext>
            </a:extLst>
          </p:cNvPr>
          <p:cNvSpPr txBox="1"/>
          <p:nvPr/>
        </p:nvSpPr>
        <p:spPr>
          <a:xfrm>
            <a:off x="231215" y="1543388"/>
            <a:ext cx="529500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CC7A42"/>
                </a:solidFill>
                <a:latin typeface="Open Sauce Bold"/>
                <a:ea typeface="Calibri"/>
                <a:cs typeface="Calibri"/>
              </a:rPr>
              <a:t>1. Clear division of tasks</a:t>
            </a:r>
          </a:p>
        </p:txBody>
      </p:sp>
      <p:sp>
        <p:nvSpPr>
          <p:cNvPr id="2" name="TextBox 1">
            <a:extLst>
              <a:ext uri="{FF2B5EF4-FFF2-40B4-BE49-F238E27FC236}">
                <a16:creationId xmlns:a16="http://schemas.microsoft.com/office/drawing/2014/main" id="{F14E2DE0-B9B3-6F96-3D05-E57FF35AE095}"/>
              </a:ext>
            </a:extLst>
          </p:cNvPr>
          <p:cNvSpPr txBox="1"/>
          <p:nvPr/>
        </p:nvSpPr>
        <p:spPr>
          <a:xfrm>
            <a:off x="242266" y="2088912"/>
            <a:ext cx="13093432" cy="1261884"/>
          </a:xfrm>
          <a:prstGeom prst="rect">
            <a:avLst/>
          </a:prstGeom>
          <a:solidFill>
            <a:srgbClr val="F5E8D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900">
                <a:solidFill>
                  <a:srgbClr val="2E1C10"/>
                </a:solidFill>
                <a:latin typeface="Open Sauce"/>
                <a:ea typeface="+mn-lt"/>
                <a:cs typeface="+mn-lt"/>
              </a:rPr>
              <a:t>Communication helps teams understand each member's skills, experience, and strengths</a:t>
            </a:r>
            <a:endParaRPr lang="en-US" sz="1900">
              <a:solidFill>
                <a:srgbClr val="000000"/>
              </a:solidFill>
              <a:latin typeface="Open Sauce"/>
              <a:ea typeface="+mn-lt"/>
              <a:cs typeface="+mn-lt"/>
            </a:endParaRPr>
          </a:p>
          <a:p>
            <a:pPr marL="285750" indent="-285750">
              <a:buFont typeface="Arial"/>
              <a:buChar char="•"/>
            </a:pPr>
            <a:r>
              <a:rPr lang="en-US" sz="1900">
                <a:solidFill>
                  <a:srgbClr val="2E1C10"/>
                </a:solidFill>
                <a:latin typeface="Open Sauce"/>
                <a:ea typeface="+mn-lt"/>
                <a:cs typeface="+mn-lt"/>
              </a:rPr>
              <a:t>This allows tasks to be delegated to those best suited to complete them, improving efficiency</a:t>
            </a:r>
          </a:p>
          <a:p>
            <a:pPr marL="285750" indent="-285750">
              <a:buFont typeface="Arial"/>
              <a:buChar char="•"/>
            </a:pPr>
            <a:r>
              <a:rPr lang="en-US" sz="1900">
                <a:solidFill>
                  <a:srgbClr val="2E1C10"/>
                </a:solidFill>
                <a:latin typeface="Open Sauce"/>
                <a:ea typeface="+mn-lt"/>
                <a:cs typeface="+mn-lt"/>
              </a:rPr>
              <a:t>Balanced task delegation reduces frustration and improves the overall quality of the final project</a:t>
            </a:r>
          </a:p>
          <a:p>
            <a:pPr algn="l"/>
            <a:endParaRPr lang="en-US" sz="1900">
              <a:solidFill>
                <a:srgbClr val="2E1C10"/>
              </a:solidFill>
              <a:latin typeface="Open Sauce"/>
              <a:ea typeface="Calibri"/>
              <a:cs typeface="Calibri"/>
            </a:endParaRPr>
          </a:p>
        </p:txBody>
      </p:sp>
      <p:sp>
        <p:nvSpPr>
          <p:cNvPr id="4" name="TextBox 3">
            <a:extLst>
              <a:ext uri="{FF2B5EF4-FFF2-40B4-BE49-F238E27FC236}">
                <a16:creationId xmlns:a16="http://schemas.microsoft.com/office/drawing/2014/main" id="{ACF5DF7C-63D9-5C37-60B7-803158EBD621}"/>
              </a:ext>
            </a:extLst>
          </p:cNvPr>
          <p:cNvSpPr txBox="1"/>
          <p:nvPr/>
        </p:nvSpPr>
        <p:spPr>
          <a:xfrm>
            <a:off x="5218851" y="4022362"/>
            <a:ext cx="78482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719F98"/>
                </a:solidFill>
                <a:latin typeface="Open Sauce Bold"/>
                <a:ea typeface="Calibri"/>
                <a:cs typeface="Calibri"/>
              </a:rPr>
              <a:t>2. Improves problem solving</a:t>
            </a:r>
          </a:p>
        </p:txBody>
      </p:sp>
      <p:sp>
        <p:nvSpPr>
          <p:cNvPr id="6" name="TextBox 5">
            <a:extLst>
              <a:ext uri="{FF2B5EF4-FFF2-40B4-BE49-F238E27FC236}">
                <a16:creationId xmlns:a16="http://schemas.microsoft.com/office/drawing/2014/main" id="{6C56FE7A-44DB-A886-BA49-FD7C82FFBA3D}"/>
              </a:ext>
            </a:extLst>
          </p:cNvPr>
          <p:cNvSpPr txBox="1"/>
          <p:nvPr/>
        </p:nvSpPr>
        <p:spPr>
          <a:xfrm>
            <a:off x="5215057" y="4612419"/>
            <a:ext cx="13078588" cy="1554272"/>
          </a:xfrm>
          <a:prstGeom prst="rect">
            <a:avLst/>
          </a:prstGeom>
          <a:solidFill>
            <a:srgbClr val="F0F8F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900">
                <a:solidFill>
                  <a:srgbClr val="2E1C10"/>
                </a:solidFill>
                <a:latin typeface="Open Sauce"/>
                <a:ea typeface="+mn-lt"/>
                <a:cs typeface="+mn-lt"/>
              </a:rPr>
              <a:t>Programming challenges such as bugs and merge issues are inevitable in group projects</a:t>
            </a:r>
            <a:endParaRPr lang="en-US" sz="1900">
              <a:solidFill>
                <a:srgbClr val="2E1C10"/>
              </a:solidFill>
              <a:latin typeface="Open Sauce"/>
              <a:ea typeface="Calibri"/>
              <a:cs typeface="Calibri"/>
            </a:endParaRPr>
          </a:p>
          <a:p>
            <a:pPr marL="285750" indent="-285750">
              <a:buFont typeface="Arial"/>
              <a:buChar char="•"/>
            </a:pPr>
            <a:r>
              <a:rPr lang="en-US" sz="1900">
                <a:solidFill>
                  <a:srgbClr val="2E1C10"/>
                </a:solidFill>
                <a:latin typeface="Open Sauce"/>
                <a:ea typeface="+mn-lt"/>
                <a:cs typeface="+mn-lt"/>
              </a:rPr>
              <a:t>Communication allows members to ask questions, share solutions, and draw on each other's experience</a:t>
            </a:r>
          </a:p>
          <a:p>
            <a:pPr marL="285750" indent="-285750">
              <a:buFont typeface="Arial"/>
              <a:buChar char="•"/>
            </a:pPr>
            <a:r>
              <a:rPr lang="en-US" sz="1900">
                <a:solidFill>
                  <a:srgbClr val="2E1C10"/>
                </a:solidFill>
                <a:latin typeface="Open Sauce"/>
                <a:ea typeface="+mn-lt"/>
                <a:cs typeface="+mn-lt"/>
              </a:rPr>
              <a:t>This openness prevents problems from worsening and improves both productivity and technical understanding across the team</a:t>
            </a:r>
            <a:endParaRPr lang="en-US" sz="1900">
              <a:solidFill>
                <a:srgbClr val="2E1C10"/>
              </a:solidFill>
              <a:latin typeface="Open Sauce"/>
              <a:ea typeface="Calibri"/>
              <a:cs typeface="Calibri"/>
            </a:endParaRPr>
          </a:p>
          <a:p>
            <a:endParaRPr lang="en-US" sz="1900">
              <a:solidFill>
                <a:srgbClr val="2E1C10"/>
              </a:solidFill>
              <a:latin typeface="Open Sauce"/>
              <a:ea typeface="Calibri"/>
              <a:cs typeface="Calibri"/>
            </a:endParaRPr>
          </a:p>
        </p:txBody>
      </p:sp>
      <p:sp>
        <p:nvSpPr>
          <p:cNvPr id="3" name="TextBox 2">
            <a:extLst>
              <a:ext uri="{FF2B5EF4-FFF2-40B4-BE49-F238E27FC236}">
                <a16:creationId xmlns:a16="http://schemas.microsoft.com/office/drawing/2014/main" id="{6E6D5663-B008-5D3E-5CAE-EFF50E0CC0A5}"/>
              </a:ext>
            </a:extLst>
          </p:cNvPr>
          <p:cNvSpPr txBox="1"/>
          <p:nvPr/>
        </p:nvSpPr>
        <p:spPr>
          <a:xfrm>
            <a:off x="237507" y="7592786"/>
            <a:ext cx="13077702" cy="2139047"/>
          </a:xfrm>
          <a:prstGeom prst="rect">
            <a:avLst/>
          </a:prstGeom>
          <a:solidFill>
            <a:srgbClr val="F3EEF9"/>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900">
                <a:solidFill>
                  <a:srgbClr val="2E1C10"/>
                </a:solidFill>
                <a:latin typeface="Open Sauce"/>
              </a:rPr>
              <a:t>Regular communication ensures the team can track progress, identify delays early, and avoid last-minute rushes before deadlines</a:t>
            </a:r>
            <a:endParaRPr lang="en-US" sz="1900">
              <a:solidFill>
                <a:srgbClr val="2E1C10"/>
              </a:solidFill>
              <a:latin typeface="Open Sauce"/>
              <a:ea typeface="Calibri"/>
              <a:cs typeface="Calibri"/>
            </a:endParaRPr>
          </a:p>
          <a:p>
            <a:pPr marL="285750" indent="-285750">
              <a:buFont typeface="Arial"/>
              <a:buChar char="•"/>
            </a:pPr>
            <a:r>
              <a:rPr lang="en-US" sz="1900">
                <a:solidFill>
                  <a:srgbClr val="2E1C10"/>
                </a:solidFill>
                <a:latin typeface="Open Sauce"/>
              </a:rPr>
              <a:t>Without consistent updates, incomplete tasks can go unnoticed, leading to panic, rushed code, and unfinished features</a:t>
            </a:r>
            <a:endParaRPr lang="en-US" sz="1900">
              <a:solidFill>
                <a:srgbClr val="2E1C10"/>
              </a:solidFill>
              <a:latin typeface="Open Sauce"/>
              <a:ea typeface="Calibri"/>
              <a:cs typeface="Calibri"/>
            </a:endParaRPr>
          </a:p>
          <a:p>
            <a:pPr marL="342900" indent="-342900">
              <a:buFont typeface="Arial"/>
              <a:buChar char="•"/>
            </a:pPr>
            <a:r>
              <a:rPr lang="en-US" sz="1900">
                <a:solidFill>
                  <a:srgbClr val="2E1C10"/>
                </a:solidFill>
                <a:latin typeface="Open Sauce"/>
              </a:rPr>
              <a:t>Team discussions also enable code reviews, helping to catch mistakes, improve readability, and maintain consistent style across the Java project, increasing the likelihood of submitting a polished and functional application on time</a:t>
            </a:r>
            <a:endParaRPr lang="en-US" sz="1900">
              <a:solidFill>
                <a:srgbClr val="000000"/>
              </a:solidFill>
              <a:latin typeface="Open Sauce"/>
              <a:ea typeface="Calibri"/>
              <a:cs typeface="Calibri"/>
            </a:endParaRPr>
          </a:p>
        </p:txBody>
      </p:sp>
      <p:pic>
        <p:nvPicPr>
          <p:cNvPr id="13" name="Picture 12" descr="A clipboard with check marks and a person icon&#10;&#10;AI-generated content may be incorrect.">
            <a:extLst>
              <a:ext uri="{FF2B5EF4-FFF2-40B4-BE49-F238E27FC236}">
                <a16:creationId xmlns:a16="http://schemas.microsoft.com/office/drawing/2014/main" id="{BE3368C8-7468-0C38-97FA-0F6297779223}"/>
              </a:ext>
            </a:extLst>
          </p:cNvPr>
          <p:cNvPicPr>
            <a:picLocks noChangeAspect="1"/>
          </p:cNvPicPr>
          <p:nvPr/>
        </p:nvPicPr>
        <p:blipFill>
          <a:blip r:embed="rId3"/>
          <a:stretch>
            <a:fillRect/>
          </a:stretch>
        </p:blipFill>
        <p:spPr>
          <a:xfrm>
            <a:off x="14756512" y="1722106"/>
            <a:ext cx="2446442" cy="2241098"/>
          </a:xfrm>
          <a:prstGeom prst="rect">
            <a:avLst/>
          </a:prstGeom>
        </p:spPr>
      </p:pic>
      <p:pic>
        <p:nvPicPr>
          <p:cNvPr id="14" name="Picture 13" descr="A group of people with a speech bubble&#10;&#10;AI-generated content may be incorrect.">
            <a:extLst>
              <a:ext uri="{FF2B5EF4-FFF2-40B4-BE49-F238E27FC236}">
                <a16:creationId xmlns:a16="http://schemas.microsoft.com/office/drawing/2014/main" id="{48638D29-4AF8-051B-5CA6-69F9D4ADAF24}"/>
              </a:ext>
            </a:extLst>
          </p:cNvPr>
          <p:cNvPicPr>
            <a:picLocks noChangeAspect="1"/>
          </p:cNvPicPr>
          <p:nvPr/>
        </p:nvPicPr>
        <p:blipFill>
          <a:blip r:embed="rId4"/>
          <a:stretch>
            <a:fillRect/>
          </a:stretch>
        </p:blipFill>
        <p:spPr>
          <a:xfrm>
            <a:off x="927637" y="4143930"/>
            <a:ext cx="3072988" cy="2904632"/>
          </a:xfrm>
          <a:prstGeom prst="rect">
            <a:avLst/>
          </a:prstGeom>
        </p:spPr>
      </p:pic>
      <p:sp>
        <p:nvSpPr>
          <p:cNvPr id="5" name="TextBox 4">
            <a:extLst>
              <a:ext uri="{FF2B5EF4-FFF2-40B4-BE49-F238E27FC236}">
                <a16:creationId xmlns:a16="http://schemas.microsoft.com/office/drawing/2014/main" id="{CCCD1D31-2C10-A777-7EDE-6DA31C89A4BE}"/>
              </a:ext>
            </a:extLst>
          </p:cNvPr>
          <p:cNvSpPr txBox="1"/>
          <p:nvPr/>
        </p:nvSpPr>
        <p:spPr>
          <a:xfrm>
            <a:off x="246058" y="7050570"/>
            <a:ext cx="7477095"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solidFill>
                  <a:srgbClr val="6441B0"/>
                </a:solidFill>
                <a:latin typeface="Open Sauce Bold"/>
                <a:ea typeface="Calibri"/>
                <a:cs typeface="Calibri"/>
              </a:rPr>
              <a:t>3. Deadlines and project quality</a:t>
            </a:r>
            <a:endParaRPr lang="en-US" sz="3000">
              <a:solidFill>
                <a:srgbClr val="6441B0"/>
              </a:solidFill>
              <a:ea typeface="Calibri"/>
              <a:cs typeface="Calibri"/>
            </a:endParaRPr>
          </a:p>
        </p:txBody>
      </p:sp>
      <p:pic>
        <p:nvPicPr>
          <p:cNvPr id="15" name="Picture 14" descr="A calendar and clock icon&#10;&#10;AI-generated content may be incorrect.">
            <a:extLst>
              <a:ext uri="{FF2B5EF4-FFF2-40B4-BE49-F238E27FC236}">
                <a16:creationId xmlns:a16="http://schemas.microsoft.com/office/drawing/2014/main" id="{AE5FB1C9-21CA-09EE-F222-5F8E1EA3BEC8}"/>
              </a:ext>
            </a:extLst>
          </p:cNvPr>
          <p:cNvPicPr>
            <a:picLocks noChangeAspect="1"/>
          </p:cNvPicPr>
          <p:nvPr/>
        </p:nvPicPr>
        <p:blipFill>
          <a:blip r:embed="rId5"/>
          <a:stretch>
            <a:fillRect/>
          </a:stretch>
        </p:blipFill>
        <p:spPr>
          <a:xfrm>
            <a:off x="14526306" y="7300415"/>
            <a:ext cx="2936547" cy="2989490"/>
          </a:xfrm>
          <a:prstGeom prst="rect">
            <a:avLst/>
          </a:prstGeom>
        </p:spPr>
      </p:pic>
    </p:spTree>
    <p:extLst>
      <p:ext uri="{BB962C8B-B14F-4D97-AF65-F5344CB8AC3E}">
        <p14:creationId xmlns:p14="http://schemas.microsoft.com/office/powerpoint/2010/main" val="2946365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8B4F4-D9F5-3D27-4237-A6E2D6348F3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9C1BE8F-04F4-2649-B639-290C532F7D38}"/>
              </a:ext>
            </a:extLst>
          </p:cNvPr>
          <p:cNvSpPr txBox="1"/>
          <p:nvPr/>
        </p:nvSpPr>
        <p:spPr>
          <a:xfrm>
            <a:off x="247671" y="688962"/>
            <a:ext cx="133920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867858"/>
                </a:solidFill>
                <a:latin typeface="Open Sauce Bold"/>
                <a:ea typeface="Calibri"/>
                <a:cs typeface="Calibri"/>
              </a:rPr>
              <a:t>Our Communication Methods:</a:t>
            </a:r>
            <a:endParaRPr lang="en-US"/>
          </a:p>
        </p:txBody>
      </p:sp>
      <p:sp>
        <p:nvSpPr>
          <p:cNvPr id="11" name="TextBox 10">
            <a:extLst>
              <a:ext uri="{FF2B5EF4-FFF2-40B4-BE49-F238E27FC236}">
                <a16:creationId xmlns:a16="http://schemas.microsoft.com/office/drawing/2014/main" id="{AB41D662-F14A-ABDD-27CE-8F7A4C97389B}"/>
              </a:ext>
            </a:extLst>
          </p:cNvPr>
          <p:cNvSpPr txBox="1"/>
          <p:nvPr/>
        </p:nvSpPr>
        <p:spPr>
          <a:xfrm>
            <a:off x="2057046" y="1766050"/>
            <a:ext cx="222226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867858"/>
                </a:solidFill>
                <a:latin typeface="Open Sauce Bold"/>
                <a:ea typeface="Calibri"/>
                <a:cs typeface="Calibri"/>
              </a:rPr>
              <a:t>1. Group chat</a:t>
            </a:r>
          </a:p>
        </p:txBody>
      </p:sp>
      <p:sp>
        <p:nvSpPr>
          <p:cNvPr id="4" name="TextBox 3">
            <a:extLst>
              <a:ext uri="{FF2B5EF4-FFF2-40B4-BE49-F238E27FC236}">
                <a16:creationId xmlns:a16="http://schemas.microsoft.com/office/drawing/2014/main" id="{7B6301A4-DA11-EE5B-FF21-6C5123EDD9F7}"/>
              </a:ext>
            </a:extLst>
          </p:cNvPr>
          <p:cNvSpPr txBox="1"/>
          <p:nvPr/>
        </p:nvSpPr>
        <p:spPr>
          <a:xfrm>
            <a:off x="7534540" y="1602766"/>
            <a:ext cx="321682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867858"/>
                </a:solidFill>
                <a:latin typeface="Open Sauce Bold"/>
                <a:ea typeface="Calibri"/>
                <a:cs typeface="Calibri"/>
              </a:rPr>
              <a:t>2. In person meetings</a:t>
            </a:r>
          </a:p>
        </p:txBody>
      </p:sp>
      <p:sp>
        <p:nvSpPr>
          <p:cNvPr id="5" name="TextBox 4">
            <a:extLst>
              <a:ext uri="{FF2B5EF4-FFF2-40B4-BE49-F238E27FC236}">
                <a16:creationId xmlns:a16="http://schemas.microsoft.com/office/drawing/2014/main" id="{4B3D5C61-42B3-64D8-42EB-FCB636901A26}"/>
              </a:ext>
            </a:extLst>
          </p:cNvPr>
          <p:cNvSpPr txBox="1"/>
          <p:nvPr/>
        </p:nvSpPr>
        <p:spPr>
          <a:xfrm>
            <a:off x="13694864" y="1602764"/>
            <a:ext cx="286056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867858"/>
                </a:solidFill>
                <a:latin typeface="Open Sauce Bold"/>
                <a:ea typeface="Calibri"/>
                <a:cs typeface="Calibri"/>
              </a:rPr>
              <a:t>3. Checkpoint Labs</a:t>
            </a:r>
            <a:endParaRPr lang="en-US" sz="2000">
              <a:ea typeface="Calibri"/>
              <a:cs typeface="Calibri"/>
            </a:endParaRPr>
          </a:p>
        </p:txBody>
      </p:sp>
      <p:pic>
        <p:nvPicPr>
          <p:cNvPr id="3" name="Picture 2">
            <a:extLst>
              <a:ext uri="{FF2B5EF4-FFF2-40B4-BE49-F238E27FC236}">
                <a16:creationId xmlns:a16="http://schemas.microsoft.com/office/drawing/2014/main" id="{5891CA77-1BC7-03BA-30CD-F71745EC2E4B}"/>
              </a:ext>
            </a:extLst>
          </p:cNvPr>
          <p:cNvPicPr>
            <a:picLocks noChangeAspect="1"/>
          </p:cNvPicPr>
          <p:nvPr/>
        </p:nvPicPr>
        <p:blipFill>
          <a:blip r:embed="rId2"/>
          <a:stretch>
            <a:fillRect/>
          </a:stretch>
        </p:blipFill>
        <p:spPr>
          <a:xfrm>
            <a:off x="1813524" y="2218583"/>
            <a:ext cx="2459058" cy="535626"/>
          </a:xfrm>
          <a:prstGeom prst="rect">
            <a:avLst/>
          </a:prstGeom>
        </p:spPr>
      </p:pic>
      <p:sp>
        <p:nvSpPr>
          <p:cNvPr id="6" name="TextBox 5">
            <a:extLst>
              <a:ext uri="{FF2B5EF4-FFF2-40B4-BE49-F238E27FC236}">
                <a16:creationId xmlns:a16="http://schemas.microsoft.com/office/drawing/2014/main" id="{7BB55068-57F6-9FA7-A042-7E4C744CAECE}"/>
              </a:ext>
            </a:extLst>
          </p:cNvPr>
          <p:cNvSpPr txBox="1"/>
          <p:nvPr/>
        </p:nvSpPr>
        <p:spPr>
          <a:xfrm>
            <a:off x="2419597" y="2234045"/>
            <a:ext cx="148441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91B359"/>
                </a:solidFill>
                <a:latin typeface="Calibri"/>
                <a:ea typeface="Calibri"/>
                <a:cs typeface="Calibri"/>
              </a:rPr>
              <a:t>Weekly</a:t>
            </a:r>
            <a:endParaRPr lang="en-US" sz="2800">
              <a:solidFill>
                <a:srgbClr val="91B359"/>
              </a:solidFill>
              <a:ea typeface="Calibri"/>
              <a:cs typeface="Calibri"/>
            </a:endParaRPr>
          </a:p>
        </p:txBody>
      </p:sp>
      <p:pic>
        <p:nvPicPr>
          <p:cNvPr id="10" name="Picture 9">
            <a:extLst>
              <a:ext uri="{FF2B5EF4-FFF2-40B4-BE49-F238E27FC236}">
                <a16:creationId xmlns:a16="http://schemas.microsoft.com/office/drawing/2014/main" id="{9B209F91-A9C1-F49D-7AB9-89F58F0D33EA}"/>
              </a:ext>
            </a:extLst>
          </p:cNvPr>
          <p:cNvPicPr>
            <a:picLocks noChangeAspect="1"/>
          </p:cNvPicPr>
          <p:nvPr/>
        </p:nvPicPr>
        <p:blipFill>
          <a:blip r:embed="rId3"/>
          <a:stretch>
            <a:fillRect/>
          </a:stretch>
        </p:blipFill>
        <p:spPr>
          <a:xfrm>
            <a:off x="7676965" y="2218583"/>
            <a:ext cx="2488747" cy="550470"/>
          </a:xfrm>
          <a:prstGeom prst="rect">
            <a:avLst/>
          </a:prstGeom>
        </p:spPr>
      </p:pic>
      <p:sp>
        <p:nvSpPr>
          <p:cNvPr id="15" name="TextBox 14">
            <a:extLst>
              <a:ext uri="{FF2B5EF4-FFF2-40B4-BE49-F238E27FC236}">
                <a16:creationId xmlns:a16="http://schemas.microsoft.com/office/drawing/2014/main" id="{5F6DFE95-4F8F-CF63-52B6-9EF79F761D36}"/>
              </a:ext>
            </a:extLst>
          </p:cNvPr>
          <p:cNvSpPr txBox="1"/>
          <p:nvPr/>
        </p:nvSpPr>
        <p:spPr>
          <a:xfrm>
            <a:off x="241701" y="311485"/>
            <a:ext cx="7017089" cy="3791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2E1C10"/>
                </a:solidFill>
                <a:latin typeface="Open Sauce Italics"/>
                <a:ea typeface="Calibri"/>
                <a:cs typeface="Calibri"/>
              </a:rPr>
              <a:t>How we communicated and what we learnt from this.</a:t>
            </a:r>
          </a:p>
        </p:txBody>
      </p:sp>
      <p:sp>
        <p:nvSpPr>
          <p:cNvPr id="17" name="TextBox 16">
            <a:extLst>
              <a:ext uri="{FF2B5EF4-FFF2-40B4-BE49-F238E27FC236}">
                <a16:creationId xmlns:a16="http://schemas.microsoft.com/office/drawing/2014/main" id="{F1154026-E36B-0D58-D333-8262D88B6263}"/>
              </a:ext>
            </a:extLst>
          </p:cNvPr>
          <p:cNvSpPr txBox="1"/>
          <p:nvPr/>
        </p:nvSpPr>
        <p:spPr>
          <a:xfrm>
            <a:off x="16835047" y="316325"/>
            <a:ext cx="38762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rgbClr val="2E1C10"/>
                </a:solidFill>
                <a:latin typeface="Open Sauce Italics"/>
                <a:ea typeface="Calibri"/>
                <a:cs typeface="Calibri"/>
              </a:rPr>
              <a:t>Rae</a:t>
            </a:r>
          </a:p>
        </p:txBody>
      </p:sp>
      <p:sp>
        <p:nvSpPr>
          <p:cNvPr id="2" name="TextBox 1">
            <a:extLst>
              <a:ext uri="{FF2B5EF4-FFF2-40B4-BE49-F238E27FC236}">
                <a16:creationId xmlns:a16="http://schemas.microsoft.com/office/drawing/2014/main" id="{3F476158-FFEA-CC96-1639-5EB08E35BE5B}"/>
              </a:ext>
            </a:extLst>
          </p:cNvPr>
          <p:cNvSpPr txBox="1"/>
          <p:nvPr/>
        </p:nvSpPr>
        <p:spPr>
          <a:xfrm>
            <a:off x="8193973" y="2234045"/>
            <a:ext cx="148441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CC7A42"/>
                </a:solidFill>
                <a:latin typeface="Calibri"/>
                <a:ea typeface="Calibri"/>
                <a:cs typeface="Calibri"/>
              </a:rPr>
              <a:t>Monthly</a:t>
            </a:r>
            <a:endParaRPr lang="en-US" sz="2800">
              <a:solidFill>
                <a:srgbClr val="CC7A42"/>
              </a:solidFill>
              <a:ea typeface="Calibri"/>
              <a:cs typeface="Calibri"/>
            </a:endParaRPr>
          </a:p>
        </p:txBody>
      </p:sp>
      <p:sp>
        <p:nvSpPr>
          <p:cNvPr id="8" name="TextBox 7">
            <a:extLst>
              <a:ext uri="{FF2B5EF4-FFF2-40B4-BE49-F238E27FC236}">
                <a16:creationId xmlns:a16="http://schemas.microsoft.com/office/drawing/2014/main" id="{21C334B0-A8E9-2CF3-6825-FEF98640A1F3}"/>
              </a:ext>
            </a:extLst>
          </p:cNvPr>
          <p:cNvSpPr txBox="1"/>
          <p:nvPr/>
        </p:nvSpPr>
        <p:spPr>
          <a:xfrm>
            <a:off x="237506" y="5945085"/>
            <a:ext cx="5700157" cy="3477875"/>
          </a:xfrm>
          <a:custGeom>
            <a:avLst/>
            <a:gdLst>
              <a:gd name="csX0" fmla="*/ 0 w 5700157"/>
              <a:gd name="csY0" fmla="*/ 0 h 3477875"/>
              <a:gd name="csX1" fmla="*/ 513014 w 5700157"/>
              <a:gd name="csY1" fmla="*/ 0 h 3477875"/>
              <a:gd name="csX2" fmla="*/ 969027 w 5700157"/>
              <a:gd name="csY2" fmla="*/ 0 h 3477875"/>
              <a:gd name="csX3" fmla="*/ 1425039 w 5700157"/>
              <a:gd name="csY3" fmla="*/ 0 h 3477875"/>
              <a:gd name="csX4" fmla="*/ 1824050 w 5700157"/>
              <a:gd name="csY4" fmla="*/ 0 h 3477875"/>
              <a:gd name="csX5" fmla="*/ 2223061 w 5700157"/>
              <a:gd name="csY5" fmla="*/ 0 h 3477875"/>
              <a:gd name="csX6" fmla="*/ 2622072 w 5700157"/>
              <a:gd name="csY6" fmla="*/ 0 h 3477875"/>
              <a:gd name="csX7" fmla="*/ 3249089 w 5700157"/>
              <a:gd name="csY7" fmla="*/ 0 h 3477875"/>
              <a:gd name="csX8" fmla="*/ 3648100 w 5700157"/>
              <a:gd name="csY8" fmla="*/ 0 h 3477875"/>
              <a:gd name="csX9" fmla="*/ 4104113 w 5700157"/>
              <a:gd name="csY9" fmla="*/ 0 h 3477875"/>
              <a:gd name="csX10" fmla="*/ 4560126 w 5700157"/>
              <a:gd name="csY10" fmla="*/ 0 h 3477875"/>
              <a:gd name="csX11" fmla="*/ 5700157 w 5700157"/>
              <a:gd name="csY11" fmla="*/ 0 h 3477875"/>
              <a:gd name="csX12" fmla="*/ 5700157 w 5700157"/>
              <a:gd name="csY12" fmla="*/ 475310 h 3477875"/>
              <a:gd name="csX13" fmla="*/ 5700157 w 5700157"/>
              <a:gd name="csY13" fmla="*/ 1054955 h 3477875"/>
              <a:gd name="csX14" fmla="*/ 5700157 w 5700157"/>
              <a:gd name="csY14" fmla="*/ 1669380 h 3477875"/>
              <a:gd name="csX15" fmla="*/ 5700157 w 5700157"/>
              <a:gd name="csY15" fmla="*/ 2283805 h 3477875"/>
              <a:gd name="csX16" fmla="*/ 5700157 w 5700157"/>
              <a:gd name="csY16" fmla="*/ 2898229 h 3477875"/>
              <a:gd name="csX17" fmla="*/ 5700157 w 5700157"/>
              <a:gd name="csY17" fmla="*/ 3477875 h 3477875"/>
              <a:gd name="csX18" fmla="*/ 5016138 w 5700157"/>
              <a:gd name="csY18" fmla="*/ 3477875 h 3477875"/>
              <a:gd name="csX19" fmla="*/ 4503124 w 5700157"/>
              <a:gd name="csY19" fmla="*/ 3477875 h 3477875"/>
              <a:gd name="csX20" fmla="*/ 3933108 w 5700157"/>
              <a:gd name="csY20" fmla="*/ 3477875 h 3477875"/>
              <a:gd name="csX21" fmla="*/ 3420094 w 5700157"/>
              <a:gd name="csY21" fmla="*/ 3477875 h 3477875"/>
              <a:gd name="csX22" fmla="*/ 3021083 w 5700157"/>
              <a:gd name="csY22" fmla="*/ 3477875 h 3477875"/>
              <a:gd name="csX23" fmla="*/ 2451068 w 5700157"/>
              <a:gd name="csY23" fmla="*/ 3477875 h 3477875"/>
              <a:gd name="csX24" fmla="*/ 1881052 w 5700157"/>
              <a:gd name="csY24" fmla="*/ 3477875 h 3477875"/>
              <a:gd name="csX25" fmla="*/ 1254035 w 5700157"/>
              <a:gd name="csY25" fmla="*/ 3477875 h 3477875"/>
              <a:gd name="csX26" fmla="*/ 570016 w 5700157"/>
              <a:gd name="csY26" fmla="*/ 3477875 h 3477875"/>
              <a:gd name="csX27" fmla="*/ 0 w 5700157"/>
              <a:gd name="csY27" fmla="*/ 3477875 h 3477875"/>
              <a:gd name="csX28" fmla="*/ 0 w 5700157"/>
              <a:gd name="csY28" fmla="*/ 2828672 h 3477875"/>
              <a:gd name="csX29" fmla="*/ 0 w 5700157"/>
              <a:gd name="csY29" fmla="*/ 2283805 h 3477875"/>
              <a:gd name="csX30" fmla="*/ 0 w 5700157"/>
              <a:gd name="csY30" fmla="*/ 1808495 h 3477875"/>
              <a:gd name="csX31" fmla="*/ 0 w 5700157"/>
              <a:gd name="csY31" fmla="*/ 1228849 h 3477875"/>
              <a:gd name="csX32" fmla="*/ 0 w 5700157"/>
              <a:gd name="csY32" fmla="*/ 649203 h 3477875"/>
              <a:gd name="csX33" fmla="*/ 0 w 5700157"/>
              <a:gd name="csY33" fmla="*/ 0 h 34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5700157" h="3477875" extrusionOk="0">
                <a:moveTo>
                  <a:pt x="0" y="0"/>
                </a:moveTo>
                <a:cubicBezTo>
                  <a:pt x="122660" y="-25218"/>
                  <a:pt x="408584" y="26456"/>
                  <a:pt x="513014" y="0"/>
                </a:cubicBezTo>
                <a:cubicBezTo>
                  <a:pt x="617444" y="-26456"/>
                  <a:pt x="754380" y="14446"/>
                  <a:pt x="969027" y="0"/>
                </a:cubicBezTo>
                <a:cubicBezTo>
                  <a:pt x="1183674" y="-14446"/>
                  <a:pt x="1295199" y="34535"/>
                  <a:pt x="1425039" y="0"/>
                </a:cubicBezTo>
                <a:cubicBezTo>
                  <a:pt x="1554879" y="-34535"/>
                  <a:pt x="1640863" y="12876"/>
                  <a:pt x="1824050" y="0"/>
                </a:cubicBezTo>
                <a:cubicBezTo>
                  <a:pt x="2007237" y="-12876"/>
                  <a:pt x="2140650" y="34855"/>
                  <a:pt x="2223061" y="0"/>
                </a:cubicBezTo>
                <a:cubicBezTo>
                  <a:pt x="2305472" y="-34855"/>
                  <a:pt x="2495715" y="30583"/>
                  <a:pt x="2622072" y="0"/>
                </a:cubicBezTo>
                <a:cubicBezTo>
                  <a:pt x="2748429" y="-30583"/>
                  <a:pt x="3018069" y="69136"/>
                  <a:pt x="3249089" y="0"/>
                </a:cubicBezTo>
                <a:cubicBezTo>
                  <a:pt x="3480109" y="-69136"/>
                  <a:pt x="3495882" y="4075"/>
                  <a:pt x="3648100" y="0"/>
                </a:cubicBezTo>
                <a:cubicBezTo>
                  <a:pt x="3800318" y="-4075"/>
                  <a:pt x="3893126" y="26062"/>
                  <a:pt x="4104113" y="0"/>
                </a:cubicBezTo>
                <a:cubicBezTo>
                  <a:pt x="4315100" y="-26062"/>
                  <a:pt x="4464755" y="20620"/>
                  <a:pt x="4560126" y="0"/>
                </a:cubicBezTo>
                <a:cubicBezTo>
                  <a:pt x="4655497" y="-20620"/>
                  <a:pt x="5281658" y="113127"/>
                  <a:pt x="5700157" y="0"/>
                </a:cubicBezTo>
                <a:cubicBezTo>
                  <a:pt x="5715242" y="231692"/>
                  <a:pt x="5687549" y="324813"/>
                  <a:pt x="5700157" y="475310"/>
                </a:cubicBezTo>
                <a:cubicBezTo>
                  <a:pt x="5712765" y="625807"/>
                  <a:pt x="5668184" y="907679"/>
                  <a:pt x="5700157" y="1054955"/>
                </a:cubicBezTo>
                <a:cubicBezTo>
                  <a:pt x="5732130" y="1202231"/>
                  <a:pt x="5662266" y="1486455"/>
                  <a:pt x="5700157" y="1669380"/>
                </a:cubicBezTo>
                <a:cubicBezTo>
                  <a:pt x="5738048" y="1852305"/>
                  <a:pt x="5661021" y="2039313"/>
                  <a:pt x="5700157" y="2283805"/>
                </a:cubicBezTo>
                <a:cubicBezTo>
                  <a:pt x="5739293" y="2528297"/>
                  <a:pt x="5660122" y="2647166"/>
                  <a:pt x="5700157" y="2898229"/>
                </a:cubicBezTo>
                <a:cubicBezTo>
                  <a:pt x="5740192" y="3149292"/>
                  <a:pt x="5639363" y="3238640"/>
                  <a:pt x="5700157" y="3477875"/>
                </a:cubicBezTo>
                <a:cubicBezTo>
                  <a:pt x="5496984" y="3506131"/>
                  <a:pt x="5303753" y="3425116"/>
                  <a:pt x="5016138" y="3477875"/>
                </a:cubicBezTo>
                <a:cubicBezTo>
                  <a:pt x="4728523" y="3530634"/>
                  <a:pt x="4667983" y="3435703"/>
                  <a:pt x="4503124" y="3477875"/>
                </a:cubicBezTo>
                <a:cubicBezTo>
                  <a:pt x="4338265" y="3520047"/>
                  <a:pt x="4201785" y="3414481"/>
                  <a:pt x="3933108" y="3477875"/>
                </a:cubicBezTo>
                <a:cubicBezTo>
                  <a:pt x="3664431" y="3541269"/>
                  <a:pt x="3654461" y="3441064"/>
                  <a:pt x="3420094" y="3477875"/>
                </a:cubicBezTo>
                <a:cubicBezTo>
                  <a:pt x="3185727" y="3514686"/>
                  <a:pt x="3121547" y="3469236"/>
                  <a:pt x="3021083" y="3477875"/>
                </a:cubicBezTo>
                <a:cubicBezTo>
                  <a:pt x="2920619" y="3486514"/>
                  <a:pt x="2711008" y="3425792"/>
                  <a:pt x="2451068" y="3477875"/>
                </a:cubicBezTo>
                <a:cubicBezTo>
                  <a:pt x="2191129" y="3529958"/>
                  <a:pt x="2124061" y="3449369"/>
                  <a:pt x="1881052" y="3477875"/>
                </a:cubicBezTo>
                <a:cubicBezTo>
                  <a:pt x="1638043" y="3506381"/>
                  <a:pt x="1398646" y="3421259"/>
                  <a:pt x="1254035" y="3477875"/>
                </a:cubicBezTo>
                <a:cubicBezTo>
                  <a:pt x="1109424" y="3534491"/>
                  <a:pt x="836128" y="3444630"/>
                  <a:pt x="570016" y="3477875"/>
                </a:cubicBezTo>
                <a:cubicBezTo>
                  <a:pt x="303904" y="3511120"/>
                  <a:pt x="128345" y="3463795"/>
                  <a:pt x="0" y="3477875"/>
                </a:cubicBezTo>
                <a:cubicBezTo>
                  <a:pt x="-24676" y="3214567"/>
                  <a:pt x="76464" y="3025467"/>
                  <a:pt x="0" y="2828672"/>
                </a:cubicBezTo>
                <a:cubicBezTo>
                  <a:pt x="-76464" y="2631877"/>
                  <a:pt x="21182" y="2456315"/>
                  <a:pt x="0" y="2283805"/>
                </a:cubicBezTo>
                <a:cubicBezTo>
                  <a:pt x="-21182" y="2111295"/>
                  <a:pt x="45527" y="2042930"/>
                  <a:pt x="0" y="1808495"/>
                </a:cubicBezTo>
                <a:cubicBezTo>
                  <a:pt x="-45527" y="1574060"/>
                  <a:pt x="6864" y="1382050"/>
                  <a:pt x="0" y="1228849"/>
                </a:cubicBezTo>
                <a:cubicBezTo>
                  <a:pt x="-6864" y="1075648"/>
                  <a:pt x="53940" y="936142"/>
                  <a:pt x="0" y="649203"/>
                </a:cubicBezTo>
                <a:cubicBezTo>
                  <a:pt x="-53940" y="362264"/>
                  <a:pt x="61807" y="135565"/>
                  <a:pt x="0" y="0"/>
                </a:cubicBezTo>
                <a:close/>
              </a:path>
            </a:pathLst>
          </a:custGeom>
          <a:noFill/>
          <a:ln w="57150">
            <a:solidFill>
              <a:srgbClr val="91B359"/>
            </a:solidFill>
            <a:extLst>
              <a:ext uri="{C807C97D-BFC1-408E-A445-0C87EB9F89A2}">
                <ask:lineSketchStyleProps xmlns:ask="http://schemas.microsoft.com/office/drawing/2018/sketchyshapes" sd="3499211612">
                  <a:prstGeom prst="rect">
                    <a:avLst/>
                  </a:prstGeom>
                  <ask:type>
                    <ask:lineSketchScribble/>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a:solidFill>
                  <a:srgbClr val="2E1C10"/>
                </a:solidFill>
                <a:latin typeface="Open Sauce"/>
                <a:ea typeface="+mn-lt"/>
                <a:cs typeface="+mn-lt"/>
              </a:rPr>
              <a:t>An iMessage group chat served as our primary communication tool, used to share progress updates and keep all members informed throughout the project</a:t>
            </a:r>
            <a:endParaRPr lang="en-US">
              <a:solidFill>
                <a:srgbClr val="2E1C10"/>
              </a:solidFill>
              <a:ea typeface="Calibri"/>
              <a:cs typeface="Calibri"/>
            </a:endParaRPr>
          </a:p>
          <a:p>
            <a:pPr marL="342900" indent="-342900">
              <a:buFont typeface="Arial"/>
              <a:buChar char="•"/>
            </a:pPr>
            <a:r>
              <a:rPr lang="en-US" sz="2000">
                <a:solidFill>
                  <a:srgbClr val="2E1C10"/>
                </a:solidFill>
                <a:latin typeface="Open Sauce"/>
                <a:ea typeface="+mn-lt"/>
                <a:cs typeface="+mn-lt"/>
              </a:rPr>
              <a:t>The chat allowed members to ask questions about each other's code, coordinate meeting times</a:t>
            </a:r>
            <a:endParaRPr lang="en-US" sz="2000">
              <a:solidFill>
                <a:srgbClr val="2E1C10"/>
              </a:solidFill>
              <a:latin typeface="Open Sauce"/>
              <a:ea typeface="Calibri"/>
              <a:cs typeface="Calibri"/>
            </a:endParaRPr>
          </a:p>
          <a:p>
            <a:pPr marL="342900" indent="-342900">
              <a:buFont typeface="Arial"/>
              <a:buChar char="•"/>
            </a:pPr>
            <a:r>
              <a:rPr lang="en-US" sz="2000">
                <a:solidFill>
                  <a:srgbClr val="2E1C10"/>
                </a:solidFill>
                <a:latin typeface="Open Sauce"/>
                <a:ea typeface="+mn-lt"/>
                <a:cs typeface="+mn-lt"/>
              </a:rPr>
              <a:t>Any issues or bugs were shared promptly in the chat, allowing the team to troubleshoot together </a:t>
            </a:r>
            <a:endParaRPr lang="en-US" sz="2000">
              <a:solidFill>
                <a:srgbClr val="2E1C10"/>
              </a:solidFill>
              <a:latin typeface="Open Sauce"/>
              <a:ea typeface="Calibri"/>
              <a:cs typeface="Calibri"/>
            </a:endParaRPr>
          </a:p>
          <a:p>
            <a:endParaRPr lang="en-US" sz="2000">
              <a:solidFill>
                <a:srgbClr val="2E1C10"/>
              </a:solidFill>
              <a:latin typeface="Open Sauce"/>
            </a:endParaRPr>
          </a:p>
        </p:txBody>
      </p:sp>
      <p:sp>
        <p:nvSpPr>
          <p:cNvPr id="13" name="TextBox 12">
            <a:extLst>
              <a:ext uri="{FF2B5EF4-FFF2-40B4-BE49-F238E27FC236}">
                <a16:creationId xmlns:a16="http://schemas.microsoft.com/office/drawing/2014/main" id="{CCDE498F-3AB8-39B8-A02B-E69126701677}"/>
              </a:ext>
            </a:extLst>
          </p:cNvPr>
          <p:cNvSpPr txBox="1"/>
          <p:nvPr/>
        </p:nvSpPr>
        <p:spPr>
          <a:xfrm>
            <a:off x="6219701" y="5915396"/>
            <a:ext cx="5670470" cy="3477875"/>
          </a:xfrm>
          <a:custGeom>
            <a:avLst/>
            <a:gdLst>
              <a:gd name="csX0" fmla="*/ 0 w 5670470"/>
              <a:gd name="csY0" fmla="*/ 0 h 3477875"/>
              <a:gd name="csX1" fmla="*/ 680456 w 5670470"/>
              <a:gd name="csY1" fmla="*/ 0 h 3477875"/>
              <a:gd name="csX2" fmla="*/ 1077389 w 5670470"/>
              <a:gd name="csY2" fmla="*/ 0 h 3477875"/>
              <a:gd name="csX3" fmla="*/ 1474322 w 5670470"/>
              <a:gd name="csY3" fmla="*/ 0 h 3477875"/>
              <a:gd name="csX4" fmla="*/ 2098074 w 5670470"/>
              <a:gd name="csY4" fmla="*/ 0 h 3477875"/>
              <a:gd name="csX5" fmla="*/ 2721826 w 5670470"/>
              <a:gd name="csY5" fmla="*/ 0 h 3477875"/>
              <a:gd name="csX6" fmla="*/ 3402282 w 5670470"/>
              <a:gd name="csY6" fmla="*/ 0 h 3477875"/>
              <a:gd name="csX7" fmla="*/ 4026034 w 5670470"/>
              <a:gd name="csY7" fmla="*/ 0 h 3477875"/>
              <a:gd name="csX8" fmla="*/ 4593081 w 5670470"/>
              <a:gd name="csY8" fmla="*/ 0 h 3477875"/>
              <a:gd name="csX9" fmla="*/ 5103423 w 5670470"/>
              <a:gd name="csY9" fmla="*/ 0 h 3477875"/>
              <a:gd name="csX10" fmla="*/ 5670470 w 5670470"/>
              <a:gd name="csY10" fmla="*/ 0 h 3477875"/>
              <a:gd name="csX11" fmla="*/ 5670470 w 5670470"/>
              <a:gd name="csY11" fmla="*/ 614425 h 3477875"/>
              <a:gd name="csX12" fmla="*/ 5670470 w 5670470"/>
              <a:gd name="csY12" fmla="*/ 1228849 h 3477875"/>
              <a:gd name="csX13" fmla="*/ 5670470 w 5670470"/>
              <a:gd name="csY13" fmla="*/ 1704159 h 3477875"/>
              <a:gd name="csX14" fmla="*/ 5670470 w 5670470"/>
              <a:gd name="csY14" fmla="*/ 2353362 h 3477875"/>
              <a:gd name="csX15" fmla="*/ 5670470 w 5670470"/>
              <a:gd name="csY15" fmla="*/ 3477875 h 3477875"/>
              <a:gd name="csX16" fmla="*/ 5046718 w 5670470"/>
              <a:gd name="csY16" fmla="*/ 3477875 h 3477875"/>
              <a:gd name="csX17" fmla="*/ 4366262 w 5670470"/>
              <a:gd name="csY17" fmla="*/ 3477875 h 3477875"/>
              <a:gd name="csX18" fmla="*/ 3742510 w 5670470"/>
              <a:gd name="csY18" fmla="*/ 3477875 h 3477875"/>
              <a:gd name="csX19" fmla="*/ 3345577 w 5670470"/>
              <a:gd name="csY19" fmla="*/ 3477875 h 3477875"/>
              <a:gd name="csX20" fmla="*/ 2665121 w 5670470"/>
              <a:gd name="csY20" fmla="*/ 3477875 h 3477875"/>
              <a:gd name="csX21" fmla="*/ 2041369 w 5670470"/>
              <a:gd name="csY21" fmla="*/ 3477875 h 3477875"/>
              <a:gd name="csX22" fmla="*/ 1474322 w 5670470"/>
              <a:gd name="csY22" fmla="*/ 3477875 h 3477875"/>
              <a:gd name="csX23" fmla="*/ 1020685 w 5670470"/>
              <a:gd name="csY23" fmla="*/ 3477875 h 3477875"/>
              <a:gd name="csX24" fmla="*/ 567047 w 5670470"/>
              <a:gd name="csY24" fmla="*/ 3477875 h 3477875"/>
              <a:gd name="csX25" fmla="*/ 0 w 5670470"/>
              <a:gd name="csY25" fmla="*/ 3477875 h 3477875"/>
              <a:gd name="csX26" fmla="*/ 0 w 5670470"/>
              <a:gd name="csY26" fmla="*/ 3002565 h 3477875"/>
              <a:gd name="csX27" fmla="*/ 0 w 5670470"/>
              <a:gd name="csY27" fmla="*/ 2457698 h 3477875"/>
              <a:gd name="csX28" fmla="*/ 0 w 5670470"/>
              <a:gd name="csY28" fmla="*/ 1912831 h 3477875"/>
              <a:gd name="csX29" fmla="*/ 0 w 5670470"/>
              <a:gd name="csY29" fmla="*/ 1402743 h 3477875"/>
              <a:gd name="csX30" fmla="*/ 0 w 5670470"/>
              <a:gd name="csY30" fmla="*/ 788318 h 3477875"/>
              <a:gd name="csX31" fmla="*/ 0 w 5670470"/>
              <a:gd name="csY31" fmla="*/ 0 h 34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670470" h="3477875" extrusionOk="0">
                <a:moveTo>
                  <a:pt x="0" y="0"/>
                </a:moveTo>
                <a:cubicBezTo>
                  <a:pt x="209221" y="-24151"/>
                  <a:pt x="360056" y="35893"/>
                  <a:pt x="680456" y="0"/>
                </a:cubicBezTo>
                <a:cubicBezTo>
                  <a:pt x="1000856" y="-35893"/>
                  <a:pt x="989342" y="24940"/>
                  <a:pt x="1077389" y="0"/>
                </a:cubicBezTo>
                <a:cubicBezTo>
                  <a:pt x="1165436" y="-24940"/>
                  <a:pt x="1364828" y="41248"/>
                  <a:pt x="1474322" y="0"/>
                </a:cubicBezTo>
                <a:cubicBezTo>
                  <a:pt x="1583816" y="-41248"/>
                  <a:pt x="1787530" y="12113"/>
                  <a:pt x="2098074" y="0"/>
                </a:cubicBezTo>
                <a:cubicBezTo>
                  <a:pt x="2408618" y="-12113"/>
                  <a:pt x="2452411" y="50182"/>
                  <a:pt x="2721826" y="0"/>
                </a:cubicBezTo>
                <a:cubicBezTo>
                  <a:pt x="2991241" y="-50182"/>
                  <a:pt x="3161546" y="11189"/>
                  <a:pt x="3402282" y="0"/>
                </a:cubicBezTo>
                <a:cubicBezTo>
                  <a:pt x="3643018" y="-11189"/>
                  <a:pt x="3858772" y="30997"/>
                  <a:pt x="4026034" y="0"/>
                </a:cubicBezTo>
                <a:cubicBezTo>
                  <a:pt x="4193296" y="-30997"/>
                  <a:pt x="4359926" y="20723"/>
                  <a:pt x="4593081" y="0"/>
                </a:cubicBezTo>
                <a:cubicBezTo>
                  <a:pt x="4826236" y="-20723"/>
                  <a:pt x="4912308" y="56054"/>
                  <a:pt x="5103423" y="0"/>
                </a:cubicBezTo>
                <a:cubicBezTo>
                  <a:pt x="5294538" y="-56054"/>
                  <a:pt x="5425487" y="58504"/>
                  <a:pt x="5670470" y="0"/>
                </a:cubicBezTo>
                <a:cubicBezTo>
                  <a:pt x="5728587" y="143304"/>
                  <a:pt x="5626288" y="427580"/>
                  <a:pt x="5670470" y="614425"/>
                </a:cubicBezTo>
                <a:cubicBezTo>
                  <a:pt x="5714652" y="801271"/>
                  <a:pt x="5664266" y="1087960"/>
                  <a:pt x="5670470" y="1228849"/>
                </a:cubicBezTo>
                <a:cubicBezTo>
                  <a:pt x="5676674" y="1369738"/>
                  <a:pt x="5656661" y="1567279"/>
                  <a:pt x="5670470" y="1704159"/>
                </a:cubicBezTo>
                <a:cubicBezTo>
                  <a:pt x="5684279" y="1841039"/>
                  <a:pt x="5593873" y="2166164"/>
                  <a:pt x="5670470" y="2353362"/>
                </a:cubicBezTo>
                <a:cubicBezTo>
                  <a:pt x="5747067" y="2540560"/>
                  <a:pt x="5612353" y="3162769"/>
                  <a:pt x="5670470" y="3477875"/>
                </a:cubicBezTo>
                <a:cubicBezTo>
                  <a:pt x="5464817" y="3518060"/>
                  <a:pt x="5178087" y="3432799"/>
                  <a:pt x="5046718" y="3477875"/>
                </a:cubicBezTo>
                <a:cubicBezTo>
                  <a:pt x="4915349" y="3522951"/>
                  <a:pt x="4512969" y="3475860"/>
                  <a:pt x="4366262" y="3477875"/>
                </a:cubicBezTo>
                <a:cubicBezTo>
                  <a:pt x="4219555" y="3479890"/>
                  <a:pt x="3870274" y="3459482"/>
                  <a:pt x="3742510" y="3477875"/>
                </a:cubicBezTo>
                <a:cubicBezTo>
                  <a:pt x="3614746" y="3496268"/>
                  <a:pt x="3447510" y="3436019"/>
                  <a:pt x="3345577" y="3477875"/>
                </a:cubicBezTo>
                <a:cubicBezTo>
                  <a:pt x="3243644" y="3519731"/>
                  <a:pt x="2954187" y="3439098"/>
                  <a:pt x="2665121" y="3477875"/>
                </a:cubicBezTo>
                <a:cubicBezTo>
                  <a:pt x="2376055" y="3516652"/>
                  <a:pt x="2232950" y="3410569"/>
                  <a:pt x="2041369" y="3477875"/>
                </a:cubicBezTo>
                <a:cubicBezTo>
                  <a:pt x="1849788" y="3545181"/>
                  <a:pt x="1603025" y="3450896"/>
                  <a:pt x="1474322" y="3477875"/>
                </a:cubicBezTo>
                <a:cubicBezTo>
                  <a:pt x="1345619" y="3504854"/>
                  <a:pt x="1115993" y="3452640"/>
                  <a:pt x="1020685" y="3477875"/>
                </a:cubicBezTo>
                <a:cubicBezTo>
                  <a:pt x="925377" y="3503110"/>
                  <a:pt x="715292" y="3425530"/>
                  <a:pt x="567047" y="3477875"/>
                </a:cubicBezTo>
                <a:cubicBezTo>
                  <a:pt x="418802" y="3530220"/>
                  <a:pt x="146443" y="3462241"/>
                  <a:pt x="0" y="3477875"/>
                </a:cubicBezTo>
                <a:cubicBezTo>
                  <a:pt x="-51212" y="3378178"/>
                  <a:pt x="23504" y="3112820"/>
                  <a:pt x="0" y="3002565"/>
                </a:cubicBezTo>
                <a:cubicBezTo>
                  <a:pt x="-23504" y="2892310"/>
                  <a:pt x="13226" y="2574400"/>
                  <a:pt x="0" y="2457698"/>
                </a:cubicBezTo>
                <a:cubicBezTo>
                  <a:pt x="-13226" y="2340996"/>
                  <a:pt x="19628" y="2113241"/>
                  <a:pt x="0" y="1912831"/>
                </a:cubicBezTo>
                <a:cubicBezTo>
                  <a:pt x="-19628" y="1712421"/>
                  <a:pt x="25564" y="1545060"/>
                  <a:pt x="0" y="1402743"/>
                </a:cubicBezTo>
                <a:cubicBezTo>
                  <a:pt x="-25564" y="1260426"/>
                  <a:pt x="19380" y="1035547"/>
                  <a:pt x="0" y="788318"/>
                </a:cubicBezTo>
                <a:cubicBezTo>
                  <a:pt x="-19380" y="541090"/>
                  <a:pt x="63819" y="345356"/>
                  <a:pt x="0" y="0"/>
                </a:cubicBezTo>
                <a:close/>
              </a:path>
            </a:pathLst>
          </a:custGeom>
          <a:noFill/>
          <a:ln w="57150">
            <a:solidFill>
              <a:srgbClr val="DAAF5E"/>
            </a:solidFill>
            <a:extLst>
              <a:ext uri="{C807C97D-BFC1-408E-A445-0C87EB9F89A2}">
                <ask:lineSketchStyleProps xmlns:ask="http://schemas.microsoft.com/office/drawing/2018/sketchyshapes" sd="2113167455">
                  <a:prstGeom prst="rect">
                    <a:avLst/>
                  </a:prstGeom>
                  <ask:type>
                    <ask:lineSketchScribble/>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solidFill>
                  <a:srgbClr val="2E1C10"/>
                </a:solidFill>
                <a:latin typeface="Open Sauce"/>
                <a:ea typeface="+mn-lt"/>
                <a:cs typeface="+mn-lt"/>
              </a:rPr>
              <a:t>In-person meetings were held to plan sprint structure and align the team on priorities and build a shared understanding of each component</a:t>
            </a:r>
          </a:p>
          <a:p>
            <a:pPr marL="285750" indent="-285750">
              <a:buFont typeface="Arial"/>
              <a:buChar char="•"/>
            </a:pPr>
            <a:r>
              <a:rPr lang="en-US" sz="2000">
                <a:solidFill>
                  <a:srgbClr val="2E1C10"/>
                </a:solidFill>
                <a:latin typeface="Open Sauce"/>
                <a:ea typeface="+mn-lt"/>
                <a:cs typeface="+mn-lt"/>
              </a:rPr>
              <a:t>Supervisor feedback was reviewed and discussed as a group</a:t>
            </a:r>
          </a:p>
          <a:p>
            <a:pPr marL="285750" indent="-285750">
              <a:buFont typeface="Arial"/>
              <a:buChar char="•"/>
            </a:pPr>
            <a:r>
              <a:rPr lang="en-US" sz="2000">
                <a:solidFill>
                  <a:srgbClr val="2E1C10"/>
                </a:solidFill>
                <a:latin typeface="Open Sauce"/>
                <a:ea typeface="+mn-lt"/>
                <a:cs typeface="+mn-lt"/>
              </a:rPr>
              <a:t>These meetings encouraged open discussion, helping the team identify issues early and make informed decisions throughout the project</a:t>
            </a:r>
          </a:p>
          <a:p>
            <a:endParaRPr lang="en-US" sz="2000">
              <a:solidFill>
                <a:srgbClr val="2E1C10"/>
              </a:solidFill>
              <a:latin typeface="Open Sauce"/>
              <a:ea typeface="Calibri"/>
              <a:cs typeface="Calibri"/>
            </a:endParaRPr>
          </a:p>
        </p:txBody>
      </p:sp>
      <p:sp>
        <p:nvSpPr>
          <p:cNvPr id="14" name="TextBox 13">
            <a:extLst>
              <a:ext uri="{FF2B5EF4-FFF2-40B4-BE49-F238E27FC236}">
                <a16:creationId xmlns:a16="http://schemas.microsoft.com/office/drawing/2014/main" id="{FDD17D58-8CE2-176D-819F-3BD9AA086643}"/>
              </a:ext>
            </a:extLst>
          </p:cNvPr>
          <p:cNvSpPr txBox="1"/>
          <p:nvPr/>
        </p:nvSpPr>
        <p:spPr>
          <a:xfrm>
            <a:off x="12157362" y="5885707"/>
            <a:ext cx="5922819" cy="2862322"/>
          </a:xfrm>
          <a:custGeom>
            <a:avLst/>
            <a:gdLst>
              <a:gd name="csX0" fmla="*/ 0 w 5922819"/>
              <a:gd name="csY0" fmla="*/ 0 h 2862322"/>
              <a:gd name="csX1" fmla="*/ 533054 w 5922819"/>
              <a:gd name="csY1" fmla="*/ 0 h 2862322"/>
              <a:gd name="csX2" fmla="*/ 1066107 w 5922819"/>
              <a:gd name="csY2" fmla="*/ 0 h 2862322"/>
              <a:gd name="csX3" fmla="*/ 1776846 w 5922819"/>
              <a:gd name="csY3" fmla="*/ 0 h 2862322"/>
              <a:gd name="csX4" fmla="*/ 2487584 w 5922819"/>
              <a:gd name="csY4" fmla="*/ 0 h 2862322"/>
              <a:gd name="csX5" fmla="*/ 2961410 w 5922819"/>
              <a:gd name="csY5" fmla="*/ 0 h 2862322"/>
              <a:gd name="csX6" fmla="*/ 3376007 w 5922819"/>
              <a:gd name="csY6" fmla="*/ 0 h 2862322"/>
              <a:gd name="csX7" fmla="*/ 3849832 w 5922819"/>
              <a:gd name="csY7" fmla="*/ 0 h 2862322"/>
              <a:gd name="csX8" fmla="*/ 4501342 w 5922819"/>
              <a:gd name="csY8" fmla="*/ 0 h 2862322"/>
              <a:gd name="csX9" fmla="*/ 5212081 w 5922819"/>
              <a:gd name="csY9" fmla="*/ 0 h 2862322"/>
              <a:gd name="csX10" fmla="*/ 5922819 w 5922819"/>
              <a:gd name="csY10" fmla="*/ 0 h 2862322"/>
              <a:gd name="csX11" fmla="*/ 5922819 w 5922819"/>
              <a:gd name="csY11" fmla="*/ 601088 h 2862322"/>
              <a:gd name="csX12" fmla="*/ 5922819 w 5922819"/>
              <a:gd name="csY12" fmla="*/ 1230798 h 2862322"/>
              <a:gd name="csX13" fmla="*/ 5922819 w 5922819"/>
              <a:gd name="csY13" fmla="*/ 1717393 h 2862322"/>
              <a:gd name="csX14" fmla="*/ 5922819 w 5922819"/>
              <a:gd name="csY14" fmla="*/ 2347104 h 2862322"/>
              <a:gd name="csX15" fmla="*/ 5922819 w 5922819"/>
              <a:gd name="csY15" fmla="*/ 2862322 h 2862322"/>
              <a:gd name="csX16" fmla="*/ 5508222 w 5922819"/>
              <a:gd name="csY16" fmla="*/ 2862322 h 2862322"/>
              <a:gd name="csX17" fmla="*/ 5093624 w 5922819"/>
              <a:gd name="csY17" fmla="*/ 2862322 h 2862322"/>
              <a:gd name="csX18" fmla="*/ 4619799 w 5922819"/>
              <a:gd name="csY18" fmla="*/ 2862322 h 2862322"/>
              <a:gd name="csX19" fmla="*/ 3968289 w 5922819"/>
              <a:gd name="csY19" fmla="*/ 2862322 h 2862322"/>
              <a:gd name="csX20" fmla="*/ 3316779 w 5922819"/>
              <a:gd name="csY20" fmla="*/ 2862322 h 2862322"/>
              <a:gd name="csX21" fmla="*/ 2902181 w 5922819"/>
              <a:gd name="csY21" fmla="*/ 2862322 h 2862322"/>
              <a:gd name="csX22" fmla="*/ 2369128 w 5922819"/>
              <a:gd name="csY22" fmla="*/ 2862322 h 2862322"/>
              <a:gd name="csX23" fmla="*/ 1658389 w 5922819"/>
              <a:gd name="csY23" fmla="*/ 2862322 h 2862322"/>
              <a:gd name="csX24" fmla="*/ 1243792 w 5922819"/>
              <a:gd name="csY24" fmla="*/ 2862322 h 2862322"/>
              <a:gd name="csX25" fmla="*/ 710738 w 5922819"/>
              <a:gd name="csY25" fmla="*/ 2862322 h 2862322"/>
              <a:gd name="csX26" fmla="*/ 0 w 5922819"/>
              <a:gd name="csY26" fmla="*/ 2862322 h 2862322"/>
              <a:gd name="csX27" fmla="*/ 0 w 5922819"/>
              <a:gd name="csY27" fmla="*/ 2261234 h 2862322"/>
              <a:gd name="csX28" fmla="*/ 0 w 5922819"/>
              <a:gd name="csY28" fmla="*/ 1631524 h 2862322"/>
              <a:gd name="csX29" fmla="*/ 0 w 5922819"/>
              <a:gd name="csY29" fmla="*/ 1144929 h 2862322"/>
              <a:gd name="csX30" fmla="*/ 0 w 5922819"/>
              <a:gd name="csY30" fmla="*/ 601088 h 2862322"/>
              <a:gd name="csX31" fmla="*/ 0 w 5922819"/>
              <a:gd name="csY31" fmla="*/ 0 h 28623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922819" h="2862322" extrusionOk="0">
                <a:moveTo>
                  <a:pt x="0" y="0"/>
                </a:moveTo>
                <a:cubicBezTo>
                  <a:pt x="112133" y="-17609"/>
                  <a:pt x="301588" y="31879"/>
                  <a:pt x="533054" y="0"/>
                </a:cubicBezTo>
                <a:cubicBezTo>
                  <a:pt x="764520" y="-31879"/>
                  <a:pt x="894299" y="50247"/>
                  <a:pt x="1066107" y="0"/>
                </a:cubicBezTo>
                <a:cubicBezTo>
                  <a:pt x="1237915" y="-50247"/>
                  <a:pt x="1546243" y="59509"/>
                  <a:pt x="1776846" y="0"/>
                </a:cubicBezTo>
                <a:cubicBezTo>
                  <a:pt x="2007449" y="-59509"/>
                  <a:pt x="2213163" y="58040"/>
                  <a:pt x="2487584" y="0"/>
                </a:cubicBezTo>
                <a:cubicBezTo>
                  <a:pt x="2762005" y="-58040"/>
                  <a:pt x="2733954" y="50965"/>
                  <a:pt x="2961410" y="0"/>
                </a:cubicBezTo>
                <a:cubicBezTo>
                  <a:pt x="3188866" y="-50965"/>
                  <a:pt x="3283822" y="18632"/>
                  <a:pt x="3376007" y="0"/>
                </a:cubicBezTo>
                <a:cubicBezTo>
                  <a:pt x="3468192" y="-18632"/>
                  <a:pt x="3711743" y="54731"/>
                  <a:pt x="3849832" y="0"/>
                </a:cubicBezTo>
                <a:cubicBezTo>
                  <a:pt x="3987922" y="-54731"/>
                  <a:pt x="4188223" y="62889"/>
                  <a:pt x="4501342" y="0"/>
                </a:cubicBezTo>
                <a:cubicBezTo>
                  <a:pt x="4814461" y="-62889"/>
                  <a:pt x="4969022" y="28256"/>
                  <a:pt x="5212081" y="0"/>
                </a:cubicBezTo>
                <a:cubicBezTo>
                  <a:pt x="5455140" y="-28256"/>
                  <a:pt x="5672485" y="47070"/>
                  <a:pt x="5922819" y="0"/>
                </a:cubicBezTo>
                <a:cubicBezTo>
                  <a:pt x="5953060" y="125670"/>
                  <a:pt x="5898170" y="422063"/>
                  <a:pt x="5922819" y="601088"/>
                </a:cubicBezTo>
                <a:cubicBezTo>
                  <a:pt x="5947468" y="780113"/>
                  <a:pt x="5885876" y="1025882"/>
                  <a:pt x="5922819" y="1230798"/>
                </a:cubicBezTo>
                <a:cubicBezTo>
                  <a:pt x="5959762" y="1435714"/>
                  <a:pt x="5911585" y="1517528"/>
                  <a:pt x="5922819" y="1717393"/>
                </a:cubicBezTo>
                <a:cubicBezTo>
                  <a:pt x="5934053" y="1917258"/>
                  <a:pt x="5908482" y="2193596"/>
                  <a:pt x="5922819" y="2347104"/>
                </a:cubicBezTo>
                <a:cubicBezTo>
                  <a:pt x="5937156" y="2500612"/>
                  <a:pt x="5884836" y="2663257"/>
                  <a:pt x="5922819" y="2862322"/>
                </a:cubicBezTo>
                <a:cubicBezTo>
                  <a:pt x="5724405" y="2876927"/>
                  <a:pt x="5625150" y="2846426"/>
                  <a:pt x="5508222" y="2862322"/>
                </a:cubicBezTo>
                <a:cubicBezTo>
                  <a:pt x="5391294" y="2878218"/>
                  <a:pt x="5263560" y="2848178"/>
                  <a:pt x="5093624" y="2862322"/>
                </a:cubicBezTo>
                <a:cubicBezTo>
                  <a:pt x="4923688" y="2876466"/>
                  <a:pt x="4835777" y="2808171"/>
                  <a:pt x="4619799" y="2862322"/>
                </a:cubicBezTo>
                <a:cubicBezTo>
                  <a:pt x="4403821" y="2916473"/>
                  <a:pt x="4103220" y="2834287"/>
                  <a:pt x="3968289" y="2862322"/>
                </a:cubicBezTo>
                <a:cubicBezTo>
                  <a:pt x="3833358" y="2890357"/>
                  <a:pt x="3601825" y="2802040"/>
                  <a:pt x="3316779" y="2862322"/>
                </a:cubicBezTo>
                <a:cubicBezTo>
                  <a:pt x="3031733" y="2922604"/>
                  <a:pt x="3042181" y="2843403"/>
                  <a:pt x="2902181" y="2862322"/>
                </a:cubicBezTo>
                <a:cubicBezTo>
                  <a:pt x="2762181" y="2881241"/>
                  <a:pt x="2494265" y="2834375"/>
                  <a:pt x="2369128" y="2862322"/>
                </a:cubicBezTo>
                <a:cubicBezTo>
                  <a:pt x="2243991" y="2890269"/>
                  <a:pt x="1943992" y="2836248"/>
                  <a:pt x="1658389" y="2862322"/>
                </a:cubicBezTo>
                <a:cubicBezTo>
                  <a:pt x="1372786" y="2888396"/>
                  <a:pt x="1347032" y="2861568"/>
                  <a:pt x="1243792" y="2862322"/>
                </a:cubicBezTo>
                <a:cubicBezTo>
                  <a:pt x="1140552" y="2863076"/>
                  <a:pt x="896100" y="2829016"/>
                  <a:pt x="710738" y="2862322"/>
                </a:cubicBezTo>
                <a:cubicBezTo>
                  <a:pt x="525376" y="2895628"/>
                  <a:pt x="291398" y="2813903"/>
                  <a:pt x="0" y="2862322"/>
                </a:cubicBezTo>
                <a:cubicBezTo>
                  <a:pt x="-69643" y="2729228"/>
                  <a:pt x="53108" y="2526967"/>
                  <a:pt x="0" y="2261234"/>
                </a:cubicBezTo>
                <a:cubicBezTo>
                  <a:pt x="-53108" y="1995501"/>
                  <a:pt x="56955" y="1791017"/>
                  <a:pt x="0" y="1631524"/>
                </a:cubicBezTo>
                <a:cubicBezTo>
                  <a:pt x="-56955" y="1472031"/>
                  <a:pt x="36573" y="1355242"/>
                  <a:pt x="0" y="1144929"/>
                </a:cubicBezTo>
                <a:cubicBezTo>
                  <a:pt x="-36573" y="934617"/>
                  <a:pt x="412" y="862187"/>
                  <a:pt x="0" y="601088"/>
                </a:cubicBezTo>
                <a:cubicBezTo>
                  <a:pt x="-412" y="339989"/>
                  <a:pt x="56515" y="174884"/>
                  <a:pt x="0" y="0"/>
                </a:cubicBezTo>
                <a:close/>
              </a:path>
            </a:pathLst>
          </a:custGeom>
          <a:noFill/>
          <a:ln w="57150">
            <a:solidFill>
              <a:srgbClr val="80B1A9"/>
            </a:solidFill>
            <a:extLst>
              <a:ext uri="{C807C97D-BFC1-408E-A445-0C87EB9F89A2}">
                <ask:lineSketchStyleProps xmlns:ask="http://schemas.microsoft.com/office/drawing/2018/sketchyshapes" sd="214568371">
                  <a:prstGeom prst="rect">
                    <a:avLst/>
                  </a:prstGeom>
                  <ask:type>
                    <ask:lineSketchScribble/>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solidFill>
                  <a:srgbClr val="2E1C10"/>
                </a:solidFill>
                <a:latin typeface="Open Sauce"/>
                <a:ea typeface="+mn-lt"/>
                <a:cs typeface="+mn-lt"/>
              </a:rPr>
              <a:t>Checkpoint labs enabled practical progress, including establishing a working development environment</a:t>
            </a:r>
          </a:p>
          <a:p>
            <a:pPr marL="285750" indent="-285750">
              <a:buFont typeface="Arial"/>
              <a:buChar char="•"/>
            </a:pPr>
            <a:r>
              <a:rPr lang="en-US" sz="2000">
                <a:solidFill>
                  <a:srgbClr val="2E1C10"/>
                </a:solidFill>
                <a:latin typeface="Open Sauce"/>
                <a:ea typeface="+mn-lt"/>
                <a:cs typeface="+mn-lt"/>
              </a:rPr>
              <a:t>Progress was demonstrated to the supervisor, who provided direct feedback</a:t>
            </a:r>
          </a:p>
          <a:p>
            <a:pPr marL="285750" indent="-285750">
              <a:buFont typeface="Arial"/>
              <a:buChar char="•"/>
            </a:pPr>
            <a:r>
              <a:rPr lang="en-US" sz="2000">
                <a:solidFill>
                  <a:srgbClr val="2E1C10"/>
                </a:solidFill>
                <a:latin typeface="Open Sauce"/>
                <a:ea typeface="+mn-lt"/>
                <a:cs typeface="+mn-lt"/>
              </a:rPr>
              <a:t>These sessions kept the team accountable, ensured key technical foundations were in place, and allowed the supervisor to verify progress at each stage</a:t>
            </a:r>
            <a:endParaRPr lang="en-US" sz="2000">
              <a:solidFill>
                <a:srgbClr val="2E1C10"/>
              </a:solidFill>
              <a:latin typeface="Open Sauce"/>
            </a:endParaRPr>
          </a:p>
        </p:txBody>
      </p:sp>
      <p:pic>
        <p:nvPicPr>
          <p:cNvPr id="16" name="Picture 15" descr="A white chat bubbles on a green background&#10;&#10;AI-generated content may be incorrect.">
            <a:extLst>
              <a:ext uri="{FF2B5EF4-FFF2-40B4-BE49-F238E27FC236}">
                <a16:creationId xmlns:a16="http://schemas.microsoft.com/office/drawing/2014/main" id="{3DDD90BA-965F-D622-960D-4569ED5689A7}"/>
              </a:ext>
            </a:extLst>
          </p:cNvPr>
          <p:cNvPicPr>
            <a:picLocks noChangeAspect="1"/>
          </p:cNvPicPr>
          <p:nvPr/>
        </p:nvPicPr>
        <p:blipFill>
          <a:blip r:embed="rId4"/>
          <a:stretch>
            <a:fillRect/>
          </a:stretch>
        </p:blipFill>
        <p:spPr>
          <a:xfrm>
            <a:off x="1806843" y="2973223"/>
            <a:ext cx="2442729" cy="2574100"/>
          </a:xfrm>
          <a:prstGeom prst="rect">
            <a:avLst/>
          </a:prstGeom>
        </p:spPr>
      </p:pic>
      <p:pic>
        <p:nvPicPr>
          <p:cNvPr id="18" name="Picture 17" descr="A group of people with a white speech bubble&#10;&#10;AI-generated content may be incorrect.">
            <a:extLst>
              <a:ext uri="{FF2B5EF4-FFF2-40B4-BE49-F238E27FC236}">
                <a16:creationId xmlns:a16="http://schemas.microsoft.com/office/drawing/2014/main" id="{BD73D711-43B5-7C04-7541-15905F67DAEC}"/>
              </a:ext>
            </a:extLst>
          </p:cNvPr>
          <p:cNvPicPr>
            <a:picLocks noChangeAspect="1"/>
          </p:cNvPicPr>
          <p:nvPr/>
        </p:nvPicPr>
        <p:blipFill>
          <a:blip r:embed="rId5"/>
          <a:stretch>
            <a:fillRect/>
          </a:stretch>
        </p:blipFill>
        <p:spPr>
          <a:xfrm>
            <a:off x="7679810" y="2979098"/>
            <a:ext cx="2423679" cy="2592037"/>
          </a:xfrm>
          <a:prstGeom prst="rect">
            <a:avLst/>
          </a:prstGeom>
        </p:spPr>
      </p:pic>
      <p:pic>
        <p:nvPicPr>
          <p:cNvPr id="20" name="Picture 19">
            <a:extLst>
              <a:ext uri="{FF2B5EF4-FFF2-40B4-BE49-F238E27FC236}">
                <a16:creationId xmlns:a16="http://schemas.microsoft.com/office/drawing/2014/main" id="{70C8E331-0147-81D0-E081-067E769B921A}"/>
              </a:ext>
            </a:extLst>
          </p:cNvPr>
          <p:cNvPicPr>
            <a:picLocks noChangeAspect="1"/>
          </p:cNvPicPr>
          <p:nvPr/>
        </p:nvPicPr>
        <p:blipFill>
          <a:blip r:embed="rId6"/>
          <a:stretch>
            <a:fillRect/>
          </a:stretch>
        </p:blipFill>
        <p:spPr>
          <a:xfrm>
            <a:off x="13887450" y="2971800"/>
            <a:ext cx="2477489" cy="2576945"/>
          </a:xfrm>
          <a:prstGeom prst="rect">
            <a:avLst/>
          </a:prstGeom>
        </p:spPr>
      </p:pic>
      <p:sp>
        <p:nvSpPr>
          <p:cNvPr id="21" name="Rectangle: Rounded Corners 20">
            <a:extLst>
              <a:ext uri="{FF2B5EF4-FFF2-40B4-BE49-F238E27FC236}">
                <a16:creationId xmlns:a16="http://schemas.microsoft.com/office/drawing/2014/main" id="{624FA4E1-D9BF-7BE1-DBE7-80CAAEB6C204}"/>
              </a:ext>
            </a:extLst>
          </p:cNvPr>
          <p:cNvSpPr/>
          <p:nvPr/>
        </p:nvSpPr>
        <p:spPr>
          <a:xfrm>
            <a:off x="13890419" y="2139414"/>
            <a:ext cx="2382486" cy="597477"/>
          </a:xfrm>
          <a:prstGeom prst="roundRect">
            <a:avLst/>
          </a:prstGeom>
          <a:solidFill>
            <a:srgbClr val="D0E7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71CB5A4-C289-C339-FB92-FC6B10F21EFD}"/>
              </a:ext>
            </a:extLst>
          </p:cNvPr>
          <p:cNvSpPr txBox="1"/>
          <p:nvPr/>
        </p:nvSpPr>
        <p:spPr>
          <a:xfrm>
            <a:off x="14116791" y="2204355"/>
            <a:ext cx="215240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80B1A9"/>
                </a:solidFill>
                <a:ea typeface="Calibri"/>
                <a:cs typeface="Calibri"/>
              </a:rPr>
              <a:t>Fortnightly</a:t>
            </a:r>
          </a:p>
        </p:txBody>
      </p:sp>
    </p:spTree>
    <p:extLst>
      <p:ext uri="{BB962C8B-B14F-4D97-AF65-F5344CB8AC3E}">
        <p14:creationId xmlns:p14="http://schemas.microsoft.com/office/powerpoint/2010/main" val="3773160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D96F1-5259-1F36-84B2-66FB11192C22}"/>
            </a:ext>
          </a:extLst>
        </p:cNvPr>
        <p:cNvGrpSpPr/>
        <p:nvPr/>
      </p:nvGrpSpPr>
      <p:grpSpPr>
        <a:xfrm>
          <a:off x="0" y="0"/>
          <a:ext cx="0" cy="0"/>
          <a:chOff x="0" y="0"/>
          <a:chExt cx="0" cy="0"/>
        </a:xfrm>
      </p:grpSpPr>
      <p:pic>
        <p:nvPicPr>
          <p:cNvPr id="13" name="Picture 12" descr="A white rectangular object with green edges&#10;&#10;AI-generated content may be incorrect.">
            <a:extLst>
              <a:ext uri="{FF2B5EF4-FFF2-40B4-BE49-F238E27FC236}">
                <a16:creationId xmlns:a16="http://schemas.microsoft.com/office/drawing/2014/main" id="{B4792AC3-B7C8-7F59-1441-0EACA82C7D18}"/>
              </a:ext>
            </a:extLst>
          </p:cNvPr>
          <p:cNvPicPr>
            <a:picLocks noChangeAspect="1"/>
          </p:cNvPicPr>
          <p:nvPr/>
        </p:nvPicPr>
        <p:blipFill>
          <a:blip r:embed="rId2"/>
          <a:stretch>
            <a:fillRect/>
          </a:stretch>
        </p:blipFill>
        <p:spPr>
          <a:xfrm>
            <a:off x="4971740" y="2225633"/>
            <a:ext cx="8344518" cy="3134096"/>
          </a:xfrm>
          <a:prstGeom prst="rect">
            <a:avLst/>
          </a:prstGeom>
        </p:spPr>
      </p:pic>
      <p:sp>
        <p:nvSpPr>
          <p:cNvPr id="9" name="TextBox 8">
            <a:extLst>
              <a:ext uri="{FF2B5EF4-FFF2-40B4-BE49-F238E27FC236}">
                <a16:creationId xmlns:a16="http://schemas.microsoft.com/office/drawing/2014/main" id="{42C769A7-7CF0-9E23-9E44-E658ABA4665E}"/>
              </a:ext>
            </a:extLst>
          </p:cNvPr>
          <p:cNvSpPr txBox="1"/>
          <p:nvPr/>
        </p:nvSpPr>
        <p:spPr>
          <a:xfrm>
            <a:off x="500022" y="1193663"/>
            <a:ext cx="133920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867858"/>
                </a:solidFill>
                <a:latin typeface="Open Sauce Bold"/>
                <a:ea typeface="Calibri"/>
                <a:cs typeface="Calibri"/>
              </a:rPr>
              <a:t>What Went Well:</a:t>
            </a:r>
            <a:endParaRPr lang="en-US"/>
          </a:p>
        </p:txBody>
      </p:sp>
      <p:sp>
        <p:nvSpPr>
          <p:cNvPr id="11" name="TextBox 10">
            <a:extLst>
              <a:ext uri="{FF2B5EF4-FFF2-40B4-BE49-F238E27FC236}">
                <a16:creationId xmlns:a16="http://schemas.microsoft.com/office/drawing/2014/main" id="{3DDAFA20-068B-01A1-D252-B3915ACC0512}"/>
              </a:ext>
            </a:extLst>
          </p:cNvPr>
          <p:cNvSpPr txBox="1"/>
          <p:nvPr/>
        </p:nvSpPr>
        <p:spPr>
          <a:xfrm>
            <a:off x="7193124" y="2226220"/>
            <a:ext cx="372152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ctr">
              <a:buAutoNum type="arabicPeriod"/>
            </a:pPr>
            <a:r>
              <a:rPr lang="en-US" sz="2000" b="1">
                <a:solidFill>
                  <a:srgbClr val="867858"/>
                </a:solidFill>
                <a:latin typeface="Open Sauce Bold"/>
                <a:ea typeface="Calibri"/>
                <a:cs typeface="Calibri"/>
              </a:rPr>
              <a:t>Honesty</a:t>
            </a:r>
            <a:endParaRPr lang="en-US">
              <a:ea typeface="Calibri"/>
              <a:cs typeface="Calibri"/>
            </a:endParaRPr>
          </a:p>
        </p:txBody>
      </p:sp>
      <p:pic>
        <p:nvPicPr>
          <p:cNvPr id="16" name="Picture 15" descr="A white rectangular object with green edges&#10;&#10;AI-generated content may be incorrect.">
            <a:extLst>
              <a:ext uri="{FF2B5EF4-FFF2-40B4-BE49-F238E27FC236}">
                <a16:creationId xmlns:a16="http://schemas.microsoft.com/office/drawing/2014/main" id="{D033A79F-4844-A3AD-EAB0-CAD49FEA21F4}"/>
              </a:ext>
            </a:extLst>
          </p:cNvPr>
          <p:cNvPicPr>
            <a:picLocks noChangeAspect="1"/>
          </p:cNvPicPr>
          <p:nvPr/>
        </p:nvPicPr>
        <p:blipFill>
          <a:blip r:embed="rId2"/>
          <a:stretch>
            <a:fillRect/>
          </a:stretch>
        </p:blipFill>
        <p:spPr>
          <a:xfrm>
            <a:off x="236454" y="6263243"/>
            <a:ext cx="8344518" cy="3134096"/>
          </a:xfrm>
          <a:prstGeom prst="rect">
            <a:avLst/>
          </a:prstGeom>
        </p:spPr>
      </p:pic>
      <p:sp>
        <p:nvSpPr>
          <p:cNvPr id="17" name="TextBox 16">
            <a:extLst>
              <a:ext uri="{FF2B5EF4-FFF2-40B4-BE49-F238E27FC236}">
                <a16:creationId xmlns:a16="http://schemas.microsoft.com/office/drawing/2014/main" id="{E485B858-7E2D-5BD7-1E73-1468344EE7DD}"/>
              </a:ext>
            </a:extLst>
          </p:cNvPr>
          <p:cNvSpPr txBox="1"/>
          <p:nvPr/>
        </p:nvSpPr>
        <p:spPr>
          <a:xfrm>
            <a:off x="2546903" y="6263830"/>
            <a:ext cx="372152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solidFill>
                  <a:srgbClr val="867858"/>
                </a:solidFill>
                <a:latin typeface="Open Sauce Bold"/>
                <a:ea typeface="Calibri"/>
                <a:cs typeface="Calibri"/>
              </a:rPr>
              <a:t>2. Member Support </a:t>
            </a:r>
          </a:p>
        </p:txBody>
      </p:sp>
      <p:pic>
        <p:nvPicPr>
          <p:cNvPr id="18" name="Picture 17" descr="A white rectangular object with green edges&#10;&#10;AI-generated content may be incorrect.">
            <a:extLst>
              <a:ext uri="{FF2B5EF4-FFF2-40B4-BE49-F238E27FC236}">
                <a16:creationId xmlns:a16="http://schemas.microsoft.com/office/drawing/2014/main" id="{803C109A-0461-6254-025F-C5904D34CD99}"/>
              </a:ext>
            </a:extLst>
          </p:cNvPr>
          <p:cNvPicPr>
            <a:picLocks noChangeAspect="1"/>
          </p:cNvPicPr>
          <p:nvPr/>
        </p:nvPicPr>
        <p:blipFill>
          <a:blip r:embed="rId2"/>
          <a:stretch>
            <a:fillRect/>
          </a:stretch>
        </p:blipFill>
        <p:spPr>
          <a:xfrm>
            <a:off x="9721870" y="6263242"/>
            <a:ext cx="8344518" cy="3134096"/>
          </a:xfrm>
          <a:prstGeom prst="rect">
            <a:avLst/>
          </a:prstGeom>
        </p:spPr>
      </p:pic>
      <p:sp>
        <p:nvSpPr>
          <p:cNvPr id="19" name="TextBox 18">
            <a:extLst>
              <a:ext uri="{FF2B5EF4-FFF2-40B4-BE49-F238E27FC236}">
                <a16:creationId xmlns:a16="http://schemas.microsoft.com/office/drawing/2014/main" id="{8B78A328-9AA4-AC9C-F453-89BD9A9F07C5}"/>
              </a:ext>
            </a:extLst>
          </p:cNvPr>
          <p:cNvSpPr txBox="1"/>
          <p:nvPr/>
        </p:nvSpPr>
        <p:spPr>
          <a:xfrm>
            <a:off x="12032318" y="6263830"/>
            <a:ext cx="372152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Bef>
                <a:spcPct val="0"/>
              </a:spcBef>
            </a:pPr>
            <a:r>
              <a:rPr lang="en-US" sz="2000" b="1">
                <a:solidFill>
                  <a:srgbClr val="867858"/>
                </a:solidFill>
                <a:latin typeface="Open Sauce Bold"/>
                <a:ea typeface="Calibri"/>
                <a:cs typeface="Calibri"/>
              </a:rPr>
              <a:t>3. Demonstrations </a:t>
            </a:r>
          </a:p>
        </p:txBody>
      </p:sp>
      <p:sp>
        <p:nvSpPr>
          <p:cNvPr id="21" name="TextBox 20">
            <a:extLst>
              <a:ext uri="{FF2B5EF4-FFF2-40B4-BE49-F238E27FC236}">
                <a16:creationId xmlns:a16="http://schemas.microsoft.com/office/drawing/2014/main" id="{42E0FD7E-F3F7-BC1C-A28C-3D6058447CDA}"/>
              </a:ext>
            </a:extLst>
          </p:cNvPr>
          <p:cNvSpPr txBox="1"/>
          <p:nvPr/>
        </p:nvSpPr>
        <p:spPr>
          <a:xfrm>
            <a:off x="241701" y="311485"/>
            <a:ext cx="7017089" cy="3791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2E1C10"/>
                </a:solidFill>
                <a:latin typeface="Open Sauce Italics"/>
                <a:ea typeface="Calibri"/>
                <a:cs typeface="Calibri"/>
              </a:rPr>
              <a:t>How we communicated and what we learnt from this.</a:t>
            </a:r>
          </a:p>
        </p:txBody>
      </p:sp>
      <p:sp>
        <p:nvSpPr>
          <p:cNvPr id="23" name="TextBox 22">
            <a:extLst>
              <a:ext uri="{FF2B5EF4-FFF2-40B4-BE49-F238E27FC236}">
                <a16:creationId xmlns:a16="http://schemas.microsoft.com/office/drawing/2014/main" id="{6D667976-37A9-547A-25B2-FC412E48C970}"/>
              </a:ext>
            </a:extLst>
          </p:cNvPr>
          <p:cNvSpPr txBox="1"/>
          <p:nvPr/>
        </p:nvSpPr>
        <p:spPr>
          <a:xfrm>
            <a:off x="16835047" y="316325"/>
            <a:ext cx="38762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rgbClr val="2E1C10"/>
                </a:solidFill>
                <a:latin typeface="Open Sauce Italics"/>
                <a:ea typeface="Calibri"/>
                <a:cs typeface="Calibri"/>
              </a:rPr>
              <a:t>Rae</a:t>
            </a:r>
          </a:p>
        </p:txBody>
      </p:sp>
      <p:sp>
        <p:nvSpPr>
          <p:cNvPr id="2" name="TextBox 1">
            <a:extLst>
              <a:ext uri="{FF2B5EF4-FFF2-40B4-BE49-F238E27FC236}">
                <a16:creationId xmlns:a16="http://schemas.microsoft.com/office/drawing/2014/main" id="{5245C98F-FFF2-EAFB-45FB-AD6536876430}"/>
              </a:ext>
            </a:extLst>
          </p:cNvPr>
          <p:cNvSpPr txBox="1"/>
          <p:nvPr/>
        </p:nvSpPr>
        <p:spPr>
          <a:xfrm>
            <a:off x="5163830" y="2634837"/>
            <a:ext cx="795130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Open Sauce"/>
                <a:ea typeface="+mn-lt"/>
                <a:cs typeface="+mn-lt"/>
              </a:rPr>
              <a:t>Team members communicated openly when tasks were completed, allowing the next stage of work to begin.</a:t>
            </a:r>
          </a:p>
          <a:p>
            <a:pPr marL="285750" indent="-285750">
              <a:buFont typeface="Arial"/>
              <a:buChar char="•"/>
            </a:pPr>
            <a:r>
              <a:rPr lang="en-US">
                <a:latin typeface="Open Sauce"/>
                <a:ea typeface="+mn-lt"/>
                <a:cs typeface="+mn-lt"/>
              </a:rPr>
              <a:t>Members were comfortable admitting when they needed support, enabling quicker problem solving.</a:t>
            </a:r>
            <a:endParaRPr lang="en-US">
              <a:latin typeface="Open Sauce"/>
              <a:ea typeface="Calibri"/>
              <a:cs typeface="Calibri"/>
            </a:endParaRPr>
          </a:p>
          <a:p>
            <a:pPr marL="285750" indent="-285750">
              <a:buFont typeface="Arial"/>
              <a:buChar char="•"/>
            </a:pPr>
            <a:r>
              <a:rPr lang="en-US">
                <a:latin typeface="Open Sauce"/>
                <a:ea typeface="+mn-lt"/>
                <a:cs typeface="+mn-lt"/>
              </a:rPr>
              <a:t>Honest communication about availability allowed the team to adjust expectations realistically, with planning built on trust rather than assumptions about capacity.</a:t>
            </a:r>
            <a:endParaRPr lang="en-US">
              <a:latin typeface="Open Sauce"/>
            </a:endParaRPr>
          </a:p>
          <a:p>
            <a:pPr algn="l"/>
            <a:endParaRPr lang="en-US">
              <a:latin typeface="Open Sauce"/>
              <a:ea typeface="Calibri"/>
              <a:cs typeface="Calibri"/>
            </a:endParaRPr>
          </a:p>
        </p:txBody>
      </p:sp>
      <p:sp>
        <p:nvSpPr>
          <p:cNvPr id="3" name="TextBox 2">
            <a:extLst>
              <a:ext uri="{FF2B5EF4-FFF2-40B4-BE49-F238E27FC236}">
                <a16:creationId xmlns:a16="http://schemas.microsoft.com/office/drawing/2014/main" id="{7C3B5E6E-1519-78E0-78CC-227746AC3828}"/>
              </a:ext>
            </a:extLst>
          </p:cNvPr>
          <p:cNvSpPr txBox="1"/>
          <p:nvPr/>
        </p:nvSpPr>
        <p:spPr>
          <a:xfrm>
            <a:off x="285750" y="6715124"/>
            <a:ext cx="810815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Open Sauce"/>
                <a:ea typeface="+mn-lt"/>
                <a:cs typeface="+mn-lt"/>
              </a:rPr>
              <a:t>When problems arose, the team discussed them openly across the group chat ensuring no member was left to handle issues alone </a:t>
            </a:r>
          </a:p>
          <a:p>
            <a:pPr marL="285750" indent="-285750">
              <a:buFont typeface="Arial"/>
              <a:buChar char="•"/>
            </a:pPr>
            <a:r>
              <a:rPr lang="en-US">
                <a:latin typeface="Open Sauce"/>
                <a:ea typeface="+mn-lt"/>
                <a:cs typeface="+mn-lt"/>
              </a:rPr>
              <a:t>Members gave clear updates on who was supporting which tasks, ensuring collaboration was </a:t>
            </a:r>
            <a:r>
              <a:rPr lang="en-US" err="1">
                <a:latin typeface="Open Sauce"/>
                <a:ea typeface="+mn-lt"/>
                <a:cs typeface="+mn-lt"/>
              </a:rPr>
              <a:t>organised</a:t>
            </a:r>
            <a:r>
              <a:rPr lang="en-US">
                <a:latin typeface="Open Sauce"/>
                <a:ea typeface="+mn-lt"/>
                <a:cs typeface="+mn-lt"/>
              </a:rPr>
              <a:t> and targeted effectively</a:t>
            </a:r>
          </a:p>
          <a:p>
            <a:pPr marL="285750" indent="-285750">
              <a:buFont typeface="Arial"/>
              <a:buChar char="•"/>
            </a:pPr>
            <a:r>
              <a:rPr lang="en-US">
                <a:latin typeface="Open Sauce"/>
                <a:ea typeface="+mn-lt"/>
                <a:cs typeface="+mn-lt"/>
              </a:rPr>
              <a:t>Errors were communicated and explained promptly rather than waiting for meetings, allowing the team to identify causes, test solutions, and prevent repeated mistakes efficiently</a:t>
            </a:r>
            <a:endParaRPr lang="en-US">
              <a:latin typeface="Open Sauce"/>
              <a:ea typeface="Calibri"/>
              <a:cs typeface="Calibri"/>
            </a:endParaRPr>
          </a:p>
          <a:p>
            <a:pPr algn="l"/>
            <a:endParaRPr lang="en-US">
              <a:latin typeface="Open Sauce"/>
              <a:ea typeface="Calibri"/>
              <a:cs typeface="Calibri"/>
            </a:endParaRPr>
          </a:p>
        </p:txBody>
      </p:sp>
      <p:sp>
        <p:nvSpPr>
          <p:cNvPr id="4" name="TextBox 3">
            <a:extLst>
              <a:ext uri="{FF2B5EF4-FFF2-40B4-BE49-F238E27FC236}">
                <a16:creationId xmlns:a16="http://schemas.microsoft.com/office/drawing/2014/main" id="{19DE6AB0-6CBB-6C20-C0D1-8A5E0DAFC9DA}"/>
              </a:ext>
            </a:extLst>
          </p:cNvPr>
          <p:cNvSpPr txBox="1"/>
          <p:nvPr/>
        </p:nvSpPr>
        <p:spPr>
          <a:xfrm>
            <a:off x="9846128" y="6760028"/>
            <a:ext cx="803365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Open Sauce"/>
                <a:ea typeface="+mn-lt"/>
                <a:cs typeface="+mn-lt"/>
              </a:rPr>
              <a:t>Members demonstrated working code outputs rather than simply reporting tasks as complete, keeping the team confident in the direction of development</a:t>
            </a:r>
            <a:endParaRPr lang="en-US">
              <a:latin typeface="Open Sauce"/>
            </a:endParaRPr>
          </a:p>
          <a:p>
            <a:pPr marL="285750" indent="-285750">
              <a:buFont typeface="Arial"/>
              <a:buChar char="•"/>
            </a:pPr>
            <a:r>
              <a:rPr lang="en-US">
                <a:latin typeface="Open Sauce"/>
                <a:ea typeface="+mn-lt"/>
                <a:cs typeface="+mn-lt"/>
              </a:rPr>
              <a:t>Demonstrations were linked back to project criteria, ensuring features directly satisfied assessment goals </a:t>
            </a:r>
          </a:p>
          <a:p>
            <a:pPr marL="285750" indent="-285750">
              <a:buFont typeface="Arial"/>
              <a:buChar char="•"/>
            </a:pPr>
            <a:r>
              <a:rPr lang="en-US">
                <a:latin typeface="Open Sauce"/>
                <a:ea typeface="+mn-lt"/>
                <a:cs typeface="+mn-lt"/>
              </a:rPr>
              <a:t>Sharing videos in the group chat allowed progress to be reviewed and created opportunities for constructive feedback that improved usability and quality</a:t>
            </a:r>
            <a:endParaRPr lang="en-US">
              <a:latin typeface="Open Sauce"/>
              <a:ea typeface="Calibri"/>
              <a:cs typeface="Calibri"/>
            </a:endParaRPr>
          </a:p>
          <a:p>
            <a:pPr algn="l"/>
            <a:endParaRPr lang="en-US">
              <a:latin typeface="Open Sauce"/>
              <a:ea typeface="Calibri"/>
              <a:cs typeface="Calibri"/>
            </a:endParaRPr>
          </a:p>
        </p:txBody>
      </p:sp>
    </p:spTree>
    <p:extLst>
      <p:ext uri="{BB962C8B-B14F-4D97-AF65-F5344CB8AC3E}">
        <p14:creationId xmlns:p14="http://schemas.microsoft.com/office/powerpoint/2010/main" val="540216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996B1-88B3-3E1A-978B-CF055317F1C2}"/>
            </a:ext>
          </a:extLst>
        </p:cNvPr>
        <p:cNvGrpSpPr/>
        <p:nvPr/>
      </p:nvGrpSpPr>
      <p:grpSpPr>
        <a:xfrm>
          <a:off x="0" y="0"/>
          <a:ext cx="0" cy="0"/>
          <a:chOff x="0" y="0"/>
          <a:chExt cx="0" cy="0"/>
        </a:xfrm>
      </p:grpSpPr>
      <p:pic>
        <p:nvPicPr>
          <p:cNvPr id="2" name="Picture 1" descr="A white rectangular object with red edges&#10;&#10;AI-generated content may be incorrect.">
            <a:extLst>
              <a:ext uri="{FF2B5EF4-FFF2-40B4-BE49-F238E27FC236}">
                <a16:creationId xmlns:a16="http://schemas.microsoft.com/office/drawing/2014/main" id="{56DFDA24-03B1-2A0F-F5B2-A20BA9086B50}"/>
              </a:ext>
            </a:extLst>
          </p:cNvPr>
          <p:cNvPicPr>
            <a:picLocks noChangeAspect="1"/>
          </p:cNvPicPr>
          <p:nvPr/>
        </p:nvPicPr>
        <p:blipFill>
          <a:blip r:embed="rId2"/>
          <a:stretch>
            <a:fillRect/>
          </a:stretch>
        </p:blipFill>
        <p:spPr>
          <a:xfrm>
            <a:off x="503649" y="2567049"/>
            <a:ext cx="8359362" cy="3134096"/>
          </a:xfrm>
          <a:prstGeom prst="rect">
            <a:avLst/>
          </a:prstGeom>
        </p:spPr>
      </p:pic>
      <p:sp>
        <p:nvSpPr>
          <p:cNvPr id="9" name="TextBox 8">
            <a:extLst>
              <a:ext uri="{FF2B5EF4-FFF2-40B4-BE49-F238E27FC236}">
                <a16:creationId xmlns:a16="http://schemas.microsoft.com/office/drawing/2014/main" id="{EFAE0392-4779-BF4C-13A2-AA8150F646E0}"/>
              </a:ext>
            </a:extLst>
          </p:cNvPr>
          <p:cNvSpPr txBox="1"/>
          <p:nvPr/>
        </p:nvSpPr>
        <p:spPr>
          <a:xfrm>
            <a:off x="500022" y="1193663"/>
            <a:ext cx="133920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867858"/>
                </a:solidFill>
                <a:latin typeface="Open Sauce Bold"/>
                <a:ea typeface="Calibri"/>
                <a:cs typeface="Calibri"/>
              </a:rPr>
              <a:t>What Went Wrong and What We Learnt:</a:t>
            </a:r>
            <a:endParaRPr lang="en-US"/>
          </a:p>
        </p:txBody>
      </p:sp>
      <p:sp>
        <p:nvSpPr>
          <p:cNvPr id="11" name="TextBox 10">
            <a:extLst>
              <a:ext uri="{FF2B5EF4-FFF2-40B4-BE49-F238E27FC236}">
                <a16:creationId xmlns:a16="http://schemas.microsoft.com/office/drawing/2014/main" id="{E5FA86C4-46E7-0129-C64F-6C53E768ED11}"/>
              </a:ext>
            </a:extLst>
          </p:cNvPr>
          <p:cNvSpPr txBox="1"/>
          <p:nvPr/>
        </p:nvSpPr>
        <p:spPr>
          <a:xfrm>
            <a:off x="498409" y="2790298"/>
            <a:ext cx="372152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867858"/>
                </a:solidFill>
                <a:latin typeface="Open Sauce Bold"/>
                <a:ea typeface="Calibri"/>
                <a:cs typeface="Calibri"/>
              </a:rPr>
              <a:t>1. Inconsistency</a:t>
            </a:r>
          </a:p>
        </p:txBody>
      </p:sp>
      <p:pic>
        <p:nvPicPr>
          <p:cNvPr id="3" name="Picture 2" descr="A white rectangular object with red edges&#10;&#10;AI-generated content may be incorrect.">
            <a:extLst>
              <a:ext uri="{FF2B5EF4-FFF2-40B4-BE49-F238E27FC236}">
                <a16:creationId xmlns:a16="http://schemas.microsoft.com/office/drawing/2014/main" id="{BBE729B3-E62D-C9C3-9592-C0066C71A4AD}"/>
              </a:ext>
            </a:extLst>
          </p:cNvPr>
          <p:cNvPicPr>
            <a:picLocks noChangeAspect="1"/>
          </p:cNvPicPr>
          <p:nvPr/>
        </p:nvPicPr>
        <p:blipFill>
          <a:blip r:embed="rId2"/>
          <a:stretch>
            <a:fillRect/>
          </a:stretch>
        </p:blipFill>
        <p:spPr>
          <a:xfrm>
            <a:off x="9291389" y="2581893"/>
            <a:ext cx="8359362" cy="3134096"/>
          </a:xfrm>
          <a:prstGeom prst="rect">
            <a:avLst/>
          </a:prstGeom>
        </p:spPr>
      </p:pic>
      <p:sp>
        <p:nvSpPr>
          <p:cNvPr id="4" name="TextBox 3">
            <a:extLst>
              <a:ext uri="{FF2B5EF4-FFF2-40B4-BE49-F238E27FC236}">
                <a16:creationId xmlns:a16="http://schemas.microsoft.com/office/drawing/2014/main" id="{BF49F931-CF5A-B727-C68B-664DD802BA6F}"/>
              </a:ext>
            </a:extLst>
          </p:cNvPr>
          <p:cNvSpPr txBox="1"/>
          <p:nvPr/>
        </p:nvSpPr>
        <p:spPr>
          <a:xfrm>
            <a:off x="9286149" y="2790298"/>
            <a:ext cx="6141122" cy="4110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867858"/>
                </a:solidFill>
                <a:latin typeface="Open Sauce Bold"/>
                <a:ea typeface="Calibri"/>
                <a:cs typeface="Calibri"/>
              </a:rPr>
              <a:t>2. Limited In-person meetings</a:t>
            </a:r>
          </a:p>
        </p:txBody>
      </p:sp>
      <p:pic>
        <p:nvPicPr>
          <p:cNvPr id="10" name="Picture 9" descr="A white rectangular object with red edges&#10;&#10;AI-generated content may be incorrect.">
            <a:extLst>
              <a:ext uri="{FF2B5EF4-FFF2-40B4-BE49-F238E27FC236}">
                <a16:creationId xmlns:a16="http://schemas.microsoft.com/office/drawing/2014/main" id="{44C809A0-ED1F-F8EF-9A01-DB39B4915049}"/>
              </a:ext>
            </a:extLst>
          </p:cNvPr>
          <p:cNvPicPr>
            <a:picLocks noChangeAspect="1"/>
          </p:cNvPicPr>
          <p:nvPr/>
        </p:nvPicPr>
        <p:blipFill>
          <a:blip r:embed="rId2"/>
          <a:stretch>
            <a:fillRect/>
          </a:stretch>
        </p:blipFill>
        <p:spPr>
          <a:xfrm>
            <a:off x="4971739" y="6426528"/>
            <a:ext cx="8359362" cy="3134096"/>
          </a:xfrm>
          <a:prstGeom prst="rect">
            <a:avLst/>
          </a:prstGeom>
        </p:spPr>
      </p:pic>
      <p:sp>
        <p:nvSpPr>
          <p:cNvPr id="12" name="TextBox 11">
            <a:extLst>
              <a:ext uri="{FF2B5EF4-FFF2-40B4-BE49-F238E27FC236}">
                <a16:creationId xmlns:a16="http://schemas.microsoft.com/office/drawing/2014/main" id="{7F084217-72DD-6CA1-D438-2E4D8D4132DC}"/>
              </a:ext>
            </a:extLst>
          </p:cNvPr>
          <p:cNvSpPr txBox="1"/>
          <p:nvPr/>
        </p:nvSpPr>
        <p:spPr>
          <a:xfrm>
            <a:off x="4966501" y="6664623"/>
            <a:ext cx="335042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867858"/>
                </a:solidFill>
                <a:latin typeface="Open Sauce Bold"/>
                <a:ea typeface="Calibri"/>
                <a:cs typeface="Calibri"/>
              </a:rPr>
              <a:t>3. Task assignment</a:t>
            </a:r>
            <a:endParaRPr lang="en-US"/>
          </a:p>
        </p:txBody>
      </p:sp>
      <p:sp>
        <p:nvSpPr>
          <p:cNvPr id="21" name="TextBox 20">
            <a:extLst>
              <a:ext uri="{FF2B5EF4-FFF2-40B4-BE49-F238E27FC236}">
                <a16:creationId xmlns:a16="http://schemas.microsoft.com/office/drawing/2014/main" id="{63DBDCE0-79E5-E2C4-7CC6-92C89DC12A5E}"/>
              </a:ext>
            </a:extLst>
          </p:cNvPr>
          <p:cNvSpPr txBox="1"/>
          <p:nvPr/>
        </p:nvSpPr>
        <p:spPr>
          <a:xfrm>
            <a:off x="241701" y="311485"/>
            <a:ext cx="7017089" cy="3791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2E1C10"/>
                </a:solidFill>
                <a:latin typeface="Open Sauce Italics"/>
                <a:ea typeface="Calibri"/>
                <a:cs typeface="Calibri"/>
              </a:rPr>
              <a:t>How we communicated and what we learnt from this.</a:t>
            </a:r>
          </a:p>
        </p:txBody>
      </p:sp>
      <p:sp>
        <p:nvSpPr>
          <p:cNvPr id="23" name="TextBox 22">
            <a:extLst>
              <a:ext uri="{FF2B5EF4-FFF2-40B4-BE49-F238E27FC236}">
                <a16:creationId xmlns:a16="http://schemas.microsoft.com/office/drawing/2014/main" id="{2307B5A5-E3BD-F8B2-E793-04C36BE51EA8}"/>
              </a:ext>
            </a:extLst>
          </p:cNvPr>
          <p:cNvSpPr txBox="1"/>
          <p:nvPr/>
        </p:nvSpPr>
        <p:spPr>
          <a:xfrm>
            <a:off x="16835047" y="316325"/>
            <a:ext cx="38762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rgbClr val="2E1C10"/>
                </a:solidFill>
                <a:latin typeface="Open Sauce Italics"/>
                <a:ea typeface="Calibri"/>
                <a:cs typeface="Calibri"/>
              </a:rPr>
              <a:t>Rae</a:t>
            </a:r>
          </a:p>
        </p:txBody>
      </p:sp>
      <p:sp>
        <p:nvSpPr>
          <p:cNvPr id="7" name="TextBox 6">
            <a:extLst>
              <a:ext uri="{FF2B5EF4-FFF2-40B4-BE49-F238E27FC236}">
                <a16:creationId xmlns:a16="http://schemas.microsoft.com/office/drawing/2014/main" id="{535ECAD2-0298-D674-0921-928EDED86AB3}"/>
              </a:ext>
            </a:extLst>
          </p:cNvPr>
          <p:cNvSpPr txBox="1"/>
          <p:nvPr/>
        </p:nvSpPr>
        <p:spPr>
          <a:xfrm>
            <a:off x="9469334" y="3200152"/>
            <a:ext cx="792956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Open Sauce"/>
                <a:ea typeface="+mn-lt"/>
                <a:cs typeface="+mn-lt"/>
              </a:rPr>
              <a:t>Infrequent in-person meetings meant the team was limited in genuine collaboration, with the project feeling more like individual work being combined rather than a shared effort.</a:t>
            </a:r>
          </a:p>
          <a:p>
            <a:pPr marL="285750" indent="-285750">
              <a:buFont typeface="Arial"/>
              <a:buChar char="•"/>
            </a:pPr>
            <a:r>
              <a:rPr lang="en-US">
                <a:latin typeface="Open Sauce"/>
                <a:ea typeface="+mn-lt"/>
                <a:cs typeface="+mn-lt"/>
              </a:rPr>
              <a:t>Without regular face-to-face interaction, opportunities to generate ideas together, divide tasks clearly, and build team cohesion were reduced.</a:t>
            </a:r>
          </a:p>
          <a:p>
            <a:pPr marL="285750" indent="-285750">
              <a:buFont typeface="Arial"/>
              <a:buChar char="•"/>
            </a:pPr>
            <a:r>
              <a:rPr lang="en-US">
                <a:latin typeface="Open Sauce"/>
                <a:ea typeface="+mn-lt"/>
                <a:cs typeface="+mn-lt"/>
              </a:rPr>
              <a:t>More frequent in-person sessions would have fostered a stronger sense of collaboration </a:t>
            </a:r>
            <a:endParaRPr lang="en-US">
              <a:latin typeface="Open Sauce"/>
              <a:ea typeface="Calibri"/>
              <a:cs typeface="Calibri"/>
            </a:endParaRPr>
          </a:p>
        </p:txBody>
      </p:sp>
      <p:sp>
        <p:nvSpPr>
          <p:cNvPr id="13" name="TextBox 12">
            <a:extLst>
              <a:ext uri="{FF2B5EF4-FFF2-40B4-BE49-F238E27FC236}">
                <a16:creationId xmlns:a16="http://schemas.microsoft.com/office/drawing/2014/main" id="{9E888C69-8347-8A44-0CC9-6C04ABA30255}"/>
              </a:ext>
            </a:extLst>
          </p:cNvPr>
          <p:cNvSpPr txBox="1"/>
          <p:nvPr/>
        </p:nvSpPr>
        <p:spPr>
          <a:xfrm>
            <a:off x="636814" y="3233057"/>
            <a:ext cx="8082642"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Open Sauce"/>
                <a:ea typeface="+mn-lt"/>
                <a:cs typeface="+mn-lt"/>
              </a:rPr>
              <a:t>Communication was quite consistent but became most active only when deadlines approached, making it reactive rather than a tool for early planning.</a:t>
            </a:r>
          </a:p>
          <a:p>
            <a:pPr marL="285750" indent="-285750">
              <a:buFont typeface="Arial"/>
              <a:buChar char="•"/>
            </a:pPr>
            <a:r>
              <a:rPr lang="en-US">
                <a:latin typeface="Open Sauce"/>
                <a:ea typeface="+mn-lt"/>
                <a:cs typeface="+mn-lt"/>
              </a:rPr>
              <a:t>The group learnt that timing of communication matters more than frequency where the use of timely conversations prevent missing internal deadlines.</a:t>
            </a:r>
          </a:p>
          <a:p>
            <a:pPr marL="285750" indent="-285750">
              <a:buFont typeface="Arial"/>
              <a:buChar char="•"/>
            </a:pPr>
            <a:r>
              <a:rPr lang="en-US">
                <a:latin typeface="Open Sauce"/>
                <a:ea typeface="+mn-lt"/>
                <a:cs typeface="+mn-lt"/>
              </a:rPr>
              <a:t>Next time, the team would introduce mid-point reviews tied to specific web app milestones.</a:t>
            </a:r>
            <a:endParaRPr lang="en-US">
              <a:latin typeface="Open Sauce"/>
              <a:ea typeface="Calibri"/>
              <a:cs typeface="Calibri"/>
            </a:endParaRPr>
          </a:p>
          <a:p>
            <a:pPr marL="285750" indent="-285750">
              <a:buFont typeface="Arial"/>
              <a:buChar char="•"/>
            </a:pPr>
            <a:endParaRPr lang="en-US">
              <a:latin typeface="Open Sauce"/>
              <a:ea typeface="Calibri"/>
              <a:cs typeface="Calibri"/>
            </a:endParaRPr>
          </a:p>
        </p:txBody>
      </p:sp>
      <p:sp>
        <p:nvSpPr>
          <p:cNvPr id="14" name="TextBox 13">
            <a:extLst>
              <a:ext uri="{FF2B5EF4-FFF2-40B4-BE49-F238E27FC236}">
                <a16:creationId xmlns:a16="http://schemas.microsoft.com/office/drawing/2014/main" id="{BEFD7509-BF14-67CF-EB59-E83516B3C1D0}"/>
              </a:ext>
            </a:extLst>
          </p:cNvPr>
          <p:cNvSpPr txBox="1"/>
          <p:nvPr/>
        </p:nvSpPr>
        <p:spPr>
          <a:xfrm>
            <a:off x="5004764" y="7065247"/>
            <a:ext cx="832014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Open Sauce"/>
                <a:ea typeface="+mn-lt"/>
                <a:cs typeface="+mn-lt"/>
              </a:rPr>
              <a:t>Tasks were assigned loosely, meaning some members adopted more work than others.</a:t>
            </a:r>
            <a:endParaRPr lang="en-US">
              <a:latin typeface="Open Sauce"/>
              <a:ea typeface="Calibri"/>
              <a:cs typeface="Calibri"/>
            </a:endParaRPr>
          </a:p>
          <a:p>
            <a:pPr marL="285750" indent="-285750">
              <a:buFont typeface="Arial"/>
              <a:buChar char="•"/>
            </a:pPr>
            <a:r>
              <a:rPr lang="en-US">
                <a:latin typeface="Open Sauce"/>
                <a:ea typeface="+mn-lt"/>
                <a:cs typeface="+mn-lt"/>
              </a:rPr>
              <a:t>This created uneven workload distribution meaning the project succeeded but individual development was uneven.</a:t>
            </a:r>
            <a:endParaRPr lang="en-US">
              <a:latin typeface="Open Sauce"/>
              <a:ea typeface="Calibri"/>
              <a:cs typeface="Calibri"/>
            </a:endParaRPr>
          </a:p>
          <a:p>
            <a:pPr marL="285750" indent="-285750">
              <a:buFont typeface="Arial"/>
              <a:buChar char="•"/>
            </a:pPr>
            <a:r>
              <a:rPr lang="en-US">
                <a:latin typeface="Open Sauce"/>
                <a:ea typeface="+mn-lt"/>
                <a:cs typeface="+mn-lt"/>
              </a:rPr>
              <a:t>A shared visual progress tracker reviewed during team check-ins would make contributions transparent.</a:t>
            </a:r>
            <a:endParaRPr lang="en-US">
              <a:latin typeface="Open Sauce"/>
              <a:ea typeface="Calibri"/>
              <a:cs typeface="Calibri"/>
            </a:endParaRPr>
          </a:p>
          <a:p>
            <a:pPr marL="285750" indent="-285750">
              <a:buFont typeface="Arial"/>
              <a:buChar char="•"/>
            </a:pP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4149224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822960" y="329184"/>
            <a:ext cx="914400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1800" kern="0" spc="400">
                <a:solidFill>
                  <a:srgbClr val="7A6545"/>
                </a:solidFill>
                <a:latin typeface="Calibri" pitchFamily="34" charset="0"/>
                <a:ea typeface="Calibri" pitchFamily="34" charset="-122"/>
                <a:cs typeface="Calibri" pitchFamily="34" charset="-120"/>
              </a:rPr>
              <a:t>INTRODUCTION</a:t>
            </a:r>
            <a:endParaRPr lang="en-US" sz="1800"/>
          </a:p>
        </p:txBody>
      </p:sp>
      <p:sp>
        <p:nvSpPr>
          <p:cNvPr id="3" name="Text 1"/>
          <p:cNvSpPr/>
          <p:nvPr/>
        </p:nvSpPr>
        <p:spPr>
          <a:xfrm>
            <a:off x="11887200" y="329184"/>
            <a:ext cx="557784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r">
              <a:buNone/>
            </a:pPr>
            <a:r>
              <a:rPr lang="en-US" sz="1800">
                <a:solidFill>
                  <a:srgbClr val="7A6545"/>
                </a:solidFill>
                <a:latin typeface="Calibri" pitchFamily="34" charset="0"/>
                <a:ea typeface="Calibri" pitchFamily="34" charset="-122"/>
                <a:cs typeface="Calibri" pitchFamily="34" charset="-120"/>
              </a:rPr>
              <a:t>Ousman Ndoye</a:t>
            </a:r>
            <a:endParaRPr lang="en-US" sz="1800"/>
          </a:p>
        </p:txBody>
      </p:sp>
      <p:sp>
        <p:nvSpPr>
          <p:cNvPr id="4" name="Text 2"/>
          <p:cNvSpPr/>
          <p:nvPr/>
        </p:nvSpPr>
        <p:spPr>
          <a:xfrm>
            <a:off x="822960" y="822960"/>
            <a:ext cx="16459200" cy="128016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7200" b="1">
                <a:solidFill>
                  <a:srgbClr val="2C1810"/>
                </a:solidFill>
                <a:latin typeface="Calibri" pitchFamily="34" charset="0"/>
                <a:ea typeface="Calibri" pitchFamily="34" charset="-122"/>
                <a:cs typeface="Calibri" pitchFamily="34" charset="-120"/>
              </a:rPr>
              <a:t>OAuth2 Social Login</a:t>
            </a:r>
            <a:endParaRPr lang="en-US" sz="7200"/>
          </a:p>
        </p:txBody>
      </p:sp>
      <p:sp>
        <p:nvSpPr>
          <p:cNvPr id="5" name="Text 3"/>
          <p:cNvSpPr/>
          <p:nvPr/>
        </p:nvSpPr>
        <p:spPr>
          <a:xfrm>
            <a:off x="822960" y="2103120"/>
            <a:ext cx="16459200" cy="694944"/>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3200" i="1">
                <a:solidFill>
                  <a:srgbClr val="4A7C59"/>
                </a:solidFill>
                <a:latin typeface="Calibri" pitchFamily="34" charset="0"/>
                <a:ea typeface="Calibri" pitchFamily="34" charset="-122"/>
                <a:cs typeface="Calibri" pitchFamily="34" charset="-120"/>
              </a:rPr>
              <a:t>Industry-standard framework for delegated authentication</a:t>
            </a:r>
            <a:endParaRPr lang="en-US" sz="3200"/>
          </a:p>
        </p:txBody>
      </p:sp>
      <p:sp>
        <p:nvSpPr>
          <p:cNvPr id="6" name="Shape 4"/>
          <p:cNvSpPr/>
          <p:nvPr/>
        </p:nvSpPr>
        <p:spPr>
          <a:xfrm>
            <a:off x="822960" y="3017520"/>
            <a:ext cx="7680960" cy="5577840"/>
          </a:xfrm>
          <a:prstGeom prst="roundRect">
            <a:avLst>
              <a:gd name="adj" fmla="val 3934"/>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pic>
        <p:nvPicPr>
          <p:cNvPr id="7" name="Image 0" descr="preencoded.png"/>
          <p:cNvPicPr>
            <a:picLocks noChangeAspect="1"/>
          </p:cNvPicPr>
          <p:nvPr/>
        </p:nvPicPr>
        <p:blipFill>
          <a:blip r:embed="rId3"/>
          <a:stretch>
            <a:fillRect/>
          </a:stretch>
        </p:blipFill>
        <p:spPr>
          <a:xfrm>
            <a:off x="2834640" y="3566160"/>
            <a:ext cx="1280160" cy="1280160"/>
          </a:xfrm>
          <a:prstGeom prst="rect">
            <a:avLst/>
          </a:prstGeom>
        </p:spPr>
      </p:pic>
      <p:sp>
        <p:nvSpPr>
          <p:cNvPr id="8" name="Text 5"/>
          <p:cNvSpPr/>
          <p:nvPr/>
        </p:nvSpPr>
        <p:spPr>
          <a:xfrm>
            <a:off x="2011680" y="4937760"/>
            <a:ext cx="4206240" cy="64008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600" b="1">
                <a:solidFill>
                  <a:srgbClr val="2C1810"/>
                </a:solidFill>
                <a:latin typeface="Calibri" pitchFamily="34" charset="0"/>
                <a:ea typeface="Calibri" pitchFamily="34" charset="-122"/>
                <a:cs typeface="Calibri" pitchFamily="34" charset="-120"/>
              </a:rPr>
              <a:t>SkillsBuild</a:t>
            </a:r>
            <a:endParaRPr lang="en-US" sz="2600"/>
          </a:p>
        </p:txBody>
      </p:sp>
      <p:sp>
        <p:nvSpPr>
          <p:cNvPr id="9" name="Shape 6"/>
          <p:cNvSpPr/>
          <p:nvPr/>
        </p:nvSpPr>
        <p:spPr>
          <a:xfrm>
            <a:off x="1920240" y="5669280"/>
            <a:ext cx="4206240" cy="548640"/>
          </a:xfrm>
          <a:prstGeom prst="roundRect">
            <a:avLst>
              <a:gd name="adj" fmla="val 40000"/>
            </a:avLst>
          </a:prstGeom>
          <a:solidFill>
            <a:srgbClr val="FFFFF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0" name="Text 7"/>
          <p:cNvSpPr/>
          <p:nvPr/>
        </p:nvSpPr>
        <p:spPr>
          <a:xfrm>
            <a:off x="2011680" y="5705856"/>
            <a:ext cx="4023360" cy="45720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1800">
                <a:solidFill>
                  <a:srgbClr val="7A6545"/>
                </a:solidFill>
                <a:latin typeface="Calibri" pitchFamily="34" charset="0"/>
                <a:ea typeface="Calibri" pitchFamily="34" charset="-122"/>
                <a:cs typeface="Calibri" pitchFamily="34" charset="-120"/>
              </a:rPr>
              <a:t>Username</a:t>
            </a:r>
            <a:endParaRPr lang="en-US" sz="1800"/>
          </a:p>
        </p:txBody>
      </p:sp>
      <p:sp>
        <p:nvSpPr>
          <p:cNvPr id="11" name="Shape 8"/>
          <p:cNvSpPr/>
          <p:nvPr/>
        </p:nvSpPr>
        <p:spPr>
          <a:xfrm>
            <a:off x="1920240" y="6309360"/>
            <a:ext cx="4206240" cy="548640"/>
          </a:xfrm>
          <a:prstGeom prst="roundRect">
            <a:avLst>
              <a:gd name="adj" fmla="val 40000"/>
            </a:avLst>
          </a:prstGeom>
          <a:solidFill>
            <a:srgbClr val="FFFFF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2" name="Text 9"/>
          <p:cNvSpPr/>
          <p:nvPr/>
        </p:nvSpPr>
        <p:spPr>
          <a:xfrm>
            <a:off x="2011680" y="6345936"/>
            <a:ext cx="4023360" cy="45720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1800">
                <a:solidFill>
                  <a:srgbClr val="7A6545"/>
                </a:solidFill>
                <a:latin typeface="Calibri" pitchFamily="34" charset="0"/>
                <a:ea typeface="Calibri" pitchFamily="34" charset="-122"/>
                <a:cs typeface="Calibri" pitchFamily="34" charset="-120"/>
              </a:rPr>
              <a:t>Password</a:t>
            </a:r>
            <a:endParaRPr lang="en-US" sz="1800"/>
          </a:p>
        </p:txBody>
      </p:sp>
      <p:sp>
        <p:nvSpPr>
          <p:cNvPr id="13" name="Shape 10"/>
          <p:cNvSpPr/>
          <p:nvPr/>
        </p:nvSpPr>
        <p:spPr>
          <a:xfrm>
            <a:off x="1920240" y="4974336"/>
            <a:ext cx="4206240" cy="585216"/>
          </a:xfrm>
          <a:prstGeom prst="roundRect">
            <a:avLst>
              <a:gd name="adj" fmla="val 37500"/>
            </a:avLst>
          </a:prstGeom>
          <a:solidFill>
            <a:srgbClr val="2C1810"/>
          </a:solidFill>
          <a:ln w="9525">
            <a:solidFill>
              <a:srgbClr val="2C1810"/>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4" name="Text 11"/>
          <p:cNvSpPr/>
          <p:nvPr/>
        </p:nvSpPr>
        <p:spPr>
          <a:xfrm>
            <a:off x="1975104" y="4992624"/>
            <a:ext cx="4114800" cy="54864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1800">
                <a:solidFill>
                  <a:srgbClr val="FFFFFF"/>
                </a:solidFill>
                <a:latin typeface="Calibri" pitchFamily="34" charset="0"/>
                <a:ea typeface="Calibri" pitchFamily="34" charset="-122"/>
                <a:cs typeface="Calibri" pitchFamily="34" charset="-120"/>
              </a:rPr>
              <a:t>Continue with GitHub</a:t>
            </a:r>
            <a:endParaRPr lang="en-US" sz="1800"/>
          </a:p>
        </p:txBody>
      </p:sp>
      <p:sp>
        <p:nvSpPr>
          <p:cNvPr id="15" name="Shape 12"/>
          <p:cNvSpPr/>
          <p:nvPr/>
        </p:nvSpPr>
        <p:spPr>
          <a:xfrm>
            <a:off x="8961120" y="3383280"/>
            <a:ext cx="8412480" cy="1371600"/>
          </a:xfrm>
          <a:prstGeom prst="roundRect">
            <a:avLst>
              <a:gd name="adj" fmla="val 16000"/>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pic>
        <p:nvPicPr>
          <p:cNvPr id="16" name="Image 1" descr="preencoded.png"/>
          <p:cNvPicPr>
            <a:picLocks noChangeAspect="1"/>
          </p:cNvPicPr>
          <p:nvPr/>
        </p:nvPicPr>
        <p:blipFill>
          <a:blip r:embed="rId3"/>
          <a:stretch>
            <a:fillRect/>
          </a:stretch>
        </p:blipFill>
        <p:spPr>
          <a:xfrm>
            <a:off x="9235440" y="3602736"/>
            <a:ext cx="822960" cy="822960"/>
          </a:xfrm>
          <a:prstGeom prst="rect">
            <a:avLst/>
          </a:prstGeom>
        </p:spPr>
      </p:pic>
      <p:sp>
        <p:nvSpPr>
          <p:cNvPr id="17" name="Text 13"/>
          <p:cNvSpPr/>
          <p:nvPr/>
        </p:nvSpPr>
        <p:spPr>
          <a:xfrm>
            <a:off x="10241280" y="3657600"/>
            <a:ext cx="6766560" cy="82296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4000" b="1">
                <a:solidFill>
                  <a:srgbClr val="2C1810"/>
                </a:solidFill>
                <a:latin typeface="Calibri" pitchFamily="34" charset="0"/>
                <a:ea typeface="Calibri" pitchFamily="34" charset="-122"/>
                <a:cs typeface="Calibri" pitchFamily="34" charset="-120"/>
              </a:rPr>
              <a:t>User</a:t>
            </a:r>
            <a:endParaRPr lang="en-US" sz="4000"/>
          </a:p>
        </p:txBody>
      </p:sp>
      <p:sp>
        <p:nvSpPr>
          <p:cNvPr id="18" name="Shape 14"/>
          <p:cNvSpPr/>
          <p:nvPr/>
        </p:nvSpPr>
        <p:spPr>
          <a:xfrm>
            <a:off x="13167360" y="4809744"/>
            <a:ext cx="0" cy="40233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9" name="Shape 15"/>
          <p:cNvSpPr/>
          <p:nvPr/>
        </p:nvSpPr>
        <p:spPr>
          <a:xfrm>
            <a:off x="8961120" y="5212080"/>
            <a:ext cx="8412480" cy="1371600"/>
          </a:xfrm>
          <a:prstGeom prst="roundRect">
            <a:avLst>
              <a:gd name="adj" fmla="val 16000"/>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pic>
        <p:nvPicPr>
          <p:cNvPr id="20" name="Image 2" descr="preencoded.png"/>
          <p:cNvPicPr>
            <a:picLocks noChangeAspect="1"/>
          </p:cNvPicPr>
          <p:nvPr/>
        </p:nvPicPr>
        <p:blipFill>
          <a:blip r:embed="rId3"/>
          <a:stretch>
            <a:fillRect/>
          </a:stretch>
        </p:blipFill>
        <p:spPr>
          <a:xfrm>
            <a:off x="9235440" y="5431536"/>
            <a:ext cx="822960" cy="822960"/>
          </a:xfrm>
          <a:prstGeom prst="rect">
            <a:avLst/>
          </a:prstGeom>
        </p:spPr>
      </p:pic>
      <p:sp>
        <p:nvSpPr>
          <p:cNvPr id="21" name="Text 16"/>
          <p:cNvSpPr/>
          <p:nvPr/>
        </p:nvSpPr>
        <p:spPr>
          <a:xfrm>
            <a:off x="10241280" y="5486400"/>
            <a:ext cx="6766560" cy="82296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4000" b="1">
                <a:solidFill>
                  <a:srgbClr val="2C1810"/>
                </a:solidFill>
                <a:latin typeface="Calibri" pitchFamily="34" charset="0"/>
                <a:ea typeface="Calibri" pitchFamily="34" charset="-122"/>
                <a:cs typeface="Calibri" pitchFamily="34" charset="-120"/>
              </a:rPr>
              <a:t>GitHub</a:t>
            </a:r>
            <a:endParaRPr lang="en-US" sz="4000"/>
          </a:p>
        </p:txBody>
      </p:sp>
      <p:sp>
        <p:nvSpPr>
          <p:cNvPr id="22" name="Shape 17"/>
          <p:cNvSpPr/>
          <p:nvPr/>
        </p:nvSpPr>
        <p:spPr>
          <a:xfrm>
            <a:off x="13167360" y="6638544"/>
            <a:ext cx="0" cy="40233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3" name="Shape 18"/>
          <p:cNvSpPr/>
          <p:nvPr/>
        </p:nvSpPr>
        <p:spPr>
          <a:xfrm>
            <a:off x="8961120" y="7040880"/>
            <a:ext cx="8412480" cy="1371600"/>
          </a:xfrm>
          <a:prstGeom prst="roundRect">
            <a:avLst>
              <a:gd name="adj" fmla="val 16000"/>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pic>
        <p:nvPicPr>
          <p:cNvPr id="24" name="Image 3" descr="preencoded.png"/>
          <p:cNvPicPr>
            <a:picLocks noChangeAspect="1"/>
          </p:cNvPicPr>
          <p:nvPr/>
        </p:nvPicPr>
        <p:blipFill>
          <a:blip r:embed="rId4"/>
          <a:stretch>
            <a:fillRect/>
          </a:stretch>
        </p:blipFill>
        <p:spPr>
          <a:xfrm>
            <a:off x="9235440" y="7260336"/>
            <a:ext cx="822960" cy="822960"/>
          </a:xfrm>
          <a:prstGeom prst="rect">
            <a:avLst/>
          </a:prstGeom>
        </p:spPr>
      </p:pic>
      <p:sp>
        <p:nvSpPr>
          <p:cNvPr id="25" name="Text 19"/>
          <p:cNvSpPr/>
          <p:nvPr/>
        </p:nvSpPr>
        <p:spPr>
          <a:xfrm>
            <a:off x="10241280" y="7315200"/>
            <a:ext cx="6766560" cy="82296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4000" b="1">
                <a:solidFill>
                  <a:srgbClr val="2C1810"/>
                </a:solidFill>
                <a:latin typeface="Calibri" pitchFamily="34" charset="0"/>
                <a:ea typeface="Calibri" pitchFamily="34" charset="-122"/>
                <a:cs typeface="Calibri" pitchFamily="34" charset="-120"/>
              </a:rPr>
              <a:t>Your App</a:t>
            </a:r>
            <a:endParaRPr lang="en-US" sz="4000"/>
          </a:p>
        </p:txBody>
      </p:sp>
      <p:sp>
        <p:nvSpPr>
          <p:cNvPr id="27" name="Text 1">
            <a:extLst>
              <a:ext uri="{FF2B5EF4-FFF2-40B4-BE49-F238E27FC236}">
                <a16:creationId xmlns:a16="http://schemas.microsoft.com/office/drawing/2014/main" id="{7261E1BE-4973-0100-1A23-57C45BB3AD7C}"/>
              </a:ext>
            </a:extLst>
          </p:cNvPr>
          <p:cNvSpPr/>
          <p:nvPr/>
        </p:nvSpPr>
        <p:spPr>
          <a:xfrm>
            <a:off x="11887200" y="609542"/>
            <a:ext cx="557784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r">
              <a:buNone/>
            </a:pPr>
            <a:r>
              <a:rPr lang="en-US" sz="1800">
                <a:solidFill>
                  <a:srgbClr val="7A6545"/>
                </a:solidFill>
                <a:ea typeface="Calibri"/>
                <a:cs typeface="Calibri"/>
              </a:rPr>
              <a:t>on38@student.le.ac.uk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822960" y="329184"/>
            <a:ext cx="914400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1800" kern="0" spc="400">
                <a:solidFill>
                  <a:srgbClr val="7A6545"/>
                </a:solidFill>
                <a:latin typeface="Calibri" pitchFamily="34" charset="0"/>
                <a:ea typeface="Calibri" pitchFamily="34" charset="-122"/>
                <a:cs typeface="Calibri" pitchFamily="34" charset="-120"/>
              </a:rPr>
              <a:t>AUTHENTICATION FLOW</a:t>
            </a:r>
            <a:endParaRPr lang="en-US" sz="1800"/>
          </a:p>
        </p:txBody>
      </p:sp>
      <p:sp>
        <p:nvSpPr>
          <p:cNvPr id="3" name="Text 1"/>
          <p:cNvSpPr/>
          <p:nvPr/>
        </p:nvSpPr>
        <p:spPr>
          <a:xfrm>
            <a:off x="11887200" y="329184"/>
            <a:ext cx="557784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r">
              <a:buNone/>
            </a:pPr>
            <a:r>
              <a:rPr lang="en-US" sz="1800">
                <a:solidFill>
                  <a:srgbClr val="7A6545"/>
                </a:solidFill>
                <a:latin typeface="Calibri" pitchFamily="34" charset="0"/>
                <a:ea typeface="Calibri" pitchFamily="34" charset="-122"/>
                <a:cs typeface="Calibri" pitchFamily="34" charset="-120"/>
              </a:rPr>
              <a:t>Ousman Ndoye</a:t>
            </a:r>
            <a:endParaRPr lang="en-US" sz="1800"/>
          </a:p>
        </p:txBody>
      </p:sp>
      <p:sp>
        <p:nvSpPr>
          <p:cNvPr id="4" name="Text 2"/>
          <p:cNvSpPr/>
          <p:nvPr/>
        </p:nvSpPr>
        <p:spPr>
          <a:xfrm>
            <a:off x="822960" y="822960"/>
            <a:ext cx="16459200" cy="118872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7200" b="1">
                <a:solidFill>
                  <a:srgbClr val="2C1810"/>
                </a:solidFill>
                <a:latin typeface="Calibri" pitchFamily="34" charset="0"/>
                <a:ea typeface="Calibri" pitchFamily="34" charset="-122"/>
                <a:cs typeface="Calibri" pitchFamily="34" charset="-120"/>
              </a:rPr>
              <a:t>Authentication Flow</a:t>
            </a:r>
            <a:endParaRPr lang="en-US" sz="7200"/>
          </a:p>
        </p:txBody>
      </p:sp>
      <p:sp>
        <p:nvSpPr>
          <p:cNvPr id="5" name="Shape 3"/>
          <p:cNvSpPr/>
          <p:nvPr/>
        </p:nvSpPr>
        <p:spPr>
          <a:xfrm>
            <a:off x="4572000" y="2286000"/>
            <a:ext cx="9144000" cy="768096"/>
          </a:xfrm>
          <a:prstGeom prst="roundRect">
            <a:avLst>
              <a:gd name="adj" fmla="val 28571"/>
            </a:avLst>
          </a:prstGeom>
          <a:solidFill>
            <a:srgbClr val="4A7C59"/>
          </a:solidFill>
          <a:ln w="9525">
            <a:solidFill>
              <a:srgbClr val="4A7C59"/>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6" name="Text 4"/>
          <p:cNvSpPr/>
          <p:nvPr/>
        </p:nvSpPr>
        <p:spPr>
          <a:xfrm>
            <a:off x="4846320" y="2340864"/>
            <a:ext cx="8595360" cy="65836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200" b="1">
                <a:solidFill>
                  <a:srgbClr val="FFFFFF"/>
                </a:solidFill>
                <a:latin typeface="Calibri" pitchFamily="34" charset="0"/>
                <a:ea typeface="Calibri" pitchFamily="34" charset="-122"/>
                <a:cs typeface="Calibri" pitchFamily="34" charset="-120"/>
              </a:rPr>
              <a:t>User clicks Login with GitHub</a:t>
            </a:r>
            <a:endParaRPr lang="en-US" sz="2200"/>
          </a:p>
        </p:txBody>
      </p:sp>
      <p:sp>
        <p:nvSpPr>
          <p:cNvPr id="7" name="Shape 5"/>
          <p:cNvSpPr/>
          <p:nvPr/>
        </p:nvSpPr>
        <p:spPr>
          <a:xfrm>
            <a:off x="9144000" y="3054096"/>
            <a:ext cx="0" cy="21945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8" name="Shape 6"/>
          <p:cNvSpPr/>
          <p:nvPr/>
        </p:nvSpPr>
        <p:spPr>
          <a:xfrm>
            <a:off x="4572000" y="3273552"/>
            <a:ext cx="9144000" cy="768096"/>
          </a:xfrm>
          <a:prstGeom prst="roundRect">
            <a:avLst>
              <a:gd name="adj" fmla="val 28571"/>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9" name="Text 7"/>
          <p:cNvSpPr/>
          <p:nvPr/>
        </p:nvSpPr>
        <p:spPr>
          <a:xfrm>
            <a:off x="4846320" y="3328416"/>
            <a:ext cx="8595360" cy="65836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200">
                <a:solidFill>
                  <a:srgbClr val="2C1810"/>
                </a:solidFill>
                <a:latin typeface="Calibri" pitchFamily="34" charset="0"/>
                <a:ea typeface="Calibri" pitchFamily="34" charset="-122"/>
                <a:cs typeface="Calibri" pitchFamily="34" charset="-120"/>
              </a:rPr>
              <a:t>GitHub Authorisation Server</a:t>
            </a:r>
            <a:endParaRPr lang="en-US" sz="2200"/>
          </a:p>
        </p:txBody>
      </p:sp>
      <p:sp>
        <p:nvSpPr>
          <p:cNvPr id="10" name="Shape 8"/>
          <p:cNvSpPr/>
          <p:nvPr/>
        </p:nvSpPr>
        <p:spPr>
          <a:xfrm>
            <a:off x="9144000" y="4041648"/>
            <a:ext cx="0" cy="21945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1" name="Shape 9"/>
          <p:cNvSpPr/>
          <p:nvPr/>
        </p:nvSpPr>
        <p:spPr>
          <a:xfrm>
            <a:off x="4572000" y="4261104"/>
            <a:ext cx="9144000" cy="768096"/>
          </a:xfrm>
          <a:prstGeom prst="roundRect">
            <a:avLst>
              <a:gd name="adj" fmla="val 28571"/>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2" name="Text 10"/>
          <p:cNvSpPr/>
          <p:nvPr/>
        </p:nvSpPr>
        <p:spPr>
          <a:xfrm>
            <a:off x="4846320" y="4315968"/>
            <a:ext cx="8595360" cy="65836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200">
                <a:solidFill>
                  <a:srgbClr val="2C1810"/>
                </a:solidFill>
                <a:latin typeface="Calibri" pitchFamily="34" charset="0"/>
                <a:ea typeface="Calibri" pitchFamily="34" charset="-122"/>
                <a:cs typeface="Calibri" pitchFamily="34" charset="-120"/>
              </a:rPr>
              <a:t>Authorisation Code → callback URL</a:t>
            </a:r>
            <a:endParaRPr lang="en-US" sz="2200"/>
          </a:p>
        </p:txBody>
      </p:sp>
      <p:sp>
        <p:nvSpPr>
          <p:cNvPr id="13" name="Shape 11"/>
          <p:cNvSpPr/>
          <p:nvPr/>
        </p:nvSpPr>
        <p:spPr>
          <a:xfrm>
            <a:off x="9144000" y="5029200"/>
            <a:ext cx="0" cy="21945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4" name="Shape 12"/>
          <p:cNvSpPr/>
          <p:nvPr/>
        </p:nvSpPr>
        <p:spPr>
          <a:xfrm>
            <a:off x="4572000" y="5248656"/>
            <a:ext cx="9144000" cy="768096"/>
          </a:xfrm>
          <a:prstGeom prst="roundRect">
            <a:avLst>
              <a:gd name="adj" fmla="val 28571"/>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5" name="Text 13"/>
          <p:cNvSpPr/>
          <p:nvPr/>
        </p:nvSpPr>
        <p:spPr>
          <a:xfrm>
            <a:off x="4846320" y="5303520"/>
            <a:ext cx="8595360" cy="65836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200">
                <a:solidFill>
                  <a:srgbClr val="2C1810"/>
                </a:solidFill>
                <a:latin typeface="Calibri" pitchFamily="34" charset="0"/>
                <a:ea typeface="Calibri" pitchFamily="34" charset="-122"/>
                <a:cs typeface="Calibri" pitchFamily="34" charset="-120"/>
              </a:rPr>
              <a:t>Spring Security exchanges code for Access Token</a:t>
            </a:r>
            <a:endParaRPr lang="en-US" sz="2200"/>
          </a:p>
        </p:txBody>
      </p:sp>
      <p:sp>
        <p:nvSpPr>
          <p:cNvPr id="16" name="Shape 14"/>
          <p:cNvSpPr/>
          <p:nvPr/>
        </p:nvSpPr>
        <p:spPr>
          <a:xfrm>
            <a:off x="9144000" y="6016752"/>
            <a:ext cx="0" cy="21945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7" name="Shape 15"/>
          <p:cNvSpPr/>
          <p:nvPr/>
        </p:nvSpPr>
        <p:spPr>
          <a:xfrm>
            <a:off x="4572000" y="6236208"/>
            <a:ext cx="9144000" cy="768096"/>
          </a:xfrm>
          <a:prstGeom prst="roundRect">
            <a:avLst>
              <a:gd name="adj" fmla="val 28571"/>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8" name="Text 16"/>
          <p:cNvSpPr/>
          <p:nvPr/>
        </p:nvSpPr>
        <p:spPr>
          <a:xfrm>
            <a:off x="4846320" y="6291072"/>
            <a:ext cx="8595360" cy="65836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200">
                <a:solidFill>
                  <a:srgbClr val="2C1810"/>
                </a:solidFill>
                <a:latin typeface="Calibri" pitchFamily="34" charset="0"/>
                <a:ea typeface="Calibri" pitchFamily="34" charset="-122"/>
                <a:cs typeface="Calibri" pitchFamily="34" charset="-120"/>
              </a:rPr>
              <a:t>GitHub profile retrieved</a:t>
            </a:r>
            <a:endParaRPr lang="en-US" sz="2200"/>
          </a:p>
        </p:txBody>
      </p:sp>
      <p:sp>
        <p:nvSpPr>
          <p:cNvPr id="19" name="Shape 17"/>
          <p:cNvSpPr/>
          <p:nvPr/>
        </p:nvSpPr>
        <p:spPr>
          <a:xfrm>
            <a:off x="9144000" y="7004304"/>
            <a:ext cx="0" cy="21945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0" name="Shape 18"/>
          <p:cNvSpPr/>
          <p:nvPr/>
        </p:nvSpPr>
        <p:spPr>
          <a:xfrm>
            <a:off x="4572000" y="7223760"/>
            <a:ext cx="9144000" cy="768096"/>
          </a:xfrm>
          <a:prstGeom prst="roundRect">
            <a:avLst>
              <a:gd name="adj" fmla="val 28571"/>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1" name="Text 19"/>
          <p:cNvSpPr/>
          <p:nvPr/>
        </p:nvSpPr>
        <p:spPr>
          <a:xfrm>
            <a:off x="4846320" y="7278624"/>
            <a:ext cx="8595360" cy="65836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200">
                <a:solidFill>
                  <a:srgbClr val="2C1810"/>
                </a:solidFill>
                <a:latin typeface="Calibri" pitchFamily="34" charset="0"/>
                <a:ea typeface="Calibri" pitchFamily="34" charset="-122"/>
                <a:cs typeface="Calibri" pitchFamily="34" charset="-120"/>
              </a:rPr>
              <a:t>Custom OAuth2 Success Handler</a:t>
            </a:r>
            <a:endParaRPr lang="en-US" sz="2200"/>
          </a:p>
        </p:txBody>
      </p:sp>
      <p:sp>
        <p:nvSpPr>
          <p:cNvPr id="22" name="Shape 20"/>
          <p:cNvSpPr/>
          <p:nvPr/>
        </p:nvSpPr>
        <p:spPr>
          <a:xfrm>
            <a:off x="9144000" y="7991856"/>
            <a:ext cx="0" cy="21945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3" name="Shape 21"/>
          <p:cNvSpPr/>
          <p:nvPr/>
        </p:nvSpPr>
        <p:spPr>
          <a:xfrm>
            <a:off x="4572000" y="8211312"/>
            <a:ext cx="9144000" cy="768096"/>
          </a:xfrm>
          <a:prstGeom prst="roundRect">
            <a:avLst>
              <a:gd name="adj" fmla="val 28571"/>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4" name="Text 22"/>
          <p:cNvSpPr/>
          <p:nvPr/>
        </p:nvSpPr>
        <p:spPr>
          <a:xfrm>
            <a:off x="4846320" y="8266176"/>
            <a:ext cx="8595360" cy="65836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200">
                <a:solidFill>
                  <a:srgbClr val="2C1810"/>
                </a:solidFill>
                <a:latin typeface="Calibri" pitchFamily="34" charset="0"/>
                <a:ea typeface="Calibri" pitchFamily="34" charset="-122"/>
                <a:cs typeface="Calibri" pitchFamily="34" charset="-120"/>
              </a:rPr>
              <a:t>New account created OR existing account linked</a:t>
            </a:r>
            <a:endParaRPr lang="en-US" sz="2200"/>
          </a:p>
        </p:txBody>
      </p:sp>
      <p:sp>
        <p:nvSpPr>
          <p:cNvPr id="25" name="Shape 23"/>
          <p:cNvSpPr/>
          <p:nvPr/>
        </p:nvSpPr>
        <p:spPr>
          <a:xfrm>
            <a:off x="9144000" y="8979408"/>
            <a:ext cx="0" cy="219456"/>
          </a:xfrm>
          <a:prstGeom prst="line">
            <a:avLst/>
          </a:prstGeom>
          <a:noFill/>
          <a:ln w="190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6" name="Shape 24"/>
          <p:cNvSpPr/>
          <p:nvPr/>
        </p:nvSpPr>
        <p:spPr>
          <a:xfrm>
            <a:off x="4572000" y="9198864"/>
            <a:ext cx="9144000" cy="768096"/>
          </a:xfrm>
          <a:prstGeom prst="roundRect">
            <a:avLst>
              <a:gd name="adj" fmla="val 28571"/>
            </a:avLst>
          </a:prstGeom>
          <a:solidFill>
            <a:srgbClr val="4A7C59"/>
          </a:solidFill>
          <a:ln w="9525">
            <a:solidFill>
              <a:srgbClr val="4A7C59"/>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7" name="Text 25"/>
          <p:cNvSpPr/>
          <p:nvPr/>
        </p:nvSpPr>
        <p:spPr>
          <a:xfrm>
            <a:off x="4846320" y="9253728"/>
            <a:ext cx="8595360" cy="65836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2200" b="1">
                <a:solidFill>
                  <a:srgbClr val="FFFFFF"/>
                </a:solidFill>
                <a:latin typeface="Calibri" pitchFamily="34" charset="0"/>
                <a:ea typeface="Calibri" pitchFamily="34" charset="-122"/>
                <a:cs typeface="Calibri" pitchFamily="34" charset="-120"/>
              </a:rPr>
              <a:t>Session established → Dashboard</a:t>
            </a:r>
            <a:endParaRPr lang="en-US" sz="2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822960" y="329184"/>
            <a:ext cx="914400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1800" kern="0" spc="400">
                <a:solidFill>
                  <a:srgbClr val="7A6545"/>
                </a:solidFill>
                <a:latin typeface="Calibri" pitchFamily="34" charset="0"/>
                <a:ea typeface="Calibri" pitchFamily="34" charset="-122"/>
                <a:cs typeface="Calibri" pitchFamily="34" charset="-120"/>
              </a:rPr>
              <a:t>TECHNICAL DEEP-DIVE</a:t>
            </a:r>
            <a:endParaRPr lang="en-US" sz="1800"/>
          </a:p>
        </p:txBody>
      </p:sp>
      <p:sp>
        <p:nvSpPr>
          <p:cNvPr id="3" name="Text 1"/>
          <p:cNvSpPr/>
          <p:nvPr/>
        </p:nvSpPr>
        <p:spPr>
          <a:xfrm>
            <a:off x="11887200" y="329184"/>
            <a:ext cx="557784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r">
              <a:buNone/>
            </a:pPr>
            <a:r>
              <a:rPr lang="en-US" sz="1800">
                <a:solidFill>
                  <a:srgbClr val="7A6545"/>
                </a:solidFill>
                <a:latin typeface="Calibri" pitchFamily="34" charset="0"/>
                <a:ea typeface="Calibri" pitchFamily="34" charset="-122"/>
                <a:cs typeface="Calibri" pitchFamily="34" charset="-120"/>
              </a:rPr>
              <a:t>Ousman Ndoye</a:t>
            </a:r>
            <a:endParaRPr lang="en-US" sz="1800"/>
          </a:p>
        </p:txBody>
      </p:sp>
      <p:sp>
        <p:nvSpPr>
          <p:cNvPr id="4" name="Text 2"/>
          <p:cNvSpPr/>
          <p:nvPr/>
        </p:nvSpPr>
        <p:spPr>
          <a:xfrm>
            <a:off x="822960" y="822960"/>
            <a:ext cx="16459200" cy="118872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7200" b="1">
                <a:solidFill>
                  <a:srgbClr val="2C1810"/>
                </a:solidFill>
                <a:latin typeface="Calibri" pitchFamily="34" charset="0"/>
                <a:ea typeface="Calibri" pitchFamily="34" charset="-122"/>
                <a:cs typeface="Calibri" pitchFamily="34" charset="-120"/>
              </a:rPr>
              <a:t>The Identity Resolution Bug</a:t>
            </a:r>
            <a:endParaRPr lang="en-US" sz="7200"/>
          </a:p>
        </p:txBody>
      </p:sp>
      <p:sp>
        <p:nvSpPr>
          <p:cNvPr id="5" name="Shape 3"/>
          <p:cNvSpPr/>
          <p:nvPr/>
        </p:nvSpPr>
        <p:spPr>
          <a:xfrm>
            <a:off x="822960" y="2231136"/>
            <a:ext cx="7589520" cy="822960"/>
          </a:xfrm>
          <a:prstGeom prst="roundRect">
            <a:avLst>
              <a:gd name="adj" fmla="val 26667"/>
            </a:avLst>
          </a:prstGeom>
          <a:solidFill>
            <a:srgbClr val="8B3A3A"/>
          </a:solidFill>
          <a:ln w="9525">
            <a:solidFill>
              <a:srgbClr val="8B3A3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6" name="Text 4"/>
          <p:cNvSpPr/>
          <p:nvPr/>
        </p:nvSpPr>
        <p:spPr>
          <a:xfrm>
            <a:off x="822960" y="2231136"/>
            <a:ext cx="7589520" cy="82296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3000" b="1">
                <a:solidFill>
                  <a:srgbClr val="FFFFFF"/>
                </a:solidFill>
                <a:latin typeface="Calibri" pitchFamily="34" charset="0"/>
                <a:ea typeface="Calibri" pitchFamily="34" charset="-122"/>
                <a:cs typeface="Calibri" pitchFamily="34" charset="-120"/>
              </a:rPr>
              <a:t>The Problem</a:t>
            </a:r>
            <a:endParaRPr lang="en-US" sz="3000"/>
          </a:p>
        </p:txBody>
      </p:sp>
      <p:sp>
        <p:nvSpPr>
          <p:cNvPr id="7" name="Shape 5"/>
          <p:cNvSpPr/>
          <p:nvPr/>
        </p:nvSpPr>
        <p:spPr>
          <a:xfrm>
            <a:off x="8961120" y="2231136"/>
            <a:ext cx="8503920" cy="822960"/>
          </a:xfrm>
          <a:prstGeom prst="roundRect">
            <a:avLst>
              <a:gd name="adj" fmla="val 26667"/>
            </a:avLst>
          </a:prstGeom>
          <a:solidFill>
            <a:srgbClr val="4A7C59"/>
          </a:solidFill>
          <a:ln w="9525">
            <a:solidFill>
              <a:srgbClr val="4A7C59"/>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8" name="Text 6"/>
          <p:cNvSpPr/>
          <p:nvPr/>
        </p:nvSpPr>
        <p:spPr>
          <a:xfrm>
            <a:off x="8961120" y="2231136"/>
            <a:ext cx="8503920" cy="82296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3000" b="1">
                <a:solidFill>
                  <a:srgbClr val="FFFFFF"/>
                </a:solidFill>
                <a:latin typeface="Calibri" pitchFamily="34" charset="0"/>
                <a:ea typeface="Calibri" pitchFamily="34" charset="-122"/>
                <a:cs typeface="Calibri" pitchFamily="34" charset="-120"/>
              </a:rPr>
              <a:t>The Fix</a:t>
            </a:r>
            <a:endParaRPr lang="en-US" sz="3000"/>
          </a:p>
        </p:txBody>
      </p:sp>
      <p:sp>
        <p:nvSpPr>
          <p:cNvPr id="9" name="Shape 7"/>
          <p:cNvSpPr/>
          <p:nvPr/>
        </p:nvSpPr>
        <p:spPr>
          <a:xfrm>
            <a:off x="822960" y="3108960"/>
            <a:ext cx="7589520" cy="950976"/>
          </a:xfrm>
          <a:prstGeom prst="roundRect">
            <a:avLst>
              <a:gd name="adj" fmla="val 23077"/>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0" name="Text 8"/>
          <p:cNvSpPr/>
          <p:nvPr/>
        </p:nvSpPr>
        <p:spPr>
          <a:xfrm>
            <a:off x="1097280" y="3163824"/>
            <a:ext cx="7040880" cy="84124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100">
                <a:solidFill>
                  <a:srgbClr val="2C1810"/>
                </a:solidFill>
                <a:latin typeface="Calibri" pitchFamily="34" charset="0"/>
                <a:ea typeface="Calibri" pitchFamily="34" charset="-122"/>
                <a:cs typeface="Calibri" pitchFamily="34" charset="-120"/>
              </a:rPr>
              <a:t>auth.getName() returns different values for form login vs OAuth2 users</a:t>
            </a:r>
            <a:endParaRPr lang="en-US" sz="2100"/>
          </a:p>
        </p:txBody>
      </p:sp>
      <p:sp>
        <p:nvSpPr>
          <p:cNvPr id="11" name="Shape 9"/>
          <p:cNvSpPr/>
          <p:nvPr/>
        </p:nvSpPr>
        <p:spPr>
          <a:xfrm>
            <a:off x="822960" y="4169664"/>
            <a:ext cx="7589520" cy="950976"/>
          </a:xfrm>
          <a:prstGeom prst="roundRect">
            <a:avLst>
              <a:gd name="adj" fmla="val 23077"/>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2" name="Text 10"/>
          <p:cNvSpPr/>
          <p:nvPr/>
        </p:nvSpPr>
        <p:spPr>
          <a:xfrm>
            <a:off x="1097280" y="4224528"/>
            <a:ext cx="7040880" cy="84124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100">
                <a:solidFill>
                  <a:srgbClr val="2C1810"/>
                </a:solidFill>
                <a:latin typeface="Calibri" pitchFamily="34" charset="0"/>
                <a:ea typeface="Calibri" pitchFamily="34" charset="-122"/>
                <a:cs typeface="Calibri" pitchFamily="34" charset="-120"/>
              </a:rPr>
              <a:t>Form login → returns username (matches DB)</a:t>
            </a:r>
            <a:endParaRPr lang="en-US" sz="2100"/>
          </a:p>
        </p:txBody>
      </p:sp>
      <p:sp>
        <p:nvSpPr>
          <p:cNvPr id="13" name="Shape 11"/>
          <p:cNvSpPr/>
          <p:nvPr/>
        </p:nvSpPr>
        <p:spPr>
          <a:xfrm>
            <a:off x="822960" y="5230368"/>
            <a:ext cx="7589520" cy="950976"/>
          </a:xfrm>
          <a:prstGeom prst="roundRect">
            <a:avLst>
              <a:gd name="adj" fmla="val 23077"/>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4" name="Text 12"/>
          <p:cNvSpPr/>
          <p:nvPr/>
        </p:nvSpPr>
        <p:spPr>
          <a:xfrm>
            <a:off x="1097280" y="5285232"/>
            <a:ext cx="7040880" cy="84124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100">
                <a:solidFill>
                  <a:srgbClr val="2C1810"/>
                </a:solidFill>
                <a:latin typeface="Calibri" pitchFamily="34" charset="0"/>
                <a:ea typeface="Calibri" pitchFamily="34" charset="-122"/>
                <a:cs typeface="Calibri" pitchFamily="34" charset="-120"/>
              </a:rPr>
              <a:t>OAuth2 login → returns GitHub principal ID (no match)</a:t>
            </a:r>
            <a:endParaRPr lang="en-US" sz="2100"/>
          </a:p>
        </p:txBody>
      </p:sp>
      <p:sp>
        <p:nvSpPr>
          <p:cNvPr id="15" name="Shape 13"/>
          <p:cNvSpPr/>
          <p:nvPr/>
        </p:nvSpPr>
        <p:spPr>
          <a:xfrm>
            <a:off x="8961120" y="3108960"/>
            <a:ext cx="8503920" cy="950976"/>
          </a:xfrm>
          <a:prstGeom prst="roundRect">
            <a:avLst>
              <a:gd name="adj" fmla="val 23077"/>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6" name="Text 14"/>
          <p:cNvSpPr/>
          <p:nvPr/>
        </p:nvSpPr>
        <p:spPr>
          <a:xfrm>
            <a:off x="9235440" y="3163824"/>
            <a:ext cx="7955280" cy="84124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100">
                <a:solidFill>
                  <a:srgbClr val="2C1810"/>
                </a:solidFill>
                <a:latin typeface="Calibri" pitchFamily="34" charset="0"/>
                <a:ea typeface="Calibri" pitchFamily="34" charset="-122"/>
                <a:cs typeface="Calibri" pitchFamily="34" charset="-120"/>
              </a:rPr>
              <a:t>OAuth2-aware helper method checks principal type before lookup</a:t>
            </a:r>
            <a:endParaRPr lang="en-US" sz="2100"/>
          </a:p>
        </p:txBody>
      </p:sp>
      <p:sp>
        <p:nvSpPr>
          <p:cNvPr id="17" name="Shape 15"/>
          <p:cNvSpPr/>
          <p:nvPr/>
        </p:nvSpPr>
        <p:spPr>
          <a:xfrm>
            <a:off x="8961120" y="4169664"/>
            <a:ext cx="8503920" cy="950976"/>
          </a:xfrm>
          <a:prstGeom prst="roundRect">
            <a:avLst>
              <a:gd name="adj" fmla="val 23077"/>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8" name="Text 16"/>
          <p:cNvSpPr/>
          <p:nvPr/>
        </p:nvSpPr>
        <p:spPr>
          <a:xfrm>
            <a:off x="9235440" y="4224528"/>
            <a:ext cx="7955280" cy="84124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100">
                <a:solidFill>
                  <a:srgbClr val="2C1810"/>
                </a:solidFill>
                <a:latin typeface="Calibri" pitchFamily="34" charset="0"/>
                <a:ea typeface="Calibri" pitchFamily="34" charset="-122"/>
                <a:cs typeface="Calibri" pitchFamily="34" charset="-120"/>
              </a:rPr>
              <a:t>If OAuth2User → look up by GitHub provider ID</a:t>
            </a:r>
            <a:endParaRPr lang="en-US" sz="2100"/>
          </a:p>
        </p:txBody>
      </p:sp>
      <p:sp>
        <p:nvSpPr>
          <p:cNvPr id="19" name="Shape 17"/>
          <p:cNvSpPr/>
          <p:nvPr/>
        </p:nvSpPr>
        <p:spPr>
          <a:xfrm>
            <a:off x="8961120" y="5230368"/>
            <a:ext cx="8503920" cy="950976"/>
          </a:xfrm>
          <a:prstGeom prst="roundRect">
            <a:avLst>
              <a:gd name="adj" fmla="val 23077"/>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0" name="Text 18"/>
          <p:cNvSpPr/>
          <p:nvPr/>
        </p:nvSpPr>
        <p:spPr>
          <a:xfrm>
            <a:off x="9235440" y="5285232"/>
            <a:ext cx="7955280" cy="84124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100">
                <a:solidFill>
                  <a:srgbClr val="2C1810"/>
                </a:solidFill>
                <a:latin typeface="Calibri" pitchFamily="34" charset="0"/>
                <a:ea typeface="Calibri" pitchFamily="34" charset="-122"/>
                <a:cs typeface="Calibri" pitchFamily="34" charset="-120"/>
              </a:rPr>
              <a:t>If form login → look up by username as before</a:t>
            </a:r>
            <a:endParaRPr lang="en-US" sz="2100"/>
          </a:p>
        </p:txBody>
      </p:sp>
      <p:sp>
        <p:nvSpPr>
          <p:cNvPr id="21" name="Shape 19"/>
          <p:cNvSpPr/>
          <p:nvPr/>
        </p:nvSpPr>
        <p:spPr>
          <a:xfrm>
            <a:off x="822960" y="6217920"/>
            <a:ext cx="16642080" cy="2743200"/>
          </a:xfrm>
          <a:prstGeom prst="rect">
            <a:avLst/>
          </a:prstGeom>
          <a:solidFill>
            <a:srgbClr val="1E1E1E"/>
          </a:solidFill>
          <a:ln w="9525">
            <a:solidFill>
              <a:srgbClr val="333333"/>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22" name="Text 20"/>
          <p:cNvSpPr/>
          <p:nvPr/>
        </p:nvSpPr>
        <p:spPr>
          <a:xfrm>
            <a:off x="1280160" y="6364224"/>
            <a:ext cx="15727680" cy="54864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000" b="1">
                <a:solidFill>
                  <a:srgbClr val="569CD6"/>
                </a:solidFill>
                <a:latin typeface="Courier New" pitchFamily="34" charset="0"/>
                <a:ea typeface="Courier New" pitchFamily="34" charset="-122"/>
                <a:cs typeface="Courier New" pitchFamily="34" charset="-120"/>
              </a:rPr>
              <a:t>if</a:t>
            </a:r>
            <a:r>
              <a:rPr lang="en-US" sz="2000">
                <a:solidFill>
                  <a:srgbClr val="FFFFFF"/>
                </a:solidFill>
                <a:latin typeface="Courier New" pitchFamily="34" charset="0"/>
                <a:ea typeface="Courier New" pitchFamily="34" charset="-122"/>
                <a:cs typeface="Courier New" pitchFamily="34" charset="-120"/>
              </a:rPr>
              <a:t> (principal </a:t>
            </a:r>
            <a:r>
              <a:rPr lang="en-US" sz="2000" b="1">
                <a:solidFill>
                  <a:srgbClr val="569CD6"/>
                </a:solidFill>
                <a:latin typeface="Courier New" pitchFamily="34" charset="0"/>
                <a:ea typeface="Courier New" pitchFamily="34" charset="-122"/>
                <a:cs typeface="Courier New" pitchFamily="34" charset="-120"/>
              </a:rPr>
              <a:t>instanceof</a:t>
            </a:r>
            <a:r>
              <a:rPr lang="en-US" sz="2000">
                <a:solidFill>
                  <a:srgbClr val="FFFFFF"/>
                </a:solidFill>
                <a:latin typeface="Courier New" pitchFamily="34" charset="0"/>
                <a:ea typeface="Courier New" pitchFamily="34" charset="-122"/>
                <a:cs typeface="Courier New" pitchFamily="34" charset="-120"/>
              </a:rPr>
              <a:t> OAuth2User oauthUser) {
</a:t>
            </a:r>
            <a:endParaRPr lang="en-US" sz="2000"/>
          </a:p>
        </p:txBody>
      </p:sp>
      <p:sp>
        <p:nvSpPr>
          <p:cNvPr id="23" name="Text 21"/>
          <p:cNvSpPr/>
          <p:nvPr/>
        </p:nvSpPr>
        <p:spPr>
          <a:xfrm>
            <a:off x="1280160" y="6876288"/>
            <a:ext cx="15727680" cy="512064"/>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000">
                <a:solidFill>
                  <a:srgbClr val="CE9178"/>
                </a:solidFill>
                <a:latin typeface="Courier New" pitchFamily="34" charset="0"/>
                <a:ea typeface="Courier New" pitchFamily="34" charset="-122"/>
                <a:cs typeface="Courier New" pitchFamily="34" charset="-120"/>
              </a:rPr>
              <a:t>    String providerId = oauthUser.getAttributes().get("id");</a:t>
            </a:r>
            <a:endParaRPr lang="en-US" sz="2000"/>
          </a:p>
        </p:txBody>
      </p:sp>
      <p:sp>
        <p:nvSpPr>
          <p:cNvPr id="24" name="Text 22"/>
          <p:cNvSpPr/>
          <p:nvPr/>
        </p:nvSpPr>
        <p:spPr>
          <a:xfrm>
            <a:off x="1280160" y="7351776"/>
            <a:ext cx="15727680" cy="512064"/>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000">
                <a:solidFill>
                  <a:srgbClr val="FFFFFF"/>
                </a:solidFill>
                <a:latin typeface="Courier New" pitchFamily="34" charset="0"/>
                <a:ea typeface="Courier New" pitchFamily="34" charset="-122"/>
                <a:cs typeface="Courier New" pitchFamily="34" charset="-120"/>
              </a:rPr>
              <a:t>    </a:t>
            </a:r>
            <a:r>
              <a:rPr lang="en-US" sz="2000" b="1">
                <a:solidFill>
                  <a:srgbClr val="569CD6"/>
                </a:solidFill>
                <a:latin typeface="Courier New" pitchFamily="34" charset="0"/>
                <a:ea typeface="Courier New" pitchFamily="34" charset="-122"/>
                <a:cs typeface="Courier New" pitchFamily="34" charset="-120"/>
              </a:rPr>
              <a:t>return</a:t>
            </a:r>
            <a:r>
              <a:rPr lang="en-US" sz="2000">
                <a:solidFill>
                  <a:srgbClr val="FFFFFF"/>
                </a:solidFill>
                <a:latin typeface="Courier New" pitchFamily="34" charset="0"/>
                <a:ea typeface="Courier New" pitchFamily="34" charset="-122"/>
                <a:cs typeface="Courier New" pitchFamily="34" charset="-120"/>
              </a:rPr>
              <a:t> userRepo.findByProviderAndProviderId("GITHUB", providerId);</a:t>
            </a:r>
            <a:endParaRPr lang="en-US" sz="2000"/>
          </a:p>
        </p:txBody>
      </p:sp>
      <p:sp>
        <p:nvSpPr>
          <p:cNvPr id="25" name="Text 23"/>
          <p:cNvSpPr/>
          <p:nvPr/>
        </p:nvSpPr>
        <p:spPr>
          <a:xfrm>
            <a:off x="1280160" y="7827264"/>
            <a:ext cx="15727680" cy="512064"/>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000">
                <a:solidFill>
                  <a:srgbClr val="FFFFFF"/>
                </a:solidFill>
                <a:latin typeface="Courier New" pitchFamily="34" charset="0"/>
                <a:ea typeface="Courier New" pitchFamily="34" charset="-122"/>
                <a:cs typeface="Courier New" pitchFamily="34" charset="-120"/>
              </a:rPr>
              <a:t>}
</a:t>
            </a:r>
            <a:endParaRPr lang="en-US" sz="2000"/>
          </a:p>
        </p:txBody>
      </p:sp>
      <p:sp>
        <p:nvSpPr>
          <p:cNvPr id="26" name="Text 24"/>
          <p:cNvSpPr/>
          <p:nvPr/>
        </p:nvSpPr>
        <p:spPr>
          <a:xfrm>
            <a:off x="1280160" y="8302752"/>
            <a:ext cx="15727680" cy="512064"/>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000" b="1">
                <a:solidFill>
                  <a:srgbClr val="569CD6"/>
                </a:solidFill>
                <a:latin typeface="Courier New" pitchFamily="34" charset="0"/>
                <a:ea typeface="Courier New" pitchFamily="34" charset="-122"/>
                <a:cs typeface="Courier New" pitchFamily="34" charset="-120"/>
              </a:rPr>
              <a:t>return</a:t>
            </a:r>
            <a:r>
              <a:rPr lang="en-US" sz="2000">
                <a:solidFill>
                  <a:srgbClr val="FFFFFF"/>
                </a:solidFill>
                <a:latin typeface="Courier New" pitchFamily="34" charset="0"/>
                <a:ea typeface="Courier New" pitchFamily="34" charset="-122"/>
                <a:cs typeface="Courier New" pitchFamily="34" charset="-120"/>
              </a:rPr>
              <a:t> userRepo.findByUsername(authentication.getName());</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822960" y="329184"/>
            <a:ext cx="914400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1800" kern="0" spc="400">
                <a:solidFill>
                  <a:srgbClr val="7A6545"/>
                </a:solidFill>
                <a:latin typeface="Calibri" pitchFamily="34" charset="0"/>
                <a:ea typeface="Calibri" pitchFamily="34" charset="-122"/>
                <a:cs typeface="Calibri" pitchFamily="34" charset="-120"/>
              </a:rPr>
              <a:t>KEY TAKEAWAYS</a:t>
            </a:r>
            <a:endParaRPr lang="en-US" sz="1800"/>
          </a:p>
        </p:txBody>
      </p:sp>
      <p:sp>
        <p:nvSpPr>
          <p:cNvPr id="3" name="Text 1"/>
          <p:cNvSpPr/>
          <p:nvPr/>
        </p:nvSpPr>
        <p:spPr>
          <a:xfrm>
            <a:off x="11887200" y="329184"/>
            <a:ext cx="5577840" cy="402336"/>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r">
              <a:buNone/>
            </a:pPr>
            <a:r>
              <a:rPr lang="en-US" sz="1800">
                <a:solidFill>
                  <a:srgbClr val="7A6545"/>
                </a:solidFill>
                <a:latin typeface="Calibri" pitchFamily="34" charset="0"/>
                <a:ea typeface="Calibri" pitchFamily="34" charset="-122"/>
                <a:cs typeface="Calibri" pitchFamily="34" charset="-120"/>
              </a:rPr>
              <a:t>Ousman Ndoye</a:t>
            </a:r>
            <a:endParaRPr lang="en-US" sz="1800"/>
          </a:p>
        </p:txBody>
      </p:sp>
      <p:pic>
        <p:nvPicPr>
          <p:cNvPr id="4" name="Image 0" descr="preencoded.png"/>
          <p:cNvPicPr>
            <a:picLocks noChangeAspect="1"/>
          </p:cNvPicPr>
          <p:nvPr/>
        </p:nvPicPr>
        <p:blipFill>
          <a:blip r:embed="rId3"/>
          <a:stretch>
            <a:fillRect/>
          </a:stretch>
        </p:blipFill>
        <p:spPr>
          <a:xfrm>
            <a:off x="15910560" y="694944"/>
            <a:ext cx="1554480" cy="1554480"/>
          </a:xfrm>
          <a:prstGeom prst="rect">
            <a:avLst/>
          </a:prstGeom>
        </p:spPr>
      </p:pic>
      <p:sp>
        <p:nvSpPr>
          <p:cNvPr id="5" name="Text 2"/>
          <p:cNvSpPr/>
          <p:nvPr/>
        </p:nvSpPr>
        <p:spPr>
          <a:xfrm>
            <a:off x="822960" y="822960"/>
            <a:ext cx="14630400" cy="118872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7200" b="1">
                <a:solidFill>
                  <a:srgbClr val="2C1810"/>
                </a:solidFill>
                <a:latin typeface="Calibri" pitchFamily="34" charset="0"/>
                <a:ea typeface="Calibri" pitchFamily="34" charset="-122"/>
                <a:cs typeface="Calibri" pitchFamily="34" charset="-120"/>
              </a:rPr>
              <a:t>Key Takeaways</a:t>
            </a:r>
            <a:endParaRPr lang="en-US" sz="7200"/>
          </a:p>
        </p:txBody>
      </p:sp>
      <p:sp>
        <p:nvSpPr>
          <p:cNvPr id="6" name="Shape 3"/>
          <p:cNvSpPr/>
          <p:nvPr/>
        </p:nvSpPr>
        <p:spPr>
          <a:xfrm>
            <a:off x="822960" y="2468880"/>
            <a:ext cx="16642080" cy="1682496"/>
          </a:xfrm>
          <a:prstGeom prst="roundRect">
            <a:avLst>
              <a:gd name="adj" fmla="val 13043"/>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7" name="Shape 4"/>
          <p:cNvSpPr/>
          <p:nvPr/>
        </p:nvSpPr>
        <p:spPr>
          <a:xfrm>
            <a:off x="1005840" y="2688336"/>
            <a:ext cx="1005840" cy="1243584"/>
          </a:xfrm>
          <a:prstGeom prst="roundRect">
            <a:avLst>
              <a:gd name="adj" fmla="val 21818"/>
            </a:avLst>
          </a:prstGeom>
          <a:solidFill>
            <a:srgbClr val="7A6545"/>
          </a:solidFill>
          <a:ln w="9525">
            <a:solidFill>
              <a:srgbClr val="7A6545"/>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8" name="Text 5"/>
          <p:cNvSpPr/>
          <p:nvPr/>
        </p:nvSpPr>
        <p:spPr>
          <a:xfrm>
            <a:off x="1005840" y="2688336"/>
            <a:ext cx="1005840" cy="1243584"/>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01</a:t>
            </a:r>
            <a:endParaRPr lang="en-US" sz="3200"/>
          </a:p>
        </p:txBody>
      </p:sp>
      <p:sp>
        <p:nvSpPr>
          <p:cNvPr id="9" name="Text 6"/>
          <p:cNvSpPr/>
          <p:nvPr/>
        </p:nvSpPr>
        <p:spPr>
          <a:xfrm>
            <a:off x="2286000" y="2798064"/>
            <a:ext cx="14813280" cy="102412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800">
                <a:solidFill>
                  <a:srgbClr val="2C1810"/>
                </a:solidFill>
                <a:latin typeface="Calibri" pitchFamily="34" charset="0"/>
                <a:ea typeface="Calibri" pitchFamily="34" charset="-122"/>
                <a:cs typeface="Calibri" pitchFamily="34" charset="-120"/>
              </a:rPr>
              <a:t>Third-party auth requires consistent identity resolution across the whole application</a:t>
            </a:r>
            <a:endParaRPr lang="en-US" sz="2800"/>
          </a:p>
        </p:txBody>
      </p:sp>
      <p:sp>
        <p:nvSpPr>
          <p:cNvPr id="10" name="Shape 7"/>
          <p:cNvSpPr/>
          <p:nvPr/>
        </p:nvSpPr>
        <p:spPr>
          <a:xfrm>
            <a:off x="822960" y="4480560"/>
            <a:ext cx="16642080" cy="1682496"/>
          </a:xfrm>
          <a:prstGeom prst="roundRect">
            <a:avLst>
              <a:gd name="adj" fmla="val 13043"/>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1" name="Shape 8"/>
          <p:cNvSpPr/>
          <p:nvPr/>
        </p:nvSpPr>
        <p:spPr>
          <a:xfrm>
            <a:off x="1005840" y="4700016"/>
            <a:ext cx="1005840" cy="1243584"/>
          </a:xfrm>
          <a:prstGeom prst="roundRect">
            <a:avLst>
              <a:gd name="adj" fmla="val 21818"/>
            </a:avLst>
          </a:prstGeom>
          <a:solidFill>
            <a:srgbClr val="7A6545"/>
          </a:solidFill>
          <a:ln w="9525">
            <a:solidFill>
              <a:srgbClr val="7A6545"/>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2" name="Text 9"/>
          <p:cNvSpPr/>
          <p:nvPr/>
        </p:nvSpPr>
        <p:spPr>
          <a:xfrm>
            <a:off x="1005840" y="4700016"/>
            <a:ext cx="1005840" cy="1243584"/>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02</a:t>
            </a:r>
            <a:endParaRPr lang="en-US" sz="3200"/>
          </a:p>
        </p:txBody>
      </p:sp>
      <p:sp>
        <p:nvSpPr>
          <p:cNvPr id="13" name="Text 10"/>
          <p:cNvSpPr/>
          <p:nvPr/>
        </p:nvSpPr>
        <p:spPr>
          <a:xfrm>
            <a:off x="2286000" y="4809744"/>
            <a:ext cx="14813280" cy="102412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800">
                <a:solidFill>
                  <a:srgbClr val="2C1810"/>
                </a:solidFill>
                <a:latin typeface="Calibri" pitchFamily="34" charset="0"/>
                <a:ea typeface="Calibri" pitchFamily="34" charset="-122"/>
                <a:cs typeface="Calibri" pitchFamily="34" charset="-120"/>
              </a:rPr>
              <a:t>Inconsistent user lookup is not just a bug — it is a potential security vulnerability</a:t>
            </a:r>
            <a:endParaRPr lang="en-US" sz="2800"/>
          </a:p>
        </p:txBody>
      </p:sp>
      <p:sp>
        <p:nvSpPr>
          <p:cNvPr id="14" name="Shape 11"/>
          <p:cNvSpPr/>
          <p:nvPr/>
        </p:nvSpPr>
        <p:spPr>
          <a:xfrm>
            <a:off x="822960" y="6492240"/>
            <a:ext cx="16642080" cy="1682496"/>
          </a:xfrm>
          <a:prstGeom prst="roundRect">
            <a:avLst>
              <a:gd name="adj" fmla="val 13043"/>
            </a:avLst>
          </a:prstGeom>
          <a:solidFill>
            <a:srgbClr val="EDE8DF"/>
          </a:solidFill>
          <a:ln w="9525">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5" name="Shape 12"/>
          <p:cNvSpPr/>
          <p:nvPr/>
        </p:nvSpPr>
        <p:spPr>
          <a:xfrm>
            <a:off x="1005840" y="6711696"/>
            <a:ext cx="1005840" cy="1243584"/>
          </a:xfrm>
          <a:prstGeom prst="roundRect">
            <a:avLst>
              <a:gd name="adj" fmla="val 21818"/>
            </a:avLst>
          </a:prstGeom>
          <a:solidFill>
            <a:srgbClr val="7A6545"/>
          </a:solidFill>
          <a:ln w="9525">
            <a:solidFill>
              <a:srgbClr val="7A6545"/>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6" name="Text 13"/>
          <p:cNvSpPr/>
          <p:nvPr/>
        </p:nvSpPr>
        <p:spPr>
          <a:xfrm>
            <a:off x="1005840" y="6711696"/>
            <a:ext cx="1005840" cy="1243584"/>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03</a:t>
            </a:r>
            <a:endParaRPr lang="en-US" sz="3200"/>
          </a:p>
        </p:txBody>
      </p:sp>
      <p:sp>
        <p:nvSpPr>
          <p:cNvPr id="17" name="Text 14"/>
          <p:cNvSpPr/>
          <p:nvPr/>
        </p:nvSpPr>
        <p:spPr>
          <a:xfrm>
            <a:off x="2286000" y="6821424"/>
            <a:ext cx="14813280" cy="1024128"/>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800">
                <a:solidFill>
                  <a:srgbClr val="2C1810"/>
                </a:solidFill>
                <a:latin typeface="Calibri" pitchFamily="34" charset="0"/>
                <a:ea typeface="Calibri" pitchFamily="34" charset="-122"/>
                <a:cs typeface="Calibri" pitchFamily="34" charset="-120"/>
              </a:rPr>
              <a:t>Centralise authentication logic from the start to prevent controller-level inconsistencies</a:t>
            </a:r>
            <a:endParaRPr lang="en-US" sz="2800"/>
          </a:p>
        </p:txBody>
      </p:sp>
      <p:sp>
        <p:nvSpPr>
          <p:cNvPr id="18" name="Shape 15"/>
          <p:cNvSpPr/>
          <p:nvPr/>
        </p:nvSpPr>
        <p:spPr>
          <a:xfrm>
            <a:off x="0" y="9418320"/>
            <a:ext cx="18288000" cy="868680"/>
          </a:xfrm>
          <a:prstGeom prst="rect">
            <a:avLst/>
          </a:prstGeom>
          <a:solidFill>
            <a:srgbClr val="EDE8DF"/>
          </a:solidFill>
          <a:ln w="6350">
            <a:solidFill>
              <a:srgbClr val="C8B99A"/>
            </a:solidFill>
            <a:prstDash val="solid"/>
          </a:ln>
        </p:spPr>
        <p:txBody>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endParaRPr lang="en-GB" sz="7200"/>
          </a:p>
        </p:txBody>
      </p:sp>
      <p:sp>
        <p:nvSpPr>
          <p:cNvPr id="19" name="Text 16"/>
          <p:cNvSpPr/>
          <p:nvPr/>
        </p:nvSpPr>
        <p:spPr>
          <a:xfrm>
            <a:off x="914400" y="9454896"/>
            <a:ext cx="16459200" cy="731520"/>
          </a:xfrm>
          <a:prstGeom prst="rect">
            <a:avLst/>
          </a:prstGeom>
          <a:noFill/>
          <a:ln/>
        </p:spPr>
        <p:txBody>
          <a:bodyPr wrap="square" lIns="0" tIns="0" rIns="0" bIns="0" rtlCol="0" anchor="ct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buNone/>
            </a:pPr>
            <a:r>
              <a:rPr lang="en-US" sz="2200" i="1">
                <a:solidFill>
                  <a:srgbClr val="7A6545"/>
                </a:solidFill>
                <a:latin typeface="Calibri" pitchFamily="34" charset="0"/>
                <a:ea typeface="Calibri" pitchFamily="34" charset="-122"/>
                <a:cs typeface="Calibri" pitchFamily="34" charset="-120"/>
              </a:rPr>
              <a:t>Secure authentication is a system-wide concern — not just a login screen concern.</a:t>
            </a:r>
            <a:endParaRPr lang="en-US" sz="2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97E0FD-4319-E6FC-14B1-DA6C54AAB698}"/>
              </a:ext>
            </a:extLst>
          </p:cNvPr>
          <p:cNvSpPr txBox="1"/>
          <p:nvPr/>
        </p:nvSpPr>
        <p:spPr>
          <a:xfrm>
            <a:off x="1521753" y="514215"/>
            <a:ext cx="1521012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Open Sauce"/>
                <a:ea typeface="Calibri"/>
                <a:cs typeface="Calibri"/>
              </a:rPr>
              <a:t>TECHNICALLY CHALLENGING FEATURE: GAMIFICATION SYSTEM DESIGN</a:t>
            </a:r>
          </a:p>
        </p:txBody>
      </p:sp>
      <p:sp>
        <p:nvSpPr>
          <p:cNvPr id="8" name="Rectangle: Rounded Corners 7">
            <a:extLst>
              <a:ext uri="{FF2B5EF4-FFF2-40B4-BE49-F238E27FC236}">
                <a16:creationId xmlns:a16="http://schemas.microsoft.com/office/drawing/2014/main" id="{070E49A6-5D33-7031-FED8-1F16489887C1}"/>
              </a:ext>
            </a:extLst>
          </p:cNvPr>
          <p:cNvSpPr/>
          <p:nvPr/>
        </p:nvSpPr>
        <p:spPr>
          <a:xfrm>
            <a:off x="608864" y="1726789"/>
            <a:ext cx="7902698" cy="7329441"/>
          </a:xfrm>
          <a:prstGeom prst="roundRect">
            <a:avLst/>
          </a:prstGeom>
          <a:solidFill>
            <a:schemeClr val="accent2">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a:solidFill>
                  <a:srgbClr val="000000"/>
                </a:solidFill>
                <a:latin typeface="Open Sauce"/>
                <a:ea typeface="Calibri"/>
                <a:cs typeface="Calibri"/>
              </a:rPr>
              <a:t>THE  PROBLEM</a:t>
            </a:r>
            <a:endParaRPr lang="en-US" sz="3600">
              <a:solidFill>
                <a:srgbClr val="000000"/>
              </a:solidFill>
              <a:latin typeface="Open Sauce"/>
              <a:ea typeface="Calibri"/>
              <a:cs typeface="Calibri"/>
            </a:endParaRPr>
          </a:p>
          <a:p>
            <a:r>
              <a:rPr lang="en-US" sz="3200" b="1">
                <a:solidFill>
                  <a:srgbClr val="000000"/>
                </a:solidFill>
                <a:latin typeface="Open Sauce"/>
                <a:ea typeface="Calibri"/>
                <a:cs typeface="Calibri"/>
              </a:rPr>
              <a:t>Maintaining User Engagement</a:t>
            </a:r>
            <a:endParaRPr lang="en-US" sz="3200">
              <a:solidFill>
                <a:srgbClr val="000000"/>
              </a:solidFill>
              <a:latin typeface="Open Sauce"/>
              <a:ea typeface="Calibri"/>
              <a:cs typeface="Calibri"/>
            </a:endParaRPr>
          </a:p>
          <a:p>
            <a:pPr marL="285750" indent="-285750">
              <a:buFont typeface="Arial,Sans-Serif"/>
              <a:buChar char="•"/>
            </a:pPr>
            <a:r>
              <a:rPr lang="en-US" sz="3200">
                <a:solidFill>
                  <a:srgbClr val="000000"/>
                </a:solidFill>
                <a:latin typeface="Open Sauce"/>
                <a:ea typeface="Calibri"/>
                <a:cs typeface="Calibri"/>
              </a:rPr>
              <a:t>Users often lose motivation over time in static learning systems</a:t>
            </a:r>
          </a:p>
          <a:p>
            <a:pPr marL="285750" indent="-285750">
              <a:buFont typeface="Arial,Sans-Serif"/>
              <a:buChar char="•"/>
            </a:pPr>
            <a:r>
              <a:rPr lang="en-US" sz="3200">
                <a:solidFill>
                  <a:srgbClr val="000000"/>
                </a:solidFill>
                <a:latin typeface="Open Sauce"/>
                <a:ea typeface="Calibri"/>
                <a:cs typeface="Calibri"/>
              </a:rPr>
              <a:t>Lack of feedback reduces interaction and consistency</a:t>
            </a:r>
          </a:p>
          <a:p>
            <a:pPr marL="285750" indent="-285750">
              <a:buFont typeface="Arial,Sans-Serif"/>
              <a:buChar char="•"/>
            </a:pPr>
            <a:r>
              <a:rPr lang="en-US" sz="3200">
                <a:solidFill>
                  <a:srgbClr val="000000"/>
                </a:solidFill>
                <a:latin typeface="Open Sauce"/>
                <a:ea typeface="Calibri"/>
                <a:cs typeface="Calibri"/>
              </a:rPr>
              <a:t>Traditional platforms do not actively encourage progress</a:t>
            </a:r>
          </a:p>
          <a:p>
            <a:pPr marL="285750" indent="-285750">
              <a:buFont typeface="Arial,Sans-Serif"/>
              <a:buChar char="•"/>
            </a:pPr>
            <a:r>
              <a:rPr lang="en-US" sz="3200">
                <a:solidFill>
                  <a:srgbClr val="000000"/>
                </a:solidFill>
                <a:latin typeface="Open Sauce"/>
                <a:ea typeface="Calibri"/>
                <a:cs typeface="Calibri"/>
              </a:rPr>
              <a:t>Needed a system to</a:t>
            </a:r>
            <a:r>
              <a:rPr lang="en-US" sz="3200" b="1">
                <a:solidFill>
                  <a:srgbClr val="000000"/>
                </a:solidFill>
                <a:latin typeface="Open Sauce"/>
                <a:ea typeface="Calibri"/>
                <a:cs typeface="Calibri"/>
              </a:rPr>
              <a:t> motivate </a:t>
            </a:r>
            <a:r>
              <a:rPr lang="en-US" sz="3200" b="1" err="1">
                <a:solidFill>
                  <a:srgbClr val="000000"/>
                </a:solidFill>
                <a:latin typeface="Open Sauce"/>
                <a:ea typeface="Calibri"/>
                <a:cs typeface="Calibri"/>
              </a:rPr>
              <a:t>users</a:t>
            </a:r>
            <a:r>
              <a:rPr lang="en-US" sz="3200" b="1">
                <a:solidFill>
                  <a:srgbClr val="000000"/>
                </a:solidFill>
                <a:latin typeface="Open Sauce"/>
                <a:ea typeface="Calibri"/>
                <a:cs typeface="Calibri"/>
              </a:rPr>
              <a:t> and reward activity</a:t>
            </a:r>
            <a:endParaRPr lang="en-US" sz="3200">
              <a:latin typeface="Open Sauce"/>
            </a:endParaRPr>
          </a:p>
        </p:txBody>
      </p:sp>
      <p:sp>
        <p:nvSpPr>
          <p:cNvPr id="9" name="Rectangle: Rounded Corners 8">
            <a:extLst>
              <a:ext uri="{FF2B5EF4-FFF2-40B4-BE49-F238E27FC236}">
                <a16:creationId xmlns:a16="http://schemas.microsoft.com/office/drawing/2014/main" id="{C264C104-E91C-1D8B-57DB-051B403E3620}"/>
              </a:ext>
            </a:extLst>
          </p:cNvPr>
          <p:cNvSpPr/>
          <p:nvPr/>
        </p:nvSpPr>
        <p:spPr>
          <a:xfrm>
            <a:off x="9153530" y="1718764"/>
            <a:ext cx="8274836" cy="7342982"/>
          </a:xfrm>
          <a:prstGeom prst="round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a:solidFill>
                  <a:srgbClr val="000000"/>
                </a:solidFill>
                <a:latin typeface="Open Sauce"/>
                <a:ea typeface="Calibri"/>
                <a:cs typeface="Calibri"/>
              </a:rPr>
              <a:t>OUR SOLUTION</a:t>
            </a:r>
            <a:endParaRPr lang="en-US" sz="3600">
              <a:solidFill>
                <a:srgbClr val="000000"/>
              </a:solidFill>
              <a:latin typeface="Open Sauce"/>
              <a:ea typeface="Calibri"/>
              <a:cs typeface="Calibri"/>
            </a:endParaRPr>
          </a:p>
          <a:p>
            <a:r>
              <a:rPr lang="en-US" sz="3200" b="1">
                <a:solidFill>
                  <a:srgbClr val="000000"/>
                </a:solidFill>
                <a:latin typeface="Open Sauce"/>
                <a:ea typeface="Calibri"/>
                <a:cs typeface="Calibri"/>
              </a:rPr>
              <a:t>Integrated Gamification System</a:t>
            </a:r>
            <a:endParaRPr lang="en-US" sz="3200">
              <a:solidFill>
                <a:srgbClr val="000000"/>
              </a:solidFill>
              <a:latin typeface="Open Sauce"/>
              <a:ea typeface="Calibri"/>
              <a:cs typeface="Calibri"/>
            </a:endParaRPr>
          </a:p>
          <a:p>
            <a:pPr marL="285750" indent="-285750">
              <a:buFont typeface="Arial,Sans-Serif"/>
              <a:buChar char="•"/>
            </a:pPr>
            <a:r>
              <a:rPr lang="en-US" sz="3200">
                <a:solidFill>
                  <a:srgbClr val="000000"/>
                </a:solidFill>
                <a:latin typeface="Open Sauce"/>
                <a:ea typeface="Calibri"/>
                <a:cs typeface="Calibri"/>
              </a:rPr>
              <a:t>Implemented progress tracking across user activities</a:t>
            </a:r>
          </a:p>
          <a:p>
            <a:pPr marL="285750" indent="-285750">
              <a:buFont typeface="Arial,Sans-Serif"/>
              <a:buChar char="•"/>
            </a:pPr>
            <a:r>
              <a:rPr lang="en-US" sz="3200">
                <a:solidFill>
                  <a:srgbClr val="000000"/>
                </a:solidFill>
                <a:latin typeface="Open Sauce"/>
                <a:ea typeface="Calibri"/>
                <a:cs typeface="Calibri"/>
              </a:rPr>
              <a:t>Introduced goal-setting with visible progress on dashboard</a:t>
            </a:r>
          </a:p>
          <a:p>
            <a:pPr marL="285750" indent="-285750">
              <a:buFont typeface="Arial,Sans-Serif"/>
              <a:buChar char="•"/>
            </a:pPr>
            <a:r>
              <a:rPr lang="en-US" sz="3200">
                <a:solidFill>
                  <a:srgbClr val="000000"/>
                </a:solidFill>
                <a:latin typeface="Open Sauce"/>
                <a:ea typeface="Calibri"/>
                <a:cs typeface="Calibri"/>
              </a:rPr>
              <a:t>Developed leaderboards (global and friends) to encourage completion</a:t>
            </a:r>
          </a:p>
          <a:p>
            <a:pPr marL="285750" indent="-285750">
              <a:buFont typeface="Arial,Sans-Serif"/>
              <a:buChar char="•"/>
            </a:pPr>
            <a:r>
              <a:rPr lang="en-US" sz="3200">
                <a:solidFill>
                  <a:srgbClr val="000000"/>
                </a:solidFill>
                <a:latin typeface="Open Sauce"/>
                <a:ea typeface="Calibri"/>
                <a:cs typeface="Calibri"/>
              </a:rPr>
              <a:t>Provided feedback through rewards and completion indications</a:t>
            </a:r>
            <a:endParaRPr lang="en-US" sz="3200" err="1">
              <a:latin typeface="Open Sauce"/>
            </a:endParaRPr>
          </a:p>
        </p:txBody>
      </p:sp>
      <p:pic>
        <p:nvPicPr>
          <p:cNvPr id="10" name="Graphic 9" descr="Downward trend graph with solid fill">
            <a:extLst>
              <a:ext uri="{FF2B5EF4-FFF2-40B4-BE49-F238E27FC236}">
                <a16:creationId xmlns:a16="http://schemas.microsoft.com/office/drawing/2014/main" id="{0C8F85DF-B0E6-C4DB-6A37-E8FB726753A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67686" y="2572828"/>
            <a:ext cx="914400" cy="914400"/>
          </a:xfrm>
          <a:prstGeom prst="rect">
            <a:avLst/>
          </a:prstGeom>
        </p:spPr>
      </p:pic>
      <p:pic>
        <p:nvPicPr>
          <p:cNvPr id="11" name="Graphic 10" descr="Upward trend with solid fill">
            <a:extLst>
              <a:ext uri="{FF2B5EF4-FFF2-40B4-BE49-F238E27FC236}">
                <a16:creationId xmlns:a16="http://schemas.microsoft.com/office/drawing/2014/main" id="{B2BD5A3B-0B83-60A2-9F91-2DA77484C5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04243" y="2357424"/>
            <a:ext cx="914400" cy="914400"/>
          </a:xfrm>
          <a:prstGeom prst="rect">
            <a:avLst/>
          </a:prstGeom>
        </p:spPr>
      </p:pic>
      <p:sp>
        <p:nvSpPr>
          <p:cNvPr id="12" name="TextBox 11">
            <a:extLst>
              <a:ext uri="{FF2B5EF4-FFF2-40B4-BE49-F238E27FC236}">
                <a16:creationId xmlns:a16="http://schemas.microsoft.com/office/drawing/2014/main" id="{8FC59B06-8DAB-06EA-EA44-BB8E89D12ABD}"/>
              </a:ext>
            </a:extLst>
          </p:cNvPr>
          <p:cNvSpPr txBox="1"/>
          <p:nvPr/>
        </p:nvSpPr>
        <p:spPr>
          <a:xfrm>
            <a:off x="14803329" y="1191147"/>
            <a:ext cx="3482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Deborah Adekola</a:t>
            </a:r>
          </a:p>
        </p:txBody>
      </p:sp>
    </p:spTree>
    <p:extLst>
      <p:ext uri="{BB962C8B-B14F-4D97-AF65-F5344CB8AC3E}">
        <p14:creationId xmlns:p14="http://schemas.microsoft.com/office/powerpoint/2010/main" val="858146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BB44F9-D3D8-5B33-165A-A1A65BC8AC5C}"/>
              </a:ext>
            </a:extLst>
          </p:cNvPr>
          <p:cNvSpPr txBox="1"/>
          <p:nvPr/>
        </p:nvSpPr>
        <p:spPr>
          <a:xfrm>
            <a:off x="2006154" y="764054"/>
            <a:ext cx="1430239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a:latin typeface="Open Sauce"/>
                <a:ea typeface="Calibri"/>
                <a:cs typeface="Calibri"/>
              </a:rPr>
              <a:t>SYSTEM INTEGRATION</a:t>
            </a:r>
            <a:endParaRPr lang="en-US"/>
          </a:p>
        </p:txBody>
      </p:sp>
      <p:sp>
        <p:nvSpPr>
          <p:cNvPr id="3" name="Rectangle: Rounded Corners 2">
            <a:extLst>
              <a:ext uri="{FF2B5EF4-FFF2-40B4-BE49-F238E27FC236}">
                <a16:creationId xmlns:a16="http://schemas.microsoft.com/office/drawing/2014/main" id="{7A81942C-1778-F3CE-46EC-1360FC3812A2}"/>
              </a:ext>
            </a:extLst>
          </p:cNvPr>
          <p:cNvSpPr/>
          <p:nvPr/>
        </p:nvSpPr>
        <p:spPr>
          <a:xfrm>
            <a:off x="6670580" y="3881887"/>
            <a:ext cx="4953000" cy="2530928"/>
          </a:xfrm>
          <a:prstGeom prst="ellipse">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77C5E250-ED35-FBAA-0E26-DE7F29C6AFF0}"/>
              </a:ext>
            </a:extLst>
          </p:cNvPr>
          <p:cNvCxnSpPr/>
          <p:nvPr/>
        </p:nvCxnSpPr>
        <p:spPr>
          <a:xfrm flipV="1">
            <a:off x="11074672" y="3369435"/>
            <a:ext cx="1179971" cy="1007955"/>
          </a:xfrm>
          <a:prstGeom prst="straightConnector1">
            <a:avLst/>
          </a:prstGeom>
          <a:ln>
            <a:solidFill>
              <a:schemeClr val="tx1">
                <a:lumMod val="95000"/>
                <a:lumOff val="5000"/>
              </a:schemeClr>
            </a:solidFill>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7A5E1960-84DB-A289-6C1E-A7CA497F22B7}"/>
              </a:ext>
            </a:extLst>
          </p:cNvPr>
          <p:cNvCxnSpPr>
            <a:cxnSpLocks/>
          </p:cNvCxnSpPr>
          <p:nvPr/>
        </p:nvCxnSpPr>
        <p:spPr>
          <a:xfrm>
            <a:off x="11096239" y="5930146"/>
            <a:ext cx="1158404" cy="12349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070EF5BA-B63E-7EA3-C7D0-6F9AB7420F5B}"/>
              </a:ext>
            </a:extLst>
          </p:cNvPr>
          <p:cNvCxnSpPr>
            <a:cxnSpLocks/>
          </p:cNvCxnSpPr>
          <p:nvPr/>
        </p:nvCxnSpPr>
        <p:spPr>
          <a:xfrm flipH="1" flipV="1">
            <a:off x="5784832" y="3455699"/>
            <a:ext cx="1451086" cy="9216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CA76A41D-68B3-64F8-006B-4E80C0E7830F}"/>
              </a:ext>
            </a:extLst>
          </p:cNvPr>
          <p:cNvCxnSpPr>
            <a:cxnSpLocks/>
          </p:cNvCxnSpPr>
          <p:nvPr/>
        </p:nvCxnSpPr>
        <p:spPr>
          <a:xfrm flipH="1">
            <a:off x="5720133" y="5951710"/>
            <a:ext cx="1515784" cy="10192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D117D609-0DC2-AE01-3F3B-B28A4DFF25A3}"/>
              </a:ext>
            </a:extLst>
          </p:cNvPr>
          <p:cNvSpPr txBox="1"/>
          <p:nvPr/>
        </p:nvSpPr>
        <p:spPr>
          <a:xfrm>
            <a:off x="1849545" y="1811034"/>
            <a:ext cx="3858779" cy="2485787"/>
          </a:xfrm>
          <a:prstGeom prst="roundRect">
            <a:avLst/>
          </a:prstGeom>
          <a:solidFill>
            <a:schemeClr val="accent1">
              <a:lumMod val="40000"/>
              <a:lumOff val="60000"/>
            </a:schemeClr>
          </a:solidFill>
          <a:ln>
            <a:solidFill>
              <a:schemeClr val="tx1">
                <a:lumMod val="95000"/>
                <a:lumOff val="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Open Sauce"/>
                <a:ea typeface="Calibri"/>
                <a:cs typeface="Calibri"/>
              </a:rPr>
              <a:t>Flashcards for personalized study and repetition</a:t>
            </a:r>
          </a:p>
          <a:p>
            <a:pPr algn="ctr"/>
            <a:endParaRPr lang="en-US" sz="2800">
              <a:latin typeface="Open Sauce"/>
              <a:ea typeface="Calibri"/>
              <a:cs typeface="Calibri"/>
            </a:endParaRPr>
          </a:p>
          <a:p>
            <a:pPr algn="ctr"/>
            <a:endParaRPr lang="en-US" sz="2800">
              <a:latin typeface="Open Sauce"/>
              <a:ea typeface="Calibri"/>
              <a:cs typeface="Calibri"/>
            </a:endParaRPr>
          </a:p>
        </p:txBody>
      </p:sp>
      <p:sp>
        <p:nvSpPr>
          <p:cNvPr id="12" name="TextBox 11">
            <a:extLst>
              <a:ext uri="{FF2B5EF4-FFF2-40B4-BE49-F238E27FC236}">
                <a16:creationId xmlns:a16="http://schemas.microsoft.com/office/drawing/2014/main" id="{22784041-9B3B-E548-4199-9B9C2C400F02}"/>
              </a:ext>
            </a:extLst>
          </p:cNvPr>
          <p:cNvSpPr txBox="1"/>
          <p:nvPr/>
        </p:nvSpPr>
        <p:spPr>
          <a:xfrm>
            <a:off x="12309073" y="1811034"/>
            <a:ext cx="3858779" cy="2485787"/>
          </a:xfrm>
          <a:prstGeom prst="roundRect">
            <a:avLst/>
          </a:prstGeom>
          <a:solidFill>
            <a:schemeClr val="accent5">
              <a:lumMod val="60000"/>
              <a:lumOff val="40000"/>
            </a:schemeClr>
          </a:solidFill>
          <a:ln>
            <a:solidFill>
              <a:schemeClr val="tx1">
                <a:lumMod val="95000"/>
                <a:lumOff val="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Open Sauce"/>
                <a:ea typeface="Calibri"/>
                <a:cs typeface="Calibri"/>
              </a:rPr>
              <a:t>Course search and filtering to guide learning paths</a:t>
            </a:r>
          </a:p>
          <a:p>
            <a:pPr algn="ctr"/>
            <a:endParaRPr lang="en-US" sz="2800">
              <a:latin typeface="Open Sauce"/>
              <a:ea typeface="Calibri"/>
              <a:cs typeface="Calibri"/>
            </a:endParaRPr>
          </a:p>
          <a:p>
            <a:pPr algn="ctr"/>
            <a:endParaRPr lang="en-US" sz="2800">
              <a:latin typeface="Open Sauce"/>
              <a:ea typeface="Calibri"/>
              <a:cs typeface="Calibri"/>
            </a:endParaRPr>
          </a:p>
        </p:txBody>
      </p:sp>
      <p:sp>
        <p:nvSpPr>
          <p:cNvPr id="13" name="TextBox 12">
            <a:extLst>
              <a:ext uri="{FF2B5EF4-FFF2-40B4-BE49-F238E27FC236}">
                <a16:creationId xmlns:a16="http://schemas.microsoft.com/office/drawing/2014/main" id="{4294268A-BE95-C2D2-68F4-168A5A875163}"/>
              </a:ext>
            </a:extLst>
          </p:cNvPr>
          <p:cNvSpPr txBox="1"/>
          <p:nvPr/>
        </p:nvSpPr>
        <p:spPr>
          <a:xfrm>
            <a:off x="1978940" y="6663392"/>
            <a:ext cx="3729383" cy="2485787"/>
          </a:xfrm>
          <a:prstGeom prst="roundRect">
            <a:avLst/>
          </a:prstGeom>
          <a:solidFill>
            <a:schemeClr val="accent3">
              <a:lumMod val="40000"/>
              <a:lumOff val="60000"/>
            </a:schemeClr>
          </a:solidFill>
          <a:ln>
            <a:solidFill>
              <a:schemeClr val="tx1">
                <a:lumMod val="95000"/>
                <a:lumOff val="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Open Sauce"/>
                <a:ea typeface="Calibri"/>
                <a:cs typeface="Calibri"/>
              </a:rPr>
              <a:t>Goal system linked to user progress tracking</a:t>
            </a:r>
          </a:p>
          <a:p>
            <a:pPr algn="ctr"/>
            <a:endParaRPr lang="en-US" sz="2800">
              <a:latin typeface="Open Sauce"/>
              <a:ea typeface="Calibri"/>
              <a:cs typeface="Calibri"/>
            </a:endParaRPr>
          </a:p>
          <a:p>
            <a:pPr algn="ctr"/>
            <a:endParaRPr lang="en-US" sz="2800">
              <a:latin typeface="Open Sauce"/>
              <a:ea typeface="Calibri"/>
              <a:cs typeface="Calibri"/>
            </a:endParaRPr>
          </a:p>
        </p:txBody>
      </p:sp>
      <p:sp>
        <p:nvSpPr>
          <p:cNvPr id="14" name="TextBox 13">
            <a:extLst>
              <a:ext uri="{FF2B5EF4-FFF2-40B4-BE49-F238E27FC236}">
                <a16:creationId xmlns:a16="http://schemas.microsoft.com/office/drawing/2014/main" id="{2E3763BE-7B43-8B34-6198-63B6625B3841}"/>
              </a:ext>
            </a:extLst>
          </p:cNvPr>
          <p:cNvSpPr txBox="1"/>
          <p:nvPr/>
        </p:nvSpPr>
        <p:spPr>
          <a:xfrm>
            <a:off x="12309073" y="6663392"/>
            <a:ext cx="3858779" cy="2962513"/>
          </a:xfrm>
          <a:prstGeom prst="roundRect">
            <a:avLst/>
          </a:prstGeom>
          <a:solidFill>
            <a:schemeClr val="accent4">
              <a:lumMod val="40000"/>
              <a:lumOff val="60000"/>
            </a:schemeClr>
          </a:solidFill>
          <a:ln>
            <a:solidFill>
              <a:schemeClr val="tx1">
                <a:lumMod val="95000"/>
                <a:lumOff val="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Open Sauce"/>
                <a:ea typeface="Calibri"/>
                <a:cs typeface="Calibri"/>
              </a:rPr>
              <a:t>Friend system enabling comparison and competition</a:t>
            </a:r>
          </a:p>
          <a:p>
            <a:pPr algn="ctr"/>
            <a:endParaRPr lang="en-US" sz="2800">
              <a:latin typeface="Open Sauce"/>
              <a:ea typeface="Calibri"/>
              <a:cs typeface="Calibri"/>
            </a:endParaRPr>
          </a:p>
          <a:p>
            <a:pPr algn="ctr"/>
            <a:endParaRPr lang="en-US" sz="2800">
              <a:latin typeface="Open Sauce"/>
              <a:ea typeface="Calibri"/>
              <a:cs typeface="Calibri"/>
            </a:endParaRPr>
          </a:p>
        </p:txBody>
      </p:sp>
      <p:sp>
        <p:nvSpPr>
          <p:cNvPr id="15" name="TextBox 14">
            <a:extLst>
              <a:ext uri="{FF2B5EF4-FFF2-40B4-BE49-F238E27FC236}">
                <a16:creationId xmlns:a16="http://schemas.microsoft.com/office/drawing/2014/main" id="{6D9DB70D-3DD0-59AA-67B3-D90B48A3BFBE}"/>
              </a:ext>
            </a:extLst>
          </p:cNvPr>
          <p:cNvSpPr txBox="1"/>
          <p:nvPr/>
        </p:nvSpPr>
        <p:spPr>
          <a:xfrm>
            <a:off x="7668779" y="4460575"/>
            <a:ext cx="296635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solidFill>
                  <a:srgbClr val="F9FCFE"/>
                </a:solidFill>
                <a:latin typeface="Open Sauce"/>
                <a:ea typeface="Calibri"/>
                <a:cs typeface="Calibri"/>
              </a:rPr>
              <a:t>Gamification connected across multiple features</a:t>
            </a:r>
          </a:p>
        </p:txBody>
      </p:sp>
      <p:pic>
        <p:nvPicPr>
          <p:cNvPr id="16" name="Graphic 15" descr="Bullseye with solid fill">
            <a:extLst>
              <a:ext uri="{FF2B5EF4-FFF2-40B4-BE49-F238E27FC236}">
                <a16:creationId xmlns:a16="http://schemas.microsoft.com/office/drawing/2014/main" id="{064B5305-5EB9-9CD2-1954-C23591E206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67819" y="8201564"/>
            <a:ext cx="763438" cy="763438"/>
          </a:xfrm>
          <a:prstGeom prst="rect">
            <a:avLst/>
          </a:prstGeom>
        </p:spPr>
      </p:pic>
      <p:pic>
        <p:nvPicPr>
          <p:cNvPr id="17" name="Graphic 16" descr="Closed book with solid fill">
            <a:extLst>
              <a:ext uri="{FF2B5EF4-FFF2-40B4-BE49-F238E27FC236}">
                <a16:creationId xmlns:a16="http://schemas.microsoft.com/office/drawing/2014/main" id="{F3115BA3-9C88-2B0F-6AB2-563B891739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16857" y="3198243"/>
            <a:ext cx="914400" cy="914400"/>
          </a:xfrm>
          <a:prstGeom prst="rect">
            <a:avLst/>
          </a:prstGeom>
        </p:spPr>
      </p:pic>
      <p:pic>
        <p:nvPicPr>
          <p:cNvPr id="18" name="Graphic 17" descr="Magnifying glass with solid fill">
            <a:extLst>
              <a:ext uri="{FF2B5EF4-FFF2-40B4-BE49-F238E27FC236}">
                <a16:creationId xmlns:a16="http://schemas.microsoft.com/office/drawing/2014/main" id="{8991E2AE-B01F-A363-04E7-0E6BB7A8A0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76385" y="3262942"/>
            <a:ext cx="914400" cy="914400"/>
          </a:xfrm>
          <a:prstGeom prst="rect">
            <a:avLst/>
          </a:prstGeom>
        </p:spPr>
      </p:pic>
      <p:pic>
        <p:nvPicPr>
          <p:cNvPr id="20" name="Graphic 19" descr="Group of women with solid fill">
            <a:extLst>
              <a:ext uri="{FF2B5EF4-FFF2-40B4-BE49-F238E27FC236}">
                <a16:creationId xmlns:a16="http://schemas.microsoft.com/office/drawing/2014/main" id="{683BB7D6-CCED-EFC3-B64D-3608E86B037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76385" y="8589753"/>
            <a:ext cx="914400" cy="914400"/>
          </a:xfrm>
          <a:prstGeom prst="rect">
            <a:avLst/>
          </a:prstGeom>
        </p:spPr>
      </p:pic>
      <p:pic>
        <p:nvPicPr>
          <p:cNvPr id="21" name="Graphic 20" descr="Game controller with solid fill">
            <a:extLst>
              <a:ext uri="{FF2B5EF4-FFF2-40B4-BE49-F238E27FC236}">
                <a16:creationId xmlns:a16="http://schemas.microsoft.com/office/drawing/2014/main" id="{9740FE9E-81B6-6B13-D800-421DBD703EB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76782" y="4600036"/>
            <a:ext cx="914400" cy="914400"/>
          </a:xfrm>
          <a:prstGeom prst="rect">
            <a:avLst/>
          </a:prstGeom>
        </p:spPr>
      </p:pic>
      <p:sp>
        <p:nvSpPr>
          <p:cNvPr id="23" name="TextBox 22">
            <a:extLst>
              <a:ext uri="{FF2B5EF4-FFF2-40B4-BE49-F238E27FC236}">
                <a16:creationId xmlns:a16="http://schemas.microsoft.com/office/drawing/2014/main" id="{5B66106A-9A26-74F7-9688-9C65E55AF19A}"/>
              </a:ext>
            </a:extLst>
          </p:cNvPr>
          <p:cNvSpPr txBox="1"/>
          <p:nvPr/>
        </p:nvSpPr>
        <p:spPr>
          <a:xfrm>
            <a:off x="14803329" y="1191147"/>
            <a:ext cx="3482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Deborah Adekola</a:t>
            </a:r>
          </a:p>
        </p:txBody>
      </p:sp>
    </p:spTree>
    <p:extLst>
      <p:ext uri="{BB962C8B-B14F-4D97-AF65-F5344CB8AC3E}">
        <p14:creationId xmlns:p14="http://schemas.microsoft.com/office/powerpoint/2010/main" val="3596026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B805B1-AE37-5147-C8CF-F61733A39946}"/>
              </a:ext>
            </a:extLst>
          </p:cNvPr>
          <p:cNvSpPr txBox="1"/>
          <p:nvPr/>
        </p:nvSpPr>
        <p:spPr>
          <a:xfrm>
            <a:off x="2528743" y="678076"/>
            <a:ext cx="1286539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a:latin typeface="Open Sauce"/>
                <a:ea typeface="Calibri"/>
                <a:cs typeface="Calibri"/>
              </a:rPr>
              <a:t>WHY IT WAS CHALLENGING </a:t>
            </a:r>
          </a:p>
        </p:txBody>
      </p:sp>
      <p:sp>
        <p:nvSpPr>
          <p:cNvPr id="4" name="Rectangle: Rounded Corners 3">
            <a:extLst>
              <a:ext uri="{FF2B5EF4-FFF2-40B4-BE49-F238E27FC236}">
                <a16:creationId xmlns:a16="http://schemas.microsoft.com/office/drawing/2014/main" id="{41D5F3FC-3B52-2F96-82DA-106E0C8DB9D0}"/>
              </a:ext>
            </a:extLst>
          </p:cNvPr>
          <p:cNvSpPr/>
          <p:nvPr/>
        </p:nvSpPr>
        <p:spPr>
          <a:xfrm>
            <a:off x="442855" y="2232837"/>
            <a:ext cx="5073535" cy="6476831"/>
          </a:xfrm>
          <a:prstGeom prst="roundRect">
            <a:avLst/>
          </a:prstGeom>
          <a:solidFill>
            <a:schemeClr val="accent5">
              <a:lumMod val="40000"/>
              <a:lumOff val="6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900" b="1">
                <a:solidFill>
                  <a:schemeClr val="tx1"/>
                </a:solidFill>
                <a:latin typeface="Open Sauce"/>
                <a:ea typeface="Calibri"/>
                <a:cs typeface="Calibri"/>
              </a:rPr>
              <a:t>SYSTEM COMPLEXITY</a:t>
            </a:r>
            <a:endParaRPr lang="en-US" sz="2900">
              <a:solidFill>
                <a:schemeClr val="tx1"/>
              </a:solidFill>
              <a:latin typeface="Open Sauce"/>
              <a:ea typeface="Calibri"/>
              <a:cs typeface="Calibri"/>
            </a:endParaRPr>
          </a:p>
          <a:p>
            <a:pPr marL="285750" indent="-285750" algn="ctr">
              <a:buFont typeface="Calibri"/>
              <a:buChar char="-"/>
            </a:pPr>
            <a:r>
              <a:rPr lang="en-US" sz="2900">
                <a:solidFill>
                  <a:schemeClr val="tx1"/>
                </a:solidFill>
                <a:latin typeface="Open Sauce"/>
                <a:ea typeface="Calibri"/>
                <a:cs typeface="Calibri"/>
              </a:rPr>
              <a:t>Multiple features interacting</a:t>
            </a:r>
          </a:p>
          <a:p>
            <a:pPr marL="285750" indent="-285750" algn="ctr">
              <a:buFont typeface="Calibri"/>
              <a:buChar char="-"/>
            </a:pPr>
            <a:r>
              <a:rPr lang="en-US" sz="2900">
                <a:solidFill>
                  <a:schemeClr val="tx1"/>
                </a:solidFill>
                <a:latin typeface="Open Sauce"/>
                <a:ea typeface="Calibri"/>
                <a:cs typeface="Calibri"/>
              </a:rPr>
              <a:t>Backend + frontend coordination</a:t>
            </a:r>
          </a:p>
          <a:p>
            <a:pPr marL="285750" indent="-285750" algn="ctr">
              <a:buFont typeface="Calibri"/>
              <a:buChar char="-"/>
            </a:pPr>
            <a:r>
              <a:rPr lang="en-US" sz="2900">
                <a:solidFill>
                  <a:schemeClr val="tx1"/>
                </a:solidFill>
                <a:latin typeface="Open Sauce"/>
                <a:ea typeface="Calibri"/>
                <a:cs typeface="Calibri"/>
              </a:rPr>
              <a:t>Managing system-wide logic.</a:t>
            </a:r>
          </a:p>
        </p:txBody>
      </p:sp>
      <p:sp>
        <p:nvSpPr>
          <p:cNvPr id="5" name="Rectangle: Rounded Corners 4">
            <a:extLst>
              <a:ext uri="{FF2B5EF4-FFF2-40B4-BE49-F238E27FC236}">
                <a16:creationId xmlns:a16="http://schemas.microsoft.com/office/drawing/2014/main" id="{A9484B2E-22A4-5CCB-A641-877E18F6D6B1}"/>
              </a:ext>
            </a:extLst>
          </p:cNvPr>
          <p:cNvSpPr/>
          <p:nvPr/>
        </p:nvSpPr>
        <p:spPr>
          <a:xfrm>
            <a:off x="6761703" y="2232837"/>
            <a:ext cx="4857875" cy="6476831"/>
          </a:xfrm>
          <a:prstGeom prst="roundRect">
            <a:avLst/>
          </a:prstGeom>
          <a:solidFill>
            <a:schemeClr val="accent4">
              <a:lumMod val="40000"/>
              <a:lumOff val="6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900" b="1">
                <a:solidFill>
                  <a:schemeClr val="tx1"/>
                </a:solidFill>
                <a:latin typeface="Open Sauce"/>
                <a:ea typeface="Calibri"/>
                <a:cs typeface="Calibri"/>
              </a:rPr>
              <a:t>INTEGRATION</a:t>
            </a:r>
          </a:p>
          <a:p>
            <a:pPr marL="285750" indent="-285750" algn="ctr">
              <a:buFont typeface="Calibri"/>
              <a:buChar char="-"/>
            </a:pPr>
            <a:r>
              <a:rPr lang="en-US" sz="2900">
                <a:solidFill>
                  <a:schemeClr val="tx1"/>
                </a:solidFill>
                <a:latin typeface="Open Sauce"/>
                <a:ea typeface="Calibri"/>
                <a:cs typeface="Calibri"/>
              </a:rPr>
              <a:t>Features depended on each other</a:t>
            </a:r>
          </a:p>
          <a:p>
            <a:pPr marL="285750" indent="-285750" algn="ctr">
              <a:buFont typeface="Calibri"/>
              <a:buChar char="-"/>
            </a:pPr>
            <a:r>
              <a:rPr lang="en-US" sz="2900">
                <a:solidFill>
                  <a:schemeClr val="tx1"/>
                </a:solidFill>
                <a:latin typeface="Open Sauce"/>
                <a:ea typeface="Calibri"/>
                <a:cs typeface="Calibri"/>
              </a:rPr>
              <a:t>Data shared across components</a:t>
            </a:r>
          </a:p>
          <a:p>
            <a:pPr marL="285750" indent="-285750" algn="ctr">
              <a:buFont typeface="Calibri"/>
              <a:buChar char="-"/>
            </a:pPr>
            <a:r>
              <a:rPr lang="en-US" sz="2900">
                <a:solidFill>
                  <a:schemeClr val="tx1"/>
                </a:solidFill>
                <a:latin typeface="Open Sauce"/>
                <a:ea typeface="Calibri"/>
                <a:cs typeface="Calibri"/>
              </a:rPr>
              <a:t>Needed consistent updates</a:t>
            </a:r>
          </a:p>
        </p:txBody>
      </p:sp>
      <p:sp>
        <p:nvSpPr>
          <p:cNvPr id="6" name="Rectangle: Rounded Corners 5">
            <a:extLst>
              <a:ext uri="{FF2B5EF4-FFF2-40B4-BE49-F238E27FC236}">
                <a16:creationId xmlns:a16="http://schemas.microsoft.com/office/drawing/2014/main" id="{85BDE92D-4B92-B6B1-4571-9B15DB535A74}"/>
              </a:ext>
            </a:extLst>
          </p:cNvPr>
          <p:cNvSpPr/>
          <p:nvPr/>
        </p:nvSpPr>
        <p:spPr>
          <a:xfrm>
            <a:off x="12778628" y="2232836"/>
            <a:ext cx="4944139" cy="6476831"/>
          </a:xfrm>
          <a:prstGeom prst="roundRect">
            <a:avLst/>
          </a:prstGeom>
          <a:solidFill>
            <a:schemeClr val="bg2">
              <a:lumMod val="7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900" b="1">
                <a:solidFill>
                  <a:schemeClr val="tx1"/>
                </a:solidFill>
                <a:latin typeface="Open Sauce"/>
                <a:ea typeface="Calibri"/>
                <a:cs typeface="Calibri"/>
              </a:rPr>
              <a:t>DESIGN BALANCE</a:t>
            </a:r>
          </a:p>
          <a:p>
            <a:pPr algn="ctr"/>
            <a:r>
              <a:rPr lang="en-US" sz="2900">
                <a:solidFill>
                  <a:schemeClr val="tx1"/>
                </a:solidFill>
                <a:latin typeface="Open Sauce"/>
                <a:ea typeface="Calibri"/>
                <a:cs typeface="Calibri"/>
              </a:rPr>
              <a:t>-Simplicity vs Functionality</a:t>
            </a:r>
          </a:p>
          <a:p>
            <a:pPr algn="ctr"/>
            <a:r>
              <a:rPr lang="en-US" sz="2900">
                <a:solidFill>
                  <a:schemeClr val="tx1"/>
                </a:solidFill>
                <a:latin typeface="Open Sauce"/>
                <a:ea typeface="Calibri"/>
                <a:cs typeface="Calibri"/>
              </a:rPr>
              <a:t>-Avoiding overcomplication</a:t>
            </a:r>
          </a:p>
          <a:p>
            <a:pPr algn="ctr"/>
            <a:r>
              <a:rPr lang="en-US" sz="2900">
                <a:solidFill>
                  <a:schemeClr val="tx1"/>
                </a:solidFill>
                <a:latin typeface="Open Sauce"/>
                <a:ea typeface="Calibri"/>
                <a:cs typeface="Calibri"/>
              </a:rPr>
              <a:t>Keeping the user experience clear</a:t>
            </a:r>
          </a:p>
        </p:txBody>
      </p:sp>
      <p:pic>
        <p:nvPicPr>
          <p:cNvPr id="7" name="Graphic 6" descr="Gears with solid fill">
            <a:extLst>
              <a:ext uri="{FF2B5EF4-FFF2-40B4-BE49-F238E27FC236}">
                <a16:creationId xmlns:a16="http://schemas.microsoft.com/office/drawing/2014/main" id="{E2D809E1-8D56-0C7E-BE97-DA54C00E85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18913" y="2810055"/>
            <a:ext cx="914400" cy="914400"/>
          </a:xfrm>
          <a:prstGeom prst="rect">
            <a:avLst/>
          </a:prstGeom>
        </p:spPr>
      </p:pic>
      <p:pic>
        <p:nvPicPr>
          <p:cNvPr id="8" name="Graphic 7" descr="Social network with solid fill">
            <a:extLst>
              <a:ext uri="{FF2B5EF4-FFF2-40B4-BE49-F238E27FC236}">
                <a16:creationId xmlns:a16="http://schemas.microsoft.com/office/drawing/2014/main" id="{5D35B5BC-4909-19B3-84DF-9891FF4ABC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29932" y="2810055"/>
            <a:ext cx="914400" cy="914400"/>
          </a:xfrm>
          <a:prstGeom prst="rect">
            <a:avLst/>
          </a:prstGeom>
        </p:spPr>
      </p:pic>
      <p:pic>
        <p:nvPicPr>
          <p:cNvPr id="9" name="Graphic 8" descr="Scales of justice with solid fill">
            <a:extLst>
              <a:ext uri="{FF2B5EF4-FFF2-40B4-BE49-F238E27FC236}">
                <a16:creationId xmlns:a16="http://schemas.microsoft.com/office/drawing/2014/main" id="{2DBC25D1-3F1B-2079-5352-94E1CBB9EF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789989" y="2810055"/>
            <a:ext cx="914400" cy="914400"/>
          </a:xfrm>
          <a:prstGeom prst="rect">
            <a:avLst/>
          </a:prstGeom>
        </p:spPr>
      </p:pic>
      <p:sp>
        <p:nvSpPr>
          <p:cNvPr id="11" name="TextBox 10">
            <a:extLst>
              <a:ext uri="{FF2B5EF4-FFF2-40B4-BE49-F238E27FC236}">
                <a16:creationId xmlns:a16="http://schemas.microsoft.com/office/drawing/2014/main" id="{6C59BE75-C629-3608-B3F5-1DBB6EA76607}"/>
              </a:ext>
            </a:extLst>
          </p:cNvPr>
          <p:cNvSpPr txBox="1"/>
          <p:nvPr/>
        </p:nvSpPr>
        <p:spPr>
          <a:xfrm>
            <a:off x="14803329" y="1191147"/>
            <a:ext cx="3482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Deborah Adekola</a:t>
            </a:r>
          </a:p>
        </p:txBody>
      </p:sp>
    </p:spTree>
    <p:extLst>
      <p:ext uri="{BB962C8B-B14F-4D97-AF65-F5344CB8AC3E}">
        <p14:creationId xmlns:p14="http://schemas.microsoft.com/office/powerpoint/2010/main" val="2076397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09393-C60A-A22D-6C93-697177495A1F}"/>
              </a:ext>
            </a:extLst>
          </p:cNvPr>
          <p:cNvSpPr txBox="1"/>
          <p:nvPr/>
        </p:nvSpPr>
        <p:spPr>
          <a:xfrm>
            <a:off x="4819757" y="727226"/>
            <a:ext cx="8187069"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a:latin typeface="Open Sauce"/>
                <a:ea typeface="Calibri"/>
                <a:cs typeface="Calibri"/>
              </a:rPr>
              <a:t>TECHNICAL IMPLEMENTATION </a:t>
            </a:r>
            <a:endParaRPr lang="en-US" sz="4400">
              <a:latin typeface="Open Sauce"/>
            </a:endParaRPr>
          </a:p>
        </p:txBody>
      </p:sp>
      <p:sp>
        <p:nvSpPr>
          <p:cNvPr id="4" name="TextBox 3">
            <a:extLst>
              <a:ext uri="{FF2B5EF4-FFF2-40B4-BE49-F238E27FC236}">
                <a16:creationId xmlns:a16="http://schemas.microsoft.com/office/drawing/2014/main" id="{4FC0D41E-AC2D-38E8-5F26-63A309D65CAF}"/>
              </a:ext>
            </a:extLst>
          </p:cNvPr>
          <p:cNvSpPr txBox="1"/>
          <p:nvPr/>
        </p:nvSpPr>
        <p:spPr>
          <a:xfrm>
            <a:off x="836562" y="8525104"/>
            <a:ext cx="1430078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Open Sauce"/>
                <a:ea typeface="Calibri"/>
                <a:cs typeface="Calibri"/>
              </a:rPr>
              <a:t>We made sure to design the system to be scalable and adaptive</a:t>
            </a:r>
          </a:p>
        </p:txBody>
      </p:sp>
      <p:sp>
        <p:nvSpPr>
          <p:cNvPr id="9" name="Arrow: Right 8">
            <a:extLst>
              <a:ext uri="{FF2B5EF4-FFF2-40B4-BE49-F238E27FC236}">
                <a16:creationId xmlns:a16="http://schemas.microsoft.com/office/drawing/2014/main" id="{6F5F8BF4-07F6-E059-5190-490BA8486C71}"/>
              </a:ext>
            </a:extLst>
          </p:cNvPr>
          <p:cNvSpPr/>
          <p:nvPr/>
        </p:nvSpPr>
        <p:spPr>
          <a:xfrm>
            <a:off x="7663466" y="4867404"/>
            <a:ext cx="2507677" cy="1700707"/>
          </a:xfrm>
          <a:prstGeom prst="rightArrow">
            <a:avLst/>
          </a:prstGeom>
          <a:solidFill>
            <a:schemeClr val="accent5">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Open Sauce Bold"/>
                <a:ea typeface="Calibri"/>
                <a:cs typeface="Calibri"/>
              </a:rPr>
              <a:t>DATA FLOW</a:t>
            </a:r>
          </a:p>
        </p:txBody>
      </p:sp>
      <p:sp>
        <p:nvSpPr>
          <p:cNvPr id="10" name="Rectangle: Rounded Corners 9">
            <a:extLst>
              <a:ext uri="{FF2B5EF4-FFF2-40B4-BE49-F238E27FC236}">
                <a16:creationId xmlns:a16="http://schemas.microsoft.com/office/drawing/2014/main" id="{DE81912C-A15C-5F93-6E35-EE954F7C2D97}"/>
              </a:ext>
            </a:extLst>
          </p:cNvPr>
          <p:cNvSpPr/>
          <p:nvPr/>
        </p:nvSpPr>
        <p:spPr>
          <a:xfrm>
            <a:off x="1023634" y="3812674"/>
            <a:ext cx="5736063" cy="4201365"/>
          </a:xfrm>
          <a:prstGeom prst="roundRect">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900" b="1">
                <a:solidFill>
                  <a:srgbClr val="000000"/>
                </a:solidFill>
                <a:latin typeface="Open Sauce"/>
                <a:ea typeface="Calibri"/>
                <a:cs typeface="Calibri"/>
              </a:rPr>
              <a:t>BACKEND (Spring boot)</a:t>
            </a:r>
          </a:p>
          <a:p>
            <a:pPr marL="285750" indent="-285750">
              <a:buFont typeface="Arial,Sans-Serif"/>
              <a:buChar char="•"/>
            </a:pPr>
            <a:r>
              <a:rPr lang="en-US" sz="2900">
                <a:solidFill>
                  <a:srgbClr val="000000"/>
                </a:solidFill>
                <a:latin typeface="Open Sauce"/>
                <a:ea typeface="Calibri"/>
                <a:cs typeface="Calibri"/>
              </a:rPr>
              <a:t>Stores user progress</a:t>
            </a:r>
          </a:p>
          <a:p>
            <a:pPr marL="285750" indent="-285750">
              <a:buFont typeface="Arial,Sans-Serif"/>
              <a:buChar char="•"/>
            </a:pPr>
            <a:r>
              <a:rPr lang="en-US" sz="2900">
                <a:solidFill>
                  <a:srgbClr val="000000"/>
                </a:solidFill>
                <a:latin typeface="Open Sauce"/>
                <a:ea typeface="Calibri"/>
                <a:cs typeface="Calibri"/>
              </a:rPr>
              <a:t>Handles goals &amp; rewards</a:t>
            </a:r>
          </a:p>
          <a:p>
            <a:pPr marL="285750" indent="-285750">
              <a:buFont typeface="Arial,Sans-Serif"/>
              <a:buChar char="•"/>
            </a:pPr>
            <a:r>
              <a:rPr lang="en-US" sz="2900">
                <a:solidFill>
                  <a:srgbClr val="000000"/>
                </a:solidFill>
                <a:latin typeface="Open Sauce"/>
                <a:ea typeface="Calibri"/>
                <a:cs typeface="Calibri"/>
              </a:rPr>
              <a:t>Updates leaderboard data</a:t>
            </a:r>
          </a:p>
          <a:p>
            <a:pPr marL="285750" indent="-285750">
              <a:buFont typeface="Arial,Sans-Serif"/>
              <a:buChar char="•"/>
            </a:pPr>
            <a:r>
              <a:rPr lang="en-US" sz="2900">
                <a:solidFill>
                  <a:srgbClr val="000000"/>
                </a:solidFill>
                <a:latin typeface="Open Sauce"/>
                <a:ea typeface="Calibri"/>
                <a:cs typeface="Calibri"/>
              </a:rPr>
              <a:t>Manages system logic</a:t>
            </a:r>
            <a:endParaRPr lang="en-US" sz="2900">
              <a:latin typeface="Open Sauce"/>
            </a:endParaRPr>
          </a:p>
        </p:txBody>
      </p:sp>
      <p:sp>
        <p:nvSpPr>
          <p:cNvPr id="12" name="Rectangle: Rounded Corners 11">
            <a:extLst>
              <a:ext uri="{FF2B5EF4-FFF2-40B4-BE49-F238E27FC236}">
                <a16:creationId xmlns:a16="http://schemas.microsoft.com/office/drawing/2014/main" id="{7017A079-B57A-5EAE-9AF6-C708B65FF89D}"/>
              </a:ext>
            </a:extLst>
          </p:cNvPr>
          <p:cNvSpPr/>
          <p:nvPr/>
        </p:nvSpPr>
        <p:spPr>
          <a:xfrm>
            <a:off x="11030275" y="3812674"/>
            <a:ext cx="5736063" cy="4201365"/>
          </a:xfrm>
          <a:prstGeom prst="round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900" b="1">
                <a:solidFill>
                  <a:schemeClr val="tx1"/>
                </a:solidFill>
                <a:latin typeface="Open Sauce"/>
                <a:ea typeface="Calibri"/>
                <a:cs typeface="Calibri"/>
              </a:rPr>
              <a:t>FRONTEND (UI)</a:t>
            </a:r>
          </a:p>
          <a:p>
            <a:pPr marL="285750" indent="-285750">
              <a:buFont typeface="Arial"/>
              <a:buChar char="•"/>
            </a:pPr>
            <a:r>
              <a:rPr lang="en-US" sz="2900">
                <a:solidFill>
                  <a:schemeClr val="tx1"/>
                </a:solidFill>
                <a:latin typeface="Open Sauce"/>
                <a:ea typeface="Calibri"/>
                <a:cs typeface="Calibri"/>
              </a:rPr>
              <a:t>Displays dashboard</a:t>
            </a:r>
          </a:p>
          <a:p>
            <a:pPr marL="285750" indent="-285750">
              <a:buFont typeface="Arial"/>
              <a:buChar char="•"/>
            </a:pPr>
            <a:r>
              <a:rPr lang="en-US" sz="2900">
                <a:solidFill>
                  <a:schemeClr val="tx1"/>
                </a:solidFill>
                <a:latin typeface="Open Sauce"/>
                <a:ea typeface="Calibri"/>
                <a:cs typeface="Calibri"/>
              </a:rPr>
              <a:t>Shows leaderboards</a:t>
            </a:r>
          </a:p>
          <a:p>
            <a:pPr marL="285750" indent="-285750">
              <a:buFont typeface="Arial"/>
              <a:buChar char="•"/>
            </a:pPr>
            <a:r>
              <a:rPr lang="en-US" sz="2900">
                <a:solidFill>
                  <a:schemeClr val="tx1"/>
                </a:solidFill>
                <a:latin typeface="Open Sauce"/>
                <a:ea typeface="Calibri"/>
                <a:cs typeface="Calibri"/>
              </a:rPr>
              <a:t>Visual feedback (progress)</a:t>
            </a:r>
          </a:p>
          <a:p>
            <a:pPr marL="285750" indent="-285750">
              <a:buFont typeface="Arial"/>
              <a:buChar char="•"/>
            </a:pPr>
            <a:r>
              <a:rPr lang="en-US" sz="2900">
                <a:solidFill>
                  <a:schemeClr val="tx1"/>
                </a:solidFill>
                <a:latin typeface="Open Sauce"/>
                <a:ea typeface="Calibri"/>
                <a:cs typeface="Calibri"/>
              </a:rPr>
              <a:t>Dark/Light mode support</a:t>
            </a:r>
          </a:p>
        </p:txBody>
      </p:sp>
      <p:pic>
        <p:nvPicPr>
          <p:cNvPr id="13" name="Graphic 12" descr="Smart Phone with solid fill">
            <a:extLst>
              <a:ext uri="{FF2B5EF4-FFF2-40B4-BE49-F238E27FC236}">
                <a16:creationId xmlns:a16="http://schemas.microsoft.com/office/drawing/2014/main" id="{6107450C-865B-D3BE-754D-C54413D3C8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345065" y="2551262"/>
            <a:ext cx="1237890" cy="1237890"/>
          </a:xfrm>
          <a:prstGeom prst="rect">
            <a:avLst/>
          </a:prstGeom>
        </p:spPr>
      </p:pic>
      <p:pic>
        <p:nvPicPr>
          <p:cNvPr id="14" name="Graphic 13" descr="Gears with solid fill">
            <a:extLst>
              <a:ext uri="{FF2B5EF4-FFF2-40B4-BE49-F238E27FC236}">
                <a16:creationId xmlns:a16="http://schemas.microsoft.com/office/drawing/2014/main" id="{E64CA21E-A47A-0AB0-6E5A-7788D34C66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0839" y="2572827"/>
            <a:ext cx="1431985" cy="1237891"/>
          </a:xfrm>
          <a:prstGeom prst="rect">
            <a:avLst/>
          </a:prstGeom>
        </p:spPr>
      </p:pic>
      <p:sp>
        <p:nvSpPr>
          <p:cNvPr id="16" name="TextBox 15">
            <a:extLst>
              <a:ext uri="{FF2B5EF4-FFF2-40B4-BE49-F238E27FC236}">
                <a16:creationId xmlns:a16="http://schemas.microsoft.com/office/drawing/2014/main" id="{4F588E16-BF69-8302-0C1A-1DDA063F4C5F}"/>
              </a:ext>
            </a:extLst>
          </p:cNvPr>
          <p:cNvSpPr txBox="1"/>
          <p:nvPr/>
        </p:nvSpPr>
        <p:spPr>
          <a:xfrm>
            <a:off x="14803329" y="1191147"/>
            <a:ext cx="3482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Deborah Adekola</a:t>
            </a:r>
          </a:p>
        </p:txBody>
      </p:sp>
    </p:spTree>
    <p:extLst>
      <p:ext uri="{BB962C8B-B14F-4D97-AF65-F5344CB8AC3E}">
        <p14:creationId xmlns:p14="http://schemas.microsoft.com/office/powerpoint/2010/main" val="4072933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9BD372-D183-46DA-A9DD-F55BA67B9466}"/>
              </a:ext>
            </a:extLst>
          </p:cNvPr>
          <p:cNvSpPr txBox="1"/>
          <p:nvPr/>
        </p:nvSpPr>
        <p:spPr>
          <a:xfrm>
            <a:off x="4764087" y="798946"/>
            <a:ext cx="787812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a:latin typeface="Open Sauce"/>
                <a:ea typeface="Calibri"/>
                <a:cs typeface="Calibri"/>
              </a:rPr>
              <a:t>KEY</a:t>
            </a:r>
            <a:r>
              <a:rPr lang="en-US" sz="4400" b="1">
                <a:ea typeface="Calibri"/>
                <a:cs typeface="Calibri"/>
              </a:rPr>
              <a:t> </a:t>
            </a:r>
            <a:r>
              <a:rPr lang="en-US" sz="4400" b="1">
                <a:latin typeface="Open Sauce"/>
                <a:ea typeface="Calibri"/>
                <a:cs typeface="Calibri"/>
              </a:rPr>
              <a:t>CHALLENGES</a:t>
            </a:r>
            <a:endParaRPr lang="en-US" sz="4400">
              <a:latin typeface="Open Sauce"/>
              <a:ea typeface="Calibri"/>
              <a:cs typeface="Calibri"/>
            </a:endParaRPr>
          </a:p>
        </p:txBody>
      </p:sp>
      <p:sp>
        <p:nvSpPr>
          <p:cNvPr id="5" name="Rectangle: Rounded Corners 4">
            <a:extLst>
              <a:ext uri="{FF2B5EF4-FFF2-40B4-BE49-F238E27FC236}">
                <a16:creationId xmlns:a16="http://schemas.microsoft.com/office/drawing/2014/main" id="{7981C34D-E496-1FE6-43BD-91475943F384}"/>
              </a:ext>
            </a:extLst>
          </p:cNvPr>
          <p:cNvSpPr/>
          <p:nvPr/>
        </p:nvSpPr>
        <p:spPr>
          <a:xfrm>
            <a:off x="874177" y="1930912"/>
            <a:ext cx="6885081" cy="7706094"/>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3600" b="1">
              <a:solidFill>
                <a:schemeClr val="tx1"/>
              </a:solidFill>
              <a:latin typeface="Open Sauce"/>
              <a:ea typeface="Calibri"/>
              <a:cs typeface="Calibri"/>
            </a:endParaRPr>
          </a:p>
          <a:p>
            <a:pPr algn="ctr"/>
            <a:endParaRPr lang="en-US" sz="3600" b="1">
              <a:solidFill>
                <a:schemeClr val="tx1"/>
              </a:solidFill>
              <a:latin typeface="Open Sauce"/>
              <a:ea typeface="Calibri"/>
              <a:cs typeface="Calibri"/>
            </a:endParaRPr>
          </a:p>
          <a:p>
            <a:pPr algn="ctr"/>
            <a:r>
              <a:rPr lang="en-US" sz="3600" b="1">
                <a:solidFill>
                  <a:schemeClr val="tx1"/>
                </a:solidFill>
                <a:latin typeface="Open Sauce"/>
                <a:ea typeface="Calibri"/>
                <a:cs typeface="Calibri"/>
              </a:rPr>
              <a:t>CHALLENGE</a:t>
            </a:r>
            <a:endParaRPr lang="en-US">
              <a:solidFill>
                <a:schemeClr val="tx1"/>
              </a:solidFill>
              <a:ea typeface="Calibri"/>
              <a:cs typeface="Calibri"/>
            </a:endParaRPr>
          </a:p>
          <a:p>
            <a:pPr marL="285750" indent="-285750">
              <a:buFont typeface="Arial,Sans-Serif"/>
              <a:buChar char="•"/>
            </a:pPr>
            <a:r>
              <a:rPr lang="en-US" sz="3200">
                <a:solidFill>
                  <a:schemeClr val="tx1"/>
                </a:solidFill>
                <a:latin typeface="Open Sauce"/>
                <a:ea typeface="Calibri"/>
                <a:cs typeface="Calibri"/>
              </a:rPr>
              <a:t>Integrating multiple features without breaking functionality</a:t>
            </a:r>
            <a:endParaRPr lang="en-US" sz="3200">
              <a:solidFill>
                <a:schemeClr val="tx1"/>
              </a:solidFill>
              <a:latin typeface="Open Sauce"/>
            </a:endParaRPr>
          </a:p>
          <a:p>
            <a:pPr marL="285750" indent="-285750">
              <a:buFont typeface="Arial,Sans-Serif"/>
              <a:buChar char="•"/>
            </a:pPr>
            <a:r>
              <a:rPr lang="en-US" sz="3200">
                <a:solidFill>
                  <a:schemeClr val="tx1"/>
                </a:solidFill>
                <a:latin typeface="Open Sauce"/>
                <a:ea typeface="Calibri"/>
                <a:cs typeface="Calibri"/>
              </a:rPr>
              <a:t>Managing different team ideas and design approaches</a:t>
            </a:r>
          </a:p>
          <a:p>
            <a:pPr marL="285750" indent="-285750">
              <a:buFont typeface="Arial,Sans-Serif"/>
              <a:buChar char="•"/>
            </a:pPr>
            <a:r>
              <a:rPr lang="en-US" sz="3200">
                <a:solidFill>
                  <a:schemeClr val="tx1"/>
                </a:solidFill>
                <a:latin typeface="Open Sauce"/>
                <a:ea typeface="Calibri"/>
                <a:cs typeface="Calibri"/>
              </a:rPr>
              <a:t>Avoiding  overly complex or cluttered user experience</a:t>
            </a:r>
          </a:p>
          <a:p>
            <a:pPr marL="285750" indent="-285750">
              <a:buFont typeface="Arial,Sans-Serif"/>
              <a:buChar char="•"/>
            </a:pPr>
            <a:r>
              <a:rPr lang="en-US" sz="3200">
                <a:solidFill>
                  <a:schemeClr val="tx1"/>
                </a:solidFill>
                <a:latin typeface="Open Sauce"/>
                <a:ea typeface="Calibri"/>
                <a:cs typeface="Calibri"/>
              </a:rPr>
              <a:t>Ensuring data consistency across backend and frontend</a:t>
            </a:r>
          </a:p>
          <a:p>
            <a:pPr algn="ctr"/>
            <a:endParaRPr lang="en-US" sz="3600" b="1">
              <a:solidFill>
                <a:schemeClr val="tx1"/>
              </a:solidFill>
              <a:ea typeface="Calibri"/>
              <a:cs typeface="Calibri"/>
            </a:endParaRPr>
          </a:p>
        </p:txBody>
      </p:sp>
      <p:sp>
        <p:nvSpPr>
          <p:cNvPr id="7" name="Rectangle: Rounded Corners 6">
            <a:extLst>
              <a:ext uri="{FF2B5EF4-FFF2-40B4-BE49-F238E27FC236}">
                <a16:creationId xmlns:a16="http://schemas.microsoft.com/office/drawing/2014/main" id="{142EB4C2-71B5-D552-09F8-6244C4D1BC43}"/>
              </a:ext>
            </a:extLst>
          </p:cNvPr>
          <p:cNvSpPr/>
          <p:nvPr/>
        </p:nvSpPr>
        <p:spPr>
          <a:xfrm>
            <a:off x="9825521" y="2018614"/>
            <a:ext cx="6863515" cy="7619831"/>
          </a:xfrm>
          <a:prstGeom prst="round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solidFill>
                  <a:schemeClr val="tx1"/>
                </a:solidFill>
                <a:latin typeface="Open Sauce"/>
                <a:ea typeface="Calibri"/>
                <a:cs typeface="Calibri"/>
              </a:rPr>
              <a:t>HOW WE ADDRESSED IT</a:t>
            </a:r>
            <a:endParaRPr lang="en-US">
              <a:solidFill>
                <a:schemeClr val="tx1"/>
              </a:solidFill>
              <a:ea typeface="Calibri"/>
              <a:cs typeface="Calibri"/>
            </a:endParaRPr>
          </a:p>
          <a:p>
            <a:pPr marL="571500" indent="-571500">
              <a:buFont typeface="Arial"/>
              <a:buChar char="•"/>
            </a:pPr>
            <a:r>
              <a:rPr lang="en-US" sz="3200">
                <a:solidFill>
                  <a:schemeClr val="tx1"/>
                </a:solidFill>
                <a:latin typeface="Open Sauce"/>
                <a:ea typeface="Calibri"/>
                <a:cs typeface="Calibri"/>
              </a:rPr>
              <a:t>Broke features into smaller parts and tested each feature incrementally</a:t>
            </a:r>
          </a:p>
          <a:p>
            <a:pPr marL="571500" indent="-571500">
              <a:buFont typeface="Arial"/>
              <a:buChar char="•"/>
            </a:pPr>
            <a:r>
              <a:rPr lang="en-US" sz="3200">
                <a:solidFill>
                  <a:schemeClr val="tx1"/>
                </a:solidFill>
                <a:latin typeface="Open Sauce"/>
                <a:ea typeface="Calibri"/>
                <a:cs typeface="Calibri"/>
              </a:rPr>
              <a:t>Discussed and prioritized best solutions and focused on project goals</a:t>
            </a:r>
          </a:p>
          <a:p>
            <a:pPr marL="571500" indent="-571500">
              <a:buFont typeface="Arial"/>
              <a:buChar char="•"/>
            </a:pPr>
            <a:r>
              <a:rPr lang="en-US" sz="3200">
                <a:solidFill>
                  <a:schemeClr val="tx1"/>
                </a:solidFill>
                <a:latin typeface="Open Sauce"/>
                <a:ea typeface="Calibri"/>
                <a:cs typeface="Calibri"/>
              </a:rPr>
              <a:t>Simplified logic and UI design, we focused on core features</a:t>
            </a:r>
          </a:p>
        </p:txBody>
      </p:sp>
      <p:pic>
        <p:nvPicPr>
          <p:cNvPr id="10" name="Graphic 9" descr="Warning with solid fill">
            <a:extLst>
              <a:ext uri="{FF2B5EF4-FFF2-40B4-BE49-F238E27FC236}">
                <a16:creationId xmlns:a16="http://schemas.microsoft.com/office/drawing/2014/main" id="{EA448AFF-AE50-688E-63B1-44363CF6CB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56007" y="2098375"/>
            <a:ext cx="914400" cy="914400"/>
          </a:xfrm>
          <a:prstGeom prst="rect">
            <a:avLst/>
          </a:prstGeom>
        </p:spPr>
      </p:pic>
      <p:pic>
        <p:nvPicPr>
          <p:cNvPr id="11" name="Graphic 10" descr="Bullseye with solid fill">
            <a:extLst>
              <a:ext uri="{FF2B5EF4-FFF2-40B4-BE49-F238E27FC236}">
                <a16:creationId xmlns:a16="http://schemas.microsoft.com/office/drawing/2014/main" id="{C14F0194-7651-2767-5710-416530AC78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35309" y="2098375"/>
            <a:ext cx="1108494" cy="1108494"/>
          </a:xfrm>
          <a:prstGeom prst="rect">
            <a:avLst/>
          </a:prstGeom>
        </p:spPr>
      </p:pic>
      <p:sp>
        <p:nvSpPr>
          <p:cNvPr id="13" name="TextBox 12">
            <a:extLst>
              <a:ext uri="{FF2B5EF4-FFF2-40B4-BE49-F238E27FC236}">
                <a16:creationId xmlns:a16="http://schemas.microsoft.com/office/drawing/2014/main" id="{CB798C6D-7E5A-710F-F5C6-2F536211851E}"/>
              </a:ext>
            </a:extLst>
          </p:cNvPr>
          <p:cNvSpPr txBox="1"/>
          <p:nvPr/>
        </p:nvSpPr>
        <p:spPr>
          <a:xfrm>
            <a:off x="14803329" y="1191147"/>
            <a:ext cx="3482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Deborah Adekola</a:t>
            </a:r>
          </a:p>
        </p:txBody>
      </p:sp>
    </p:spTree>
    <p:extLst>
      <p:ext uri="{BB962C8B-B14F-4D97-AF65-F5344CB8AC3E}">
        <p14:creationId xmlns:p14="http://schemas.microsoft.com/office/powerpoint/2010/main" val="3567264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A3CEDC-1FE8-2614-91A1-214CC8A9A710}"/>
              </a:ext>
            </a:extLst>
          </p:cNvPr>
          <p:cNvSpPr txBox="1"/>
          <p:nvPr/>
        </p:nvSpPr>
        <p:spPr>
          <a:xfrm>
            <a:off x="4904517" y="936367"/>
            <a:ext cx="845288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a:latin typeface="Open Sauce"/>
                <a:ea typeface="Calibri"/>
                <a:cs typeface="Calibri"/>
              </a:rPr>
              <a:t>WHAT WE LEARNED</a:t>
            </a:r>
            <a:endParaRPr lang="en-US"/>
          </a:p>
        </p:txBody>
      </p:sp>
      <p:sp>
        <p:nvSpPr>
          <p:cNvPr id="6" name="Rectangle: Rounded Corners 5">
            <a:extLst>
              <a:ext uri="{FF2B5EF4-FFF2-40B4-BE49-F238E27FC236}">
                <a16:creationId xmlns:a16="http://schemas.microsoft.com/office/drawing/2014/main" id="{DAD9B229-4B4C-B3DD-60CA-AC5B129F4459}"/>
              </a:ext>
            </a:extLst>
          </p:cNvPr>
          <p:cNvSpPr/>
          <p:nvPr/>
        </p:nvSpPr>
        <p:spPr>
          <a:xfrm>
            <a:off x="442855" y="2232837"/>
            <a:ext cx="5073535" cy="6476831"/>
          </a:xfrm>
          <a:prstGeom prst="round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900" b="1">
                <a:solidFill>
                  <a:schemeClr val="tx1"/>
                </a:solidFill>
                <a:latin typeface="Open Sauce"/>
                <a:ea typeface="Calibri"/>
                <a:cs typeface="Calibri"/>
              </a:rPr>
              <a:t>MEANINGFUL DESIGN</a:t>
            </a:r>
          </a:p>
          <a:p>
            <a:pPr marL="457200" indent="-457200" algn="ctr">
              <a:buFont typeface="Arial"/>
              <a:buChar char="•"/>
            </a:pPr>
            <a:r>
              <a:rPr lang="en-US" sz="2900">
                <a:solidFill>
                  <a:schemeClr val="tx1"/>
                </a:solidFill>
                <a:latin typeface="Open Sauce"/>
                <a:ea typeface="Calibri"/>
                <a:cs typeface="Calibri"/>
              </a:rPr>
              <a:t>Gamification must have a clear purpose</a:t>
            </a:r>
          </a:p>
          <a:p>
            <a:pPr marL="457200" indent="-457200" algn="ctr">
              <a:buFont typeface="Arial"/>
              <a:buChar char="•"/>
            </a:pPr>
            <a:r>
              <a:rPr lang="en-US" sz="2900">
                <a:solidFill>
                  <a:schemeClr val="tx1"/>
                </a:solidFill>
                <a:latin typeface="Open Sauce"/>
                <a:ea typeface="Calibri"/>
                <a:cs typeface="Calibri"/>
              </a:rPr>
              <a:t>Not just visual but behavior-driven</a:t>
            </a:r>
          </a:p>
        </p:txBody>
      </p:sp>
      <p:sp>
        <p:nvSpPr>
          <p:cNvPr id="8" name="Rectangle: Rounded Corners 7">
            <a:extLst>
              <a:ext uri="{FF2B5EF4-FFF2-40B4-BE49-F238E27FC236}">
                <a16:creationId xmlns:a16="http://schemas.microsoft.com/office/drawing/2014/main" id="{B9D08847-B1E1-4D4B-4956-6FAF294F8719}"/>
              </a:ext>
            </a:extLst>
          </p:cNvPr>
          <p:cNvSpPr/>
          <p:nvPr/>
        </p:nvSpPr>
        <p:spPr>
          <a:xfrm>
            <a:off x="6612180" y="2234275"/>
            <a:ext cx="5073535" cy="6476831"/>
          </a:xfrm>
          <a:prstGeom prst="roundRect">
            <a:avLst/>
          </a:prstGeom>
          <a:solidFill>
            <a:srgbClr val="C6D9F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900" b="1">
                <a:solidFill>
                  <a:schemeClr val="tx1"/>
                </a:solidFill>
                <a:latin typeface="Open Sauce"/>
                <a:ea typeface="Calibri"/>
                <a:cs typeface="Calibri"/>
              </a:rPr>
              <a:t>SYSTEM INTEGRATION</a:t>
            </a:r>
          </a:p>
          <a:p>
            <a:pPr marL="457200" indent="-457200" algn="ctr">
              <a:buFont typeface="Arial"/>
              <a:buChar char="•"/>
            </a:pPr>
            <a:r>
              <a:rPr lang="en-US" sz="2900">
                <a:solidFill>
                  <a:schemeClr val="tx1"/>
                </a:solidFill>
                <a:latin typeface="Open Sauce"/>
                <a:ea typeface="Calibri"/>
                <a:cs typeface="Calibri"/>
              </a:rPr>
              <a:t>Features must work together, not separately</a:t>
            </a:r>
          </a:p>
          <a:p>
            <a:pPr marL="457200" indent="-457200" algn="ctr">
              <a:buFont typeface="Arial"/>
              <a:buChar char="•"/>
            </a:pPr>
            <a:r>
              <a:rPr lang="en-US" sz="2900">
                <a:solidFill>
                  <a:schemeClr val="tx1"/>
                </a:solidFill>
                <a:latin typeface="Open Sauce"/>
                <a:ea typeface="Calibri"/>
                <a:cs typeface="Calibri"/>
              </a:rPr>
              <a:t>Backend + frontend must stay consistent</a:t>
            </a:r>
          </a:p>
        </p:txBody>
      </p:sp>
      <p:sp>
        <p:nvSpPr>
          <p:cNvPr id="10" name="Rectangle: Rounded Corners 9">
            <a:extLst>
              <a:ext uri="{FF2B5EF4-FFF2-40B4-BE49-F238E27FC236}">
                <a16:creationId xmlns:a16="http://schemas.microsoft.com/office/drawing/2014/main" id="{59079704-708F-1F2E-F45B-55A3662617E9}"/>
              </a:ext>
            </a:extLst>
          </p:cNvPr>
          <p:cNvSpPr/>
          <p:nvPr/>
        </p:nvSpPr>
        <p:spPr>
          <a:xfrm>
            <a:off x="12780066" y="2234275"/>
            <a:ext cx="5073535" cy="6476831"/>
          </a:xfrm>
          <a:prstGeom prst="roundRect">
            <a:avLst/>
          </a:prstGeom>
          <a:solidFill>
            <a:srgbClr val="A4C9C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900" b="1">
                <a:solidFill>
                  <a:schemeClr val="tx1"/>
                </a:solidFill>
                <a:latin typeface="Open Sauce"/>
                <a:ea typeface="Calibri"/>
                <a:cs typeface="Calibri"/>
              </a:rPr>
              <a:t>SIMPLICITY MATTERS</a:t>
            </a:r>
          </a:p>
          <a:p>
            <a:pPr marL="457200" indent="-457200" algn="ctr">
              <a:buFont typeface="Arial"/>
              <a:buChar char="•"/>
            </a:pPr>
            <a:r>
              <a:rPr lang="en-US" sz="2900">
                <a:solidFill>
                  <a:schemeClr val="tx1"/>
                </a:solidFill>
                <a:latin typeface="Open Sauce"/>
                <a:ea typeface="Calibri"/>
                <a:cs typeface="Calibri"/>
              </a:rPr>
              <a:t>Simple systems are more effective</a:t>
            </a:r>
          </a:p>
          <a:p>
            <a:pPr marL="457200" indent="-457200" algn="ctr">
              <a:buFont typeface="Arial"/>
              <a:buChar char="•"/>
            </a:pPr>
            <a:r>
              <a:rPr lang="en-US" sz="2900">
                <a:solidFill>
                  <a:schemeClr val="tx1"/>
                </a:solidFill>
                <a:latin typeface="Open Sauce"/>
                <a:ea typeface="Calibri"/>
                <a:cs typeface="Calibri"/>
              </a:rPr>
              <a:t>Avoid overengineering. Focus on </a:t>
            </a:r>
            <a:r>
              <a:rPr lang="en-US" sz="2900" err="1">
                <a:solidFill>
                  <a:schemeClr val="tx1"/>
                </a:solidFill>
                <a:latin typeface="Open Sauce"/>
                <a:ea typeface="Calibri"/>
                <a:cs typeface="Calibri"/>
              </a:rPr>
              <a:t>usabili</a:t>
            </a:r>
            <a:r>
              <a:rPr lang="en-US" sz="2900">
                <a:solidFill>
                  <a:schemeClr val="tx1"/>
                </a:solidFill>
                <a:latin typeface="Open Sauce"/>
                <a:ea typeface="Calibri"/>
                <a:cs typeface="Calibri"/>
              </a:rPr>
              <a:t>ty</a:t>
            </a:r>
          </a:p>
        </p:txBody>
      </p:sp>
      <p:pic>
        <p:nvPicPr>
          <p:cNvPr id="11" name="Graphic 10" descr="Lightbulb and gear with solid fill">
            <a:extLst>
              <a:ext uri="{FF2B5EF4-FFF2-40B4-BE49-F238E27FC236}">
                <a16:creationId xmlns:a16="http://schemas.microsoft.com/office/drawing/2014/main" id="{D1181C20-015A-D30C-8017-BADD98BC5D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18913" y="3068847"/>
            <a:ext cx="914400" cy="914400"/>
          </a:xfrm>
          <a:prstGeom prst="rect">
            <a:avLst/>
          </a:prstGeom>
        </p:spPr>
      </p:pic>
      <p:pic>
        <p:nvPicPr>
          <p:cNvPr id="13" name="Graphic 12" descr="Social network with solid fill">
            <a:extLst>
              <a:ext uri="{FF2B5EF4-FFF2-40B4-BE49-F238E27FC236}">
                <a16:creationId xmlns:a16="http://schemas.microsoft.com/office/drawing/2014/main" id="{B3370BAC-5B40-FBFE-8ED3-8E75CEC677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6800" y="3068847"/>
            <a:ext cx="914400" cy="914400"/>
          </a:xfrm>
          <a:prstGeom prst="rect">
            <a:avLst/>
          </a:prstGeom>
        </p:spPr>
      </p:pic>
      <p:pic>
        <p:nvPicPr>
          <p:cNvPr id="15" name="Graphic 14" descr="Scales of justice with solid fill">
            <a:extLst>
              <a:ext uri="{FF2B5EF4-FFF2-40B4-BE49-F238E27FC236}">
                <a16:creationId xmlns:a16="http://schemas.microsoft.com/office/drawing/2014/main" id="{2D62417C-A823-BA8E-8049-6299A30DD4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135045" y="3068847"/>
            <a:ext cx="914400" cy="914400"/>
          </a:xfrm>
          <a:prstGeom prst="rect">
            <a:avLst/>
          </a:prstGeom>
        </p:spPr>
      </p:pic>
      <p:sp>
        <p:nvSpPr>
          <p:cNvPr id="17" name="TextBox 16">
            <a:extLst>
              <a:ext uri="{FF2B5EF4-FFF2-40B4-BE49-F238E27FC236}">
                <a16:creationId xmlns:a16="http://schemas.microsoft.com/office/drawing/2014/main" id="{D439A689-D611-E5BB-E34C-CDF9B59A6BA3}"/>
              </a:ext>
            </a:extLst>
          </p:cNvPr>
          <p:cNvSpPr txBox="1"/>
          <p:nvPr/>
        </p:nvSpPr>
        <p:spPr>
          <a:xfrm>
            <a:off x="14803329" y="1191147"/>
            <a:ext cx="3482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Deborah Adekola</a:t>
            </a:r>
          </a:p>
        </p:txBody>
      </p:sp>
    </p:spTree>
    <p:extLst>
      <p:ext uri="{BB962C8B-B14F-4D97-AF65-F5344CB8AC3E}">
        <p14:creationId xmlns:p14="http://schemas.microsoft.com/office/powerpoint/2010/main" val="3006228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0A784F-B4B5-442F-C5DD-CB1E81AD2D45}"/>
              </a:ext>
            </a:extLst>
          </p:cNvPr>
          <p:cNvSpPr txBox="1"/>
          <p:nvPr/>
        </p:nvSpPr>
        <p:spPr>
          <a:xfrm>
            <a:off x="4473197" y="1072283"/>
            <a:ext cx="9303488"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b="1">
                <a:latin typeface="Open Sauce"/>
                <a:ea typeface="Calibri"/>
                <a:cs typeface="Calibri"/>
              </a:rPr>
              <a:t>WHY IT MATTERS</a:t>
            </a:r>
            <a:endParaRPr lang="en-US"/>
          </a:p>
        </p:txBody>
      </p:sp>
      <p:sp>
        <p:nvSpPr>
          <p:cNvPr id="3" name="TextBox 2">
            <a:extLst>
              <a:ext uri="{FF2B5EF4-FFF2-40B4-BE49-F238E27FC236}">
                <a16:creationId xmlns:a16="http://schemas.microsoft.com/office/drawing/2014/main" id="{308BE0B1-7CF0-B6B5-8886-67FB5A2F43A6}"/>
              </a:ext>
            </a:extLst>
          </p:cNvPr>
          <p:cNvSpPr txBox="1"/>
          <p:nvPr/>
        </p:nvSpPr>
        <p:spPr>
          <a:xfrm>
            <a:off x="497022" y="2568364"/>
            <a:ext cx="110578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600">
              <a:ea typeface="Calibri"/>
              <a:cs typeface="Calibri"/>
            </a:endParaRPr>
          </a:p>
        </p:txBody>
      </p:sp>
      <p:sp>
        <p:nvSpPr>
          <p:cNvPr id="11" name="Rectangle: Rounded Corners 10">
            <a:extLst>
              <a:ext uri="{FF2B5EF4-FFF2-40B4-BE49-F238E27FC236}">
                <a16:creationId xmlns:a16="http://schemas.microsoft.com/office/drawing/2014/main" id="{DC11CB53-661B-7859-3E67-747A5E9D8A55}"/>
              </a:ext>
            </a:extLst>
          </p:cNvPr>
          <p:cNvSpPr/>
          <p:nvPr/>
        </p:nvSpPr>
        <p:spPr>
          <a:xfrm>
            <a:off x="442855" y="2232837"/>
            <a:ext cx="5073535" cy="6476831"/>
          </a:xfrm>
          <a:prstGeom prst="round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900" b="1">
                <a:solidFill>
                  <a:schemeClr val="tx1"/>
                </a:solidFill>
                <a:latin typeface="Open Sauce"/>
                <a:ea typeface="Calibri"/>
                <a:cs typeface="Calibri"/>
              </a:rPr>
              <a:t>USER ENGAGEMENT</a:t>
            </a:r>
          </a:p>
          <a:p>
            <a:pPr marL="571500" indent="-571500" algn="ctr">
              <a:buFont typeface="Arial"/>
              <a:buChar char="•"/>
            </a:pPr>
            <a:r>
              <a:rPr lang="en-US" sz="2900">
                <a:solidFill>
                  <a:schemeClr val="tx1"/>
                </a:solidFill>
                <a:latin typeface="Open Sauce"/>
                <a:ea typeface="Calibri"/>
                <a:cs typeface="Calibri"/>
              </a:rPr>
              <a:t>Encourages regular interaction</a:t>
            </a:r>
          </a:p>
          <a:p>
            <a:pPr marL="571500" indent="-571500" algn="ctr">
              <a:buFont typeface="Arial"/>
              <a:buChar char="•"/>
            </a:pPr>
            <a:r>
              <a:rPr lang="en-US" sz="2900">
                <a:solidFill>
                  <a:schemeClr val="tx1"/>
                </a:solidFill>
                <a:latin typeface="Open Sauce"/>
                <a:ea typeface="Calibri"/>
                <a:cs typeface="Calibri"/>
              </a:rPr>
              <a:t>Provides motivation through rewards</a:t>
            </a:r>
          </a:p>
        </p:txBody>
      </p:sp>
      <p:sp>
        <p:nvSpPr>
          <p:cNvPr id="13" name="Rectangle: Rounded Corners 12">
            <a:extLst>
              <a:ext uri="{FF2B5EF4-FFF2-40B4-BE49-F238E27FC236}">
                <a16:creationId xmlns:a16="http://schemas.microsoft.com/office/drawing/2014/main" id="{16EABDCB-92A6-26D4-4C28-8BA3A802AFA0}"/>
              </a:ext>
            </a:extLst>
          </p:cNvPr>
          <p:cNvSpPr/>
          <p:nvPr/>
        </p:nvSpPr>
        <p:spPr>
          <a:xfrm>
            <a:off x="6612180" y="2234275"/>
            <a:ext cx="5073535" cy="6476831"/>
          </a:xfrm>
          <a:prstGeom prst="roundRect">
            <a:avLst/>
          </a:prstGeom>
          <a:solidFill>
            <a:schemeClr val="accent2">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900" b="1">
                <a:solidFill>
                  <a:schemeClr val="tx1"/>
                </a:solidFill>
                <a:latin typeface="Open Sauce"/>
                <a:ea typeface="Calibri"/>
                <a:cs typeface="Calibri"/>
              </a:rPr>
              <a:t>RETENTION</a:t>
            </a:r>
          </a:p>
          <a:p>
            <a:pPr marL="571500" indent="-571500" algn="ctr">
              <a:buFont typeface="Arial"/>
              <a:buChar char="•"/>
            </a:pPr>
            <a:r>
              <a:rPr lang="en-US" sz="2900">
                <a:solidFill>
                  <a:schemeClr val="tx1"/>
                </a:solidFill>
                <a:latin typeface="Open Sauce"/>
                <a:ea typeface="Calibri"/>
                <a:cs typeface="Calibri"/>
              </a:rPr>
              <a:t>Keeps users coming back consistently</a:t>
            </a:r>
          </a:p>
          <a:p>
            <a:pPr marL="571500" indent="-571500" algn="ctr">
              <a:buFont typeface="Arial"/>
              <a:buChar char="•"/>
            </a:pPr>
            <a:r>
              <a:rPr lang="en-US" sz="2900">
                <a:solidFill>
                  <a:schemeClr val="tx1"/>
                </a:solidFill>
                <a:latin typeface="Open Sauce"/>
                <a:ea typeface="Calibri"/>
                <a:cs typeface="Calibri"/>
              </a:rPr>
              <a:t>Builds long-term usage habits</a:t>
            </a:r>
          </a:p>
        </p:txBody>
      </p:sp>
      <p:sp>
        <p:nvSpPr>
          <p:cNvPr id="15" name="Rectangle: Rounded Corners 14">
            <a:extLst>
              <a:ext uri="{FF2B5EF4-FFF2-40B4-BE49-F238E27FC236}">
                <a16:creationId xmlns:a16="http://schemas.microsoft.com/office/drawing/2014/main" id="{D4FD7254-BB13-6B8B-DE6B-FA0EB64CD084}"/>
              </a:ext>
            </a:extLst>
          </p:cNvPr>
          <p:cNvSpPr/>
          <p:nvPr/>
        </p:nvSpPr>
        <p:spPr>
          <a:xfrm>
            <a:off x="12780066" y="2234275"/>
            <a:ext cx="5073535" cy="6476831"/>
          </a:xfrm>
          <a:prstGeom prst="round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900" b="1">
                <a:solidFill>
                  <a:schemeClr val="tx1"/>
                </a:solidFill>
                <a:latin typeface="Open Sauce"/>
                <a:ea typeface="Calibri"/>
                <a:cs typeface="Calibri"/>
              </a:rPr>
              <a:t>REAL-WORLD DESIGN</a:t>
            </a:r>
          </a:p>
          <a:p>
            <a:pPr marL="571500" indent="-571500" algn="ctr">
              <a:buFont typeface="Arial"/>
              <a:buChar char="•"/>
            </a:pPr>
            <a:r>
              <a:rPr lang="en-US" sz="2900">
                <a:solidFill>
                  <a:schemeClr val="tx1"/>
                </a:solidFill>
                <a:latin typeface="Open Sauce"/>
                <a:ea typeface="Calibri"/>
                <a:cs typeface="Calibri"/>
              </a:rPr>
              <a:t>Reflects modern apps (e.g. Duolingo)</a:t>
            </a:r>
          </a:p>
          <a:p>
            <a:pPr marL="571500" indent="-571500" algn="ctr">
              <a:buFont typeface="Arial"/>
              <a:buChar char="•"/>
            </a:pPr>
            <a:r>
              <a:rPr lang="en-US" sz="2900">
                <a:solidFill>
                  <a:schemeClr val="tx1"/>
                </a:solidFill>
                <a:latin typeface="Open Sauce"/>
                <a:ea typeface="Calibri"/>
                <a:cs typeface="Calibri"/>
              </a:rPr>
              <a:t>Demonstrates full system integration</a:t>
            </a:r>
          </a:p>
        </p:txBody>
      </p:sp>
      <p:pic>
        <p:nvPicPr>
          <p:cNvPr id="16" name="Graphic 15" descr="Users with solid fill">
            <a:extLst>
              <a:ext uri="{FF2B5EF4-FFF2-40B4-BE49-F238E27FC236}">
                <a16:creationId xmlns:a16="http://schemas.microsoft.com/office/drawing/2014/main" id="{8DCEDE59-6D4B-BAE3-B798-F473E70F4A1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18913" y="3219810"/>
            <a:ext cx="914400" cy="914400"/>
          </a:xfrm>
          <a:prstGeom prst="rect">
            <a:avLst/>
          </a:prstGeom>
        </p:spPr>
      </p:pic>
      <p:pic>
        <p:nvPicPr>
          <p:cNvPr id="17" name="Graphic 16" descr="Arrow circle with solid fill">
            <a:extLst>
              <a:ext uri="{FF2B5EF4-FFF2-40B4-BE49-F238E27FC236}">
                <a16:creationId xmlns:a16="http://schemas.microsoft.com/office/drawing/2014/main" id="{FA21A0D1-DBFE-4FD4-7E2E-FF38529F08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6800" y="3219809"/>
            <a:ext cx="914400" cy="914400"/>
          </a:xfrm>
          <a:prstGeom prst="rect">
            <a:avLst/>
          </a:prstGeom>
        </p:spPr>
      </p:pic>
      <p:pic>
        <p:nvPicPr>
          <p:cNvPr id="18" name="Graphic 17" descr="Earth globe: Americas with solid fill">
            <a:extLst>
              <a:ext uri="{FF2B5EF4-FFF2-40B4-BE49-F238E27FC236}">
                <a16:creationId xmlns:a16="http://schemas.microsoft.com/office/drawing/2014/main" id="{E7CF84CF-CEA0-966E-0026-0810D33811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54687" y="3219809"/>
            <a:ext cx="914400" cy="914400"/>
          </a:xfrm>
          <a:prstGeom prst="rect">
            <a:avLst/>
          </a:prstGeom>
        </p:spPr>
      </p:pic>
      <p:sp>
        <p:nvSpPr>
          <p:cNvPr id="20" name="TextBox 19">
            <a:extLst>
              <a:ext uri="{FF2B5EF4-FFF2-40B4-BE49-F238E27FC236}">
                <a16:creationId xmlns:a16="http://schemas.microsoft.com/office/drawing/2014/main" id="{4ADACE35-95E3-9B5C-9081-14CB0A83F3C2}"/>
              </a:ext>
            </a:extLst>
          </p:cNvPr>
          <p:cNvSpPr txBox="1"/>
          <p:nvPr/>
        </p:nvSpPr>
        <p:spPr>
          <a:xfrm>
            <a:off x="14803329" y="1191147"/>
            <a:ext cx="3482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Deborah Adekola</a:t>
            </a:r>
          </a:p>
        </p:txBody>
      </p:sp>
    </p:spTree>
    <p:extLst>
      <p:ext uri="{BB962C8B-B14F-4D97-AF65-F5344CB8AC3E}">
        <p14:creationId xmlns:p14="http://schemas.microsoft.com/office/powerpoint/2010/main" val="1558071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33450" y="2696608"/>
            <a:ext cx="10910528" cy="1735035"/>
          </a:xfrm>
          <a:prstGeom prst="rect">
            <a:avLst/>
          </a:prstGeom>
        </p:spPr>
        <p:txBody>
          <a:bodyPr lIns="0" tIns="0" rIns="0" bIns="0" rtlCol="0" anchor="t">
            <a:spAutoFit/>
          </a:bodyPr>
          <a:lstStyle/>
          <a:p>
            <a:pPr algn="l">
              <a:lnSpc>
                <a:spcPts val="13040"/>
              </a:lnSpc>
            </a:pPr>
            <a:r>
              <a:rPr lang="en-US" sz="13040" spc="-782">
                <a:solidFill>
                  <a:srgbClr val="331B0D"/>
                </a:solidFill>
                <a:latin typeface="Open Sauce"/>
                <a:ea typeface="Open Sauce"/>
                <a:cs typeface="Open Sauce"/>
                <a:sym typeface="Open Sauce"/>
              </a:rPr>
              <a:t>The End</a:t>
            </a:r>
          </a:p>
        </p:txBody>
      </p:sp>
      <p:sp>
        <p:nvSpPr>
          <p:cNvPr id="5" name="TextBox 5"/>
          <p:cNvSpPr txBox="1"/>
          <p:nvPr/>
        </p:nvSpPr>
        <p:spPr>
          <a:xfrm>
            <a:off x="1028700" y="1057275"/>
            <a:ext cx="4560684" cy="245745"/>
          </a:xfrm>
          <a:prstGeom prst="rect">
            <a:avLst/>
          </a:prstGeom>
        </p:spPr>
        <p:txBody>
          <a:bodyPr lIns="0" tIns="0" rIns="0" bIns="0" rtlCol="0" anchor="t">
            <a:spAutoFit/>
          </a:bodyPr>
          <a:lstStyle/>
          <a:p>
            <a:pPr algn="just">
              <a:lnSpc>
                <a:spcPts val="1800"/>
              </a:lnSpc>
              <a:spcBef>
                <a:spcPct val="0"/>
              </a:spcBef>
            </a:pPr>
            <a:r>
              <a:rPr lang="en-US" sz="1800" b="1" spc="179">
                <a:solidFill>
                  <a:srgbClr val="8C7753"/>
                </a:solidFill>
                <a:latin typeface="Open Sauce Bold"/>
                <a:ea typeface="Open Sauce Bold"/>
                <a:cs typeface="Open Sauce Bold"/>
                <a:sym typeface="Open Sauce Bold"/>
              </a:rPr>
              <a:t>Studio ShodwE</a:t>
            </a:r>
          </a:p>
        </p:txBody>
      </p:sp>
      <p:sp>
        <p:nvSpPr>
          <p:cNvPr id="7" name="TextBox 3">
            <a:extLst>
              <a:ext uri="{FF2B5EF4-FFF2-40B4-BE49-F238E27FC236}">
                <a16:creationId xmlns:a16="http://schemas.microsoft.com/office/drawing/2014/main" id="{F7363BFB-4DE3-5393-E39C-BCF375F1EC77}"/>
              </a:ext>
            </a:extLst>
          </p:cNvPr>
          <p:cNvSpPr txBox="1"/>
          <p:nvPr/>
        </p:nvSpPr>
        <p:spPr>
          <a:xfrm>
            <a:off x="13310701" y="7248095"/>
            <a:ext cx="4560684" cy="327660"/>
          </a:xfrm>
          <a:prstGeom prst="rect">
            <a:avLst/>
          </a:prstGeom>
        </p:spPr>
        <p:txBody>
          <a:bodyPr lIns="0" tIns="0" rIns="0" bIns="0" rtlCol="0" anchor="t">
            <a:spAutoFit/>
          </a:bodyPr>
          <a:lstStyle/>
          <a:p>
            <a:pPr algn="r">
              <a:lnSpc>
                <a:spcPts val="2400"/>
              </a:lnSpc>
              <a:spcBef>
                <a:spcPct val="0"/>
              </a:spcBef>
            </a:pPr>
            <a:r>
              <a:rPr lang="en-US" sz="2400" b="1" spc="240">
                <a:solidFill>
                  <a:srgbClr val="8C7753"/>
                </a:solidFill>
                <a:latin typeface="Open Sauce Bold"/>
                <a:ea typeface="Open Sauce Bold"/>
                <a:cs typeface="Open Sauce Bold"/>
                <a:sym typeface="Open Sauce Bold"/>
              </a:rPr>
              <a:t>GROUP 05</a:t>
            </a:r>
          </a:p>
        </p:txBody>
      </p:sp>
      <p:sp>
        <p:nvSpPr>
          <p:cNvPr id="9" name="TextBox 4">
            <a:extLst>
              <a:ext uri="{FF2B5EF4-FFF2-40B4-BE49-F238E27FC236}">
                <a16:creationId xmlns:a16="http://schemas.microsoft.com/office/drawing/2014/main" id="{E9B63A3A-0751-6765-E8BB-6AE1877DAB11}"/>
              </a:ext>
            </a:extLst>
          </p:cNvPr>
          <p:cNvSpPr txBox="1"/>
          <p:nvPr/>
        </p:nvSpPr>
        <p:spPr>
          <a:xfrm>
            <a:off x="13313600" y="7858870"/>
            <a:ext cx="4560684" cy="2151551"/>
          </a:xfrm>
          <a:prstGeom prst="rect">
            <a:avLst/>
          </a:prstGeom>
        </p:spPr>
        <p:txBody>
          <a:bodyPr lIns="0" tIns="0" rIns="0" bIns="0" rtlCol="0" anchor="t">
            <a:spAutoFit/>
          </a:bodyPr>
          <a:lstStyle/>
          <a:p>
            <a:pPr algn="r">
              <a:lnSpc>
                <a:spcPts val="2940"/>
              </a:lnSpc>
            </a:pPr>
            <a:r>
              <a:rPr lang="en-US" sz="2100">
                <a:solidFill>
                  <a:srgbClr val="331B0D"/>
                </a:solidFill>
                <a:latin typeface="Open Sauce"/>
                <a:ea typeface="Open Sauce"/>
                <a:cs typeface="Open Sauce"/>
                <a:sym typeface="Open Sauce"/>
              </a:rPr>
              <a:t>Destiny-Alliah Colombo</a:t>
            </a:r>
          </a:p>
          <a:p>
            <a:pPr algn="r">
              <a:lnSpc>
                <a:spcPts val="2940"/>
              </a:lnSpc>
            </a:pPr>
            <a:r>
              <a:rPr lang="en-US" sz="2100">
                <a:solidFill>
                  <a:srgbClr val="331B0D"/>
                </a:solidFill>
                <a:latin typeface="Open Sauce"/>
                <a:ea typeface="Open Sauce"/>
                <a:cs typeface="Open Sauce"/>
                <a:sym typeface="Open Sauce"/>
              </a:rPr>
              <a:t>Ousman Ndoye</a:t>
            </a:r>
          </a:p>
          <a:p>
            <a:pPr algn="r">
              <a:lnSpc>
                <a:spcPts val="2940"/>
              </a:lnSpc>
            </a:pPr>
            <a:r>
              <a:rPr lang="en-US" sz="2100">
                <a:solidFill>
                  <a:srgbClr val="331B0D"/>
                </a:solidFill>
                <a:latin typeface="Open Sauce"/>
                <a:ea typeface="Open Sauce"/>
                <a:cs typeface="Open Sauce"/>
                <a:sym typeface="Open Sauce"/>
              </a:rPr>
              <a:t>Precious </a:t>
            </a:r>
            <a:r>
              <a:rPr lang="en-US" sz="2100" err="1">
                <a:solidFill>
                  <a:srgbClr val="331B0D"/>
                </a:solidFill>
                <a:latin typeface="Open Sauce"/>
                <a:ea typeface="Open Sauce"/>
                <a:cs typeface="Open Sauce"/>
                <a:sym typeface="Open Sauce"/>
              </a:rPr>
              <a:t>Aghamelu</a:t>
            </a:r>
            <a:endParaRPr lang="en-US" sz="2100">
              <a:solidFill>
                <a:srgbClr val="331B0D"/>
              </a:solidFill>
              <a:latin typeface="Open Sauce"/>
              <a:ea typeface="Open Sauce"/>
              <a:cs typeface="Open Sauce"/>
              <a:sym typeface="Open Sauce"/>
            </a:endParaRPr>
          </a:p>
          <a:p>
            <a:pPr algn="r">
              <a:lnSpc>
                <a:spcPts val="2940"/>
              </a:lnSpc>
            </a:pPr>
            <a:r>
              <a:rPr lang="en-US" sz="2100">
                <a:solidFill>
                  <a:srgbClr val="331B0D"/>
                </a:solidFill>
                <a:latin typeface="Open Sauce"/>
                <a:ea typeface="Open Sauce"/>
                <a:cs typeface="Open Sauce"/>
                <a:sym typeface="Open Sauce"/>
              </a:rPr>
              <a:t>Laide</a:t>
            </a:r>
          </a:p>
          <a:p>
            <a:pPr algn="r"/>
            <a:r>
              <a:rPr lang="en-US" sz="2100">
                <a:solidFill>
                  <a:srgbClr val="331B0D"/>
                </a:solidFill>
                <a:latin typeface="Open Sauce"/>
                <a:ea typeface="Open Sauce"/>
                <a:cs typeface="Open Sauce"/>
                <a:sym typeface="Open Sauce"/>
              </a:rPr>
              <a:t>Raenah Swaby</a:t>
            </a:r>
            <a:endParaRPr lang="en-US" sz="2100">
              <a:solidFill>
                <a:srgbClr val="000000"/>
              </a:solidFill>
              <a:latin typeface="Open Sauce"/>
              <a:ea typeface="Open Sauce"/>
              <a:cs typeface="Open Sauce"/>
              <a:sym typeface="Open Sauce"/>
            </a:endParaRPr>
          </a:p>
          <a:p>
            <a:pPr algn="r">
              <a:lnSpc>
                <a:spcPts val="2940"/>
              </a:lnSpc>
            </a:pPr>
            <a:r>
              <a:rPr lang="en-US" sz="2100">
                <a:solidFill>
                  <a:srgbClr val="331B0D"/>
                </a:solidFill>
                <a:latin typeface="Open Sauce"/>
                <a:ea typeface="Open Sauce"/>
                <a:cs typeface="Open Sauce"/>
                <a:sym typeface="Open Sauce"/>
              </a:rPr>
              <a:t>Deborah Adekola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28</Slides>
  <Notes>8</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technologies used:</vt:lpstr>
      <vt:lpstr>Why use Java + Spring boot ?</vt:lpstr>
      <vt:lpstr>Frontend + Client-side rendering and Platforms justifications:</vt:lpstr>
      <vt:lpstr>Reflection: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Legal Issue</dc:title>
  <cp:revision>6</cp:revision>
  <dcterms:created xsi:type="dcterms:W3CDTF">2006-08-16T00:00:00Z</dcterms:created>
  <dcterms:modified xsi:type="dcterms:W3CDTF">2026-04-27T16:10:58Z</dcterms:modified>
  <dc:identifier>DAHGBNgjbnA</dc:identifier>
</cp:coreProperties>
</file>